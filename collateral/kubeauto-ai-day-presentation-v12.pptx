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card is on screen while people settle in. Don't speak yet. Let the room fill. When you're ready, advance to the METR slide and open cold — no introduction, no 'good morning.' The title slide already told them your name. Now you earn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cold. No intro. No 'good morning.' Walk to the center of the stage, let this slide sit for 3 full seconds. Then: 'Last July, METR ran the most rigorous study anyone has ever done on AI coding productivity. Randomized controlled trial. Experienced developers. Real codebases. And the result was devastating.' [pause] 'Developers thought they were 24% faster. They were 19% slower. That's a 43-point gap between what they believed and what was true.' [pause] 'So I want to ask you something: how many of you are using AI tools right now and have actually measured whether they help?' Q&amp;A PREP: If someone brings up METR's Feb 2026 follow-up — yes, their second study (57 devs, 800+ tasks) showed the slowdown narrowing. But METR themselves flagged severe selection effects: 30-50% of developers admitted skipping tasks they didn't want to do without AI. METR concluded they have only 'very weak evidence' and are redesigning their methodology entirely. The original finding still stands — and the follow-up actually reinforces our point: the difference is constraints and experience, not the AI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Rapid fire. Don't dwell on each one. 'The DORA 2024 report found that for every 25% increase in AI adoption, delivery throughput declined 1.5% and stability declined 7.2%. Now, the 2025 DORA report reversed the throughput finding — it went positive. But the stability decline? Still there. More AI, more incidents. That hasn't changed.' [beat] 'McKinsey found only 1% of companies consider themselves AI-mature — despite 92% planning to increase AI spending. Almost half of developers don't trust what AI generates — up from 31% last year. And here's the kicker — 30% of platform teams don't measure success at all.' [beat] 'We have a measurement problem.' NOTE TO SELF: If someone asks about 2025 DORA, acknowledge throughput reversed but stability persists. The amplifier thesis — AI makes good teams better and struggling teams worse — is the 2025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pivot. Slow down here. 'Everyone's talking about AI agents in production. Running autonomous systems. Agentic workflows. I'm not there yet. And honestly? Neither are most of you. We're at the beginning — standing up clusters, adding technologies, running POCs. The boring part. The part that eats 80% of your week before you ever touch the interesting work.' [pause] 'Remember in the 2010s when we talked about making infrastructure sexy? That was wrong. We didn't want sexy infrastructure. We wanted invisible infrastructure — like power, like water. You don't think about it until it's gone. AI might actually get us there. Not by doing fancy things — by making the boring things disappear.' [pause] 'So I asked a different question. Not is AI useful — can it make the boring part disappear? And can I actually measure it? Not with surveys. Not with vibes. With tests, a timer, and a scorecard that can't lie to you.' [pause] 'So that's what I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gave Claude Code a spec, a test suite, and skill files with pinned versions. It builds. I decide, review, and score every component. 27 components, 59 tests, all against live EKS infrastructure. No mocks. No demos that only work on my laptop. And every single component gets scored on six dimensions.' [transition] 'Let me show you what it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scan. 'Eight layers. Production-grade. Every version pinned in the spec — not whatever the AI hallucinated. This matters because, as you'll see, version currency is the number one failure mode.' Don't read each line. Let the visual speak.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it works. Write a failing test. Let AI implement. Verify against real infrastructure. Score it. Six dimensions — the important one is Toil Shifted. Did the toil actually disappear, or did writing YAML just become debugging AI YAML? We track that.' [transition] 'Now let me show you it actually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Open ArgoCD. Show 27 apps. Patch a service field. Wait 30s. ArgoCD reverts. 'Every component deployed from Git. No kubectl apply after bootstrap. I drift a field, ArgoCD catches it in 30 seconds. This is what 73.8% looks like in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kubectl run bad-pod — Kyverno blocks. kubectl exec write to /etc — Falco alerts. Show ESO pulling from AWS Secrets Manager. 'Three security layers, all deployed by AI, all enforced by Kubernetes. The AI built this in 12 minutes. By hand, this is a full afternoon.'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Open Backstage. Show catalog. Run deploy-service template. Show the output passes all 6 Kyverno policies. 'The portal doesn't just look nice. It produces resources that are compliant by default. The developer never has to think about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money slide. Let the comparison breathe. 'On the left: METR. Experienced devs. No constraints. AI as autocomplete. 19% slower.' [pause] 'On the right: my experiment. Same AI. But with skill files, pinned versions, TDD, and guardrails. 73.8% faster.' [long pause] 'The difference isn't the AI. It's the constraints. The METR devs used AI like autocomplete. I used AI like a junior engineer — with a spec, a test suite, and a supervisor.' Q&amp;A PREP: METR's Feb 2026 follow-up showed the gap narrowing with newer tools and more AI-experienced devs. That's expected. But they also found 30-50% of devs refused to work WITHOUT AI — meaning the comparison baseline itself is shifting. Our point stands: it's constraints, not the AI, that determine the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'Half the components worked perfectly first try. Another third needed one fix. 81% in 0–1 cycles. But three components needed three cycles each. And every single one had the same root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'EKS: Terraform module renamed variables. AI used the old names. Kyverno: webhook config changed between chart versions. OTel: wrong image variant. ESO: API promoted from v1beta1 to v1.' [pause] 'Every single failure? Version currency. The AI wrote perfect YAML — for software that doesn't exist anymore. This is the failure mode nobody talks about because it looks correct when you review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Deliberate. This is the thesis landing. 'AI didn't make me 19% slower. AI made me 73.8% faster. Same AI. Different constraints.' [pause for each] 'Skill files. TDD. Guardrails. Human review.' [pause] 'The METR devs used AI like autocomplete. I used AI like a junior engineer with a spec, a test suite, and a supervisor. That's the difference.' [longer pause — let the next part land] 'And here's the thing nobody's saying out loud. AI is phenomenal at boring. Writing the 15th ArgoCD Application manifest? Unbeatable. Boilerplate Kyverno policies? Flawless. Standing up a cert-manager issuer for the hundredth time? Zero corrections.' [pause] 'It's terrible at novel — version changes, breaking API shifts, things its training data doesn't cover. But infrastructure SHOULD be boring. Remember in the 2010s when we talked about making infrastructure sexy? That was the wrong goal. The goal was always to make it invisible. Like power. Like water. Nobody questions the value of electricity — you only notice when it's gone. AI doesn't make infrastructure sexy. It makes infrastructure disappear into the background where it belongs. And that frees you — the human — to focus on the design decisions, the architecture choices, the ideas that actually matter. For the first time, we can spend our time thinking instead of typing.'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moment the audience leans forward. You just showed them 73.8% and they were nodding. Now pull the rug — gently. 'Before you tweet that number, let me tell you what it doesn't include.' [pause] '60 hours of invisible investment. Two dedicated repos for LLM coding workflows. Skill files I spent 30 hours building. Stop hooks, pre-tool hooks, post-tool hooks. State persistence files because Claude Code has context rot if you don't manage it. 10 hours studying how the 4.x model series handles hallucinations and context windows. Cloud.md files with front matter and pinned references. The 10-hour clock started AFTER all of that was already in place.' [pause] 'Second: 30 years of experience. When the AI wrote Terraform for module v20, I caught it in seconds because I've been writing Terraform for a decade. A junior engineer? Same AI, same skill files, same guardrails — different catch rate. The scorecard measures AI output quality. But the review layer? That's me. My 73.8% is partly my knowledge, not just the AI's speed.' [pause] 'And third: this is one data point. One developer. One platform. METR had sixteen developers and 246 tasks. I had one developer and 27 components. My measurement is more rigorous per-component. But the sample size is tiny. This is evidence. It's not proof.' [long pause] 'Every impressive number has a denominator. Now you know mine. And that's exactly why I'm asking you to go build your own and publish it. Because one data point is a story. Ten data points is a signal. A hundred data points changes the industry.'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layers. Each one catches a different class of problem. Git hooks catch it before it leaves your laptop — cheapest fix. Claude Code hooks catch it at build time. Kubernetes catches it at runtime — most expensive fix.' [pause] 'We didn't just build guardrails into the platform. We built the platform USING guardrails.'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Quick visual scan. Don't read each one. 'Eight guardrails. Every one implemented at all three layers. This is the same framework I published in my guardrails article. The article gives you the incident data and the industry context. This slide gives you the implementation. Same eight, different depth. It's in the repo with the full implementation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Credibility move. 'I'm going to be honest about the boundaries. This worked because it was greenfield — AI doesn't know your org's decisions. It worked because I understand every component — I could catch the version currency problems. And it worked because the AI was constrained. Remove any of those three and the 73.8% collapses back toward the METR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It'll be torn down in 24 hours. The scorecard lives forever. And that's the point.' [pause] 'Right now the industry has vendor surveys saying developers are 55% faster. METR says 19% slower. Developers believe they're 20% faster while being 19% slower. DX Research just surveyed 121,000 developers and found a 10% productivity plateau that hasn't budged since Q2 2025. We don't have a productivity problem. We have a measurement problem. We need more data points. Not more demos.' Q&amp;A PREP: If someone asks about the BIS/EIB European study (Jan 2026, 12,000 firms) — it found 4% average labor productivity increase from AI, with training investment adding +5.9 percentage points per additional percent spent. This supports the amplifier thesis and the argument that organizational enablement matters more than tool selection.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to action. 'The repo goes public today. The scorecard template is in there — it's blank. Build your own IDP. Score it honestly. I don't care if your number is 20% or 80% — the point is that you MEASURE it. Let's replace the 43-point perception gap with actual data.' [pause] 'And the cluster is live until tomorrow. ArgoCD, Backstage, Grafana — all accessible. Go break things. The URLs are in the handout.'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Bio goes here — AFTER the story. 'I'm Michael Forrester. I teach 100,000 engineers at KodeKloud how to build this stuff. The repo is on screen. Come find me if you want to talk about guardrails, scorecards, or why OTel Collector hates you.' [smile]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1/3. METR: 43-point gap = predicted (+24) minus actual (-19). Study explicitly says NOT to overgeneralize. Feb 2026 follow-up narrows the gap but with severe selection effects. DORA: CRITICAL — these are regression coefficients per 25% AI adoption increase, not absolute declines. The 2025 DORA report reversed the throughput finding to positive but the stability decline persists. If challenged: 'Yes, the 2025 report reversed throughput. Stability still declines. And the 2025 report's central finding — AI is an amplifier, not a solution — is exactly what this talk demonstrates. Constraints amplify AI's strengths. No constraints amplify its failures.'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2/3. McKinsey: The 1% 'mature' stat is from the January 2025 Superagency report. The November 2025 'State of AI' report uses different terminology — '6% high performers' reporting &gt;5% EBIT from AI. We cite the more dramatic 1% figure which uses the specific word 'mature.' Both are defensible but refer to different surveys and definitions. Stack Overflow: The 46% distrust figure is the headline stat from their own press release. Note that 46% is 'distrust' (somewhat + highly), not 'don't trust at all.' The inverse is 33% trust + 21% neutral. This is still a dramatic year-over-year shift from 31% to 46%.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3/3. Platform Engineering: The exact number is 29.6% — we round to 30% on slide 3. If challenged: the report is Broadcom-sponsored but community-sourced. The improvement from 45% to 29.6% year-over-year is actually a positive trend, but nearly 1 in 3 teams still flying blind is the relevant point. GitHub Copilot: We deliberately frame this as 'vendor surveys say +55%' on slide 19. The 55% number comes from GitHub's own research, not independent replication. The METR study used Cursor Pro (not Copilot) with Claude 3.5/3.7 Sonnet — different tool, different methodology, different population. The contrast is between vendor claims and independent measurement, not between identical setups. All first-party data in this talk (73.8%, correction cycles, version currency, build times) comes from the experiment scorecard at github.com/peopleforrester/kubeauto-ai-day.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0EA5E9"/>
          </a:solidFill>
          <a:ln/>
        </p:spPr>
      </p:sp>
      <p:sp>
        <p:nvSpPr>
          <p:cNvPr id="3" name="Shape 1"/>
          <p:cNvSpPr/>
          <p:nvPr/>
        </p:nvSpPr>
        <p:spPr>
          <a:xfrm>
            <a:off x="0" y="5106924"/>
            <a:ext cx="9144000" cy="36576"/>
          </a:xfrm>
          <a:prstGeom prst="rect">
            <a:avLst/>
          </a:prstGeom>
          <a:solidFill>
            <a:srgbClr val="0EA5E9"/>
          </a:solidFill>
          <a:ln/>
        </p:spPr>
      </p:sp>
      <p:sp>
        <p:nvSpPr>
          <p:cNvPr id="4" name="Text 2"/>
          <p:cNvSpPr/>
          <p:nvPr/>
        </p:nvSpPr>
        <p:spPr>
          <a:xfrm>
            <a:off x="457200" y="365760"/>
            <a:ext cx="8229600" cy="365760"/>
          </a:xfrm>
          <a:prstGeom prst="rect">
            <a:avLst/>
          </a:prstGeom>
          <a:noFill/>
          <a:ln/>
        </p:spPr>
        <p:txBody>
          <a:bodyPr wrap="square" lIns="0" tIns="0" rIns="0" bIns="0" rtlCol="0" anchor="ctr"/>
          <a:lstStyle/>
          <a:p>
            <a:pPr algn="ctr" indent="0" marL="0">
              <a:buNone/>
            </a:pPr>
            <a:r>
              <a:rPr lang="en-US" sz="1300" dirty="0">
                <a:solidFill>
                  <a:srgbClr val="0EA5E9"/>
                </a:solidFill>
                <a:latin typeface="Calibri" pitchFamily="34" charset="0"/>
                <a:ea typeface="Calibri" pitchFamily="34" charset="-122"/>
                <a:cs typeface="Calibri" pitchFamily="34" charset="-120"/>
              </a:rPr>
              <a:t>KubeAuto AI Day Europe 2026</a:t>
            </a:r>
            <a:endParaRPr lang="en-US" sz="1300" dirty="0"/>
          </a:p>
        </p:txBody>
      </p:sp>
      <p:sp>
        <p:nvSpPr>
          <p:cNvPr id="5" name="Text 3"/>
          <p:cNvSpPr/>
          <p:nvPr/>
        </p:nvSpPr>
        <p:spPr>
          <a:xfrm>
            <a:off x="457200" y="1188720"/>
            <a:ext cx="8229600" cy="822960"/>
          </a:xfrm>
          <a:prstGeom prst="rect">
            <a:avLst/>
          </a:prstGeom>
          <a:noFill/>
          <a:ln/>
        </p:spPr>
        <p:txBody>
          <a:bodyPr wrap="square" lIns="0" tIns="0" rIns="0" bIns="0" rtlCol="0" anchor="ctr"/>
          <a:lstStyle/>
          <a:p>
            <a:pPr algn="ctr" indent="0" marL="0">
              <a:buNone/>
            </a:pPr>
            <a:r>
              <a:rPr lang="en-US" sz="4000" dirty="0">
                <a:solidFill>
                  <a:srgbClr val="F8FAFC"/>
                </a:solidFill>
                <a:latin typeface="Arial Black" pitchFamily="34" charset="0"/>
                <a:ea typeface="Arial Black" pitchFamily="34" charset="-122"/>
                <a:cs typeface="Arial Black" pitchFamily="34" charset="-120"/>
              </a:rPr>
              <a:t>The 10-Hour IDP</a:t>
            </a:r>
            <a:endParaRPr lang="en-US" sz="4000" dirty="0"/>
          </a:p>
        </p:txBody>
      </p:sp>
      <p:sp>
        <p:nvSpPr>
          <p:cNvPr id="6" name="Text 4"/>
          <p:cNvSpPr/>
          <p:nvPr/>
        </p:nvSpPr>
        <p:spPr>
          <a:xfrm>
            <a:off x="457200" y="2011680"/>
            <a:ext cx="8229600" cy="822960"/>
          </a:xfrm>
          <a:prstGeom prst="rect">
            <a:avLst/>
          </a:prstGeom>
          <a:noFill/>
          <a:ln/>
        </p:spPr>
        <p:txBody>
          <a:bodyPr wrap="square" lIns="0" tIns="0" rIns="0" bIns="0" rtlCol="0" anchor="ctr"/>
          <a:lstStyle/>
          <a:p>
            <a:pPr algn="ctr" indent="0" marL="0">
              <a:buNone/>
            </a:pPr>
            <a:r>
              <a:rPr lang="en-US" sz="2200" dirty="0">
                <a:solidFill>
                  <a:srgbClr val="94A3B8"/>
                </a:solidFill>
                <a:latin typeface="Calibri" pitchFamily="34" charset="0"/>
                <a:ea typeface="Calibri" pitchFamily="34" charset="-122"/>
                <a:cs typeface="Calibri" pitchFamily="34" charset="-120"/>
              </a:rPr>
              <a:t>Can Claude Code Actually Reduce</a:t>
            </a:r>
            <a:endParaRPr lang="en-US" sz="2200" dirty="0"/>
          </a:p>
          <a:p>
            <a:pPr algn="ctr" indent="0" marL="0">
              <a:buNone/>
            </a:pPr>
            <a:r>
              <a:rPr lang="en-US" sz="2200" dirty="0">
                <a:solidFill>
                  <a:srgbClr val="94A3B8"/>
                </a:solidFill>
                <a:latin typeface="Calibri" pitchFamily="34" charset="0"/>
                <a:ea typeface="Calibri" pitchFamily="34" charset="-122"/>
                <a:cs typeface="Calibri" pitchFamily="34" charset="-120"/>
              </a:rPr>
              <a:t>Platform Engineering Toil?</a:t>
            </a:r>
            <a:endParaRPr lang="en-US" sz="2200" dirty="0"/>
          </a:p>
        </p:txBody>
      </p:sp>
      <p:sp>
        <p:nvSpPr>
          <p:cNvPr id="7" name="Shape 5"/>
          <p:cNvSpPr/>
          <p:nvPr/>
        </p:nvSpPr>
        <p:spPr>
          <a:xfrm>
            <a:off x="3200400" y="3108960"/>
            <a:ext cx="2743200" cy="36576"/>
          </a:xfrm>
          <a:prstGeom prst="rect">
            <a:avLst/>
          </a:prstGeom>
          <a:solidFill>
            <a:srgbClr val="0EA5E9"/>
          </a:solidFill>
          <a:ln/>
        </p:spPr>
      </p:sp>
      <p:sp>
        <p:nvSpPr>
          <p:cNvPr id="8" name="Text 6"/>
          <p:cNvSpPr/>
          <p:nvPr/>
        </p:nvSpPr>
        <p:spPr>
          <a:xfrm>
            <a:off x="457200" y="3383280"/>
            <a:ext cx="8229600" cy="457200"/>
          </a:xfrm>
          <a:prstGeom prst="rect">
            <a:avLst/>
          </a:prstGeom>
          <a:noFill/>
          <a:ln/>
        </p:spPr>
        <p:txBody>
          <a:bodyPr wrap="square" lIns="0" tIns="0" rIns="0" bIns="0" rtlCol="0" anchor="ctr"/>
          <a:lstStyle/>
          <a:p>
            <a:pPr algn="ctr" indent="0" marL="0">
              <a:buNone/>
            </a:pPr>
            <a:r>
              <a:rPr lang="en-US" sz="1800" dirty="0">
                <a:solidFill>
                  <a:srgbClr val="F1F5F9"/>
                </a:solidFill>
                <a:latin typeface="Calibri" pitchFamily="34" charset="0"/>
                <a:ea typeface="Calibri" pitchFamily="34" charset="-122"/>
                <a:cs typeface="Calibri" pitchFamily="34" charset="-120"/>
              </a:rPr>
              <a:t>Michael Forrester</a:t>
            </a:r>
            <a:endParaRPr lang="en-US" sz="1800" dirty="0"/>
          </a:p>
        </p:txBody>
      </p:sp>
      <p:sp>
        <p:nvSpPr>
          <p:cNvPr id="9" name="Text 7"/>
          <p:cNvSpPr/>
          <p:nvPr/>
        </p:nvSpPr>
        <p:spPr>
          <a:xfrm>
            <a:off x="457200" y="3840480"/>
            <a:ext cx="8229600" cy="365760"/>
          </a:xfrm>
          <a:prstGeom prst="rect">
            <a:avLst/>
          </a:prstGeom>
          <a:noFill/>
          <a:ln/>
        </p:spPr>
        <p:txBody>
          <a:bodyPr wrap="square" lIns="0" tIns="0" rIns="0" bIns="0" rtlCol="0" anchor="ctr"/>
          <a:lstStyle/>
          <a:p>
            <a:pPr algn="ctr" indent="0" marL="0">
              <a:buNone/>
            </a:pPr>
            <a:r>
              <a:rPr lang="en-US" sz="1400" dirty="0">
                <a:solidFill>
                  <a:srgbClr val="64748B"/>
                </a:solidFill>
                <a:latin typeface="Calibri" pitchFamily="34" charset="0"/>
                <a:ea typeface="Calibri" pitchFamily="34" charset="-122"/>
                <a:cs typeface="Calibri" pitchFamily="34" charset="-120"/>
              </a:rPr>
              <a:t>Principal Training Architect — KodeKloud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F43F5E"/>
          </a:solidFill>
          <a:ln/>
        </p:spPr>
      </p:sp>
      <p:sp>
        <p:nvSpPr>
          <p:cNvPr id="3" name="Text 1"/>
          <p:cNvSpPr/>
          <p:nvPr/>
        </p:nvSpPr>
        <p:spPr>
          <a:xfrm>
            <a:off x="731520" y="548640"/>
            <a:ext cx="7680960" cy="457200"/>
          </a:xfrm>
          <a:prstGeom prst="rect">
            <a:avLst/>
          </a:prstGeom>
          <a:noFill/>
          <a:ln/>
        </p:spPr>
        <p:txBody>
          <a:bodyPr wrap="square" lIns="0" tIns="0" rIns="0" bIns="0" rtlCol="0" anchor="ctr"/>
          <a:lstStyle/>
          <a:p>
            <a:pPr indent="0" marL="0">
              <a:buNone/>
            </a:pPr>
            <a:r>
              <a:rPr lang="en-US" sz="1800" dirty="0">
                <a:solidFill>
                  <a:srgbClr val="94A3B8"/>
                </a:solidFill>
                <a:latin typeface="Calibri" pitchFamily="34" charset="0"/>
                <a:ea typeface="Calibri" pitchFamily="34" charset="-122"/>
                <a:cs typeface="Calibri" pitchFamily="34" charset="-120"/>
              </a:rPr>
              <a:t>Developers believed AI made them</a:t>
            </a:r>
            <a:endParaRPr lang="en-US" sz="1800" dirty="0"/>
          </a:p>
        </p:txBody>
      </p:sp>
      <p:sp>
        <p:nvSpPr>
          <p:cNvPr id="4" name="Text 2"/>
          <p:cNvSpPr/>
          <p:nvPr/>
        </p:nvSpPr>
        <p:spPr>
          <a:xfrm>
            <a:off x="731520" y="1005840"/>
            <a:ext cx="7680960" cy="731520"/>
          </a:xfrm>
          <a:prstGeom prst="rect">
            <a:avLst/>
          </a:prstGeom>
          <a:noFill/>
          <a:ln/>
        </p:spPr>
        <p:txBody>
          <a:bodyPr wrap="square" lIns="0" tIns="0" rIns="0" bIns="0" rtlCol="0" anchor="ctr"/>
          <a:lstStyle/>
          <a:p>
            <a:pPr indent="0" marL="0">
              <a:buNone/>
            </a:pPr>
            <a:r>
              <a:rPr lang="en-US" sz="4200" dirty="0">
                <a:solidFill>
                  <a:srgbClr val="22C55E"/>
                </a:solidFill>
                <a:latin typeface="Arial Black" pitchFamily="34" charset="0"/>
                <a:ea typeface="Arial Black" pitchFamily="34" charset="-122"/>
                <a:cs typeface="Arial Black" pitchFamily="34" charset="-120"/>
              </a:rPr>
              <a:t>+24% faster</a:t>
            </a:r>
            <a:endParaRPr lang="en-US" sz="4200" dirty="0"/>
          </a:p>
        </p:txBody>
      </p:sp>
      <p:sp>
        <p:nvSpPr>
          <p:cNvPr id="5" name="Text 3"/>
          <p:cNvSpPr/>
          <p:nvPr/>
        </p:nvSpPr>
        <p:spPr>
          <a:xfrm>
            <a:off x="731520" y="2011680"/>
            <a:ext cx="7680960" cy="457200"/>
          </a:xfrm>
          <a:prstGeom prst="rect">
            <a:avLst/>
          </a:prstGeom>
          <a:noFill/>
          <a:ln/>
        </p:spPr>
        <p:txBody>
          <a:bodyPr wrap="square" lIns="0" tIns="0" rIns="0" bIns="0" rtlCol="0" anchor="ctr"/>
          <a:lstStyle/>
          <a:p>
            <a:pPr indent="0" marL="0">
              <a:buNone/>
            </a:pPr>
            <a:r>
              <a:rPr lang="en-US" sz="1800" dirty="0">
                <a:solidFill>
                  <a:srgbClr val="94A3B8"/>
                </a:solidFill>
                <a:latin typeface="Calibri" pitchFamily="34" charset="0"/>
                <a:ea typeface="Calibri" pitchFamily="34" charset="-122"/>
                <a:cs typeface="Calibri" pitchFamily="34" charset="-120"/>
              </a:rPr>
              <a:t>They were actually</a:t>
            </a:r>
            <a:endParaRPr lang="en-US" sz="1800" dirty="0"/>
          </a:p>
        </p:txBody>
      </p:sp>
      <p:sp>
        <p:nvSpPr>
          <p:cNvPr id="6" name="Text 4"/>
          <p:cNvSpPr/>
          <p:nvPr/>
        </p:nvSpPr>
        <p:spPr>
          <a:xfrm>
            <a:off x="731520" y="2468880"/>
            <a:ext cx="7680960" cy="822960"/>
          </a:xfrm>
          <a:prstGeom prst="rect">
            <a:avLst/>
          </a:prstGeom>
          <a:noFill/>
          <a:ln/>
        </p:spPr>
        <p:txBody>
          <a:bodyPr wrap="square" lIns="0" tIns="0" rIns="0" bIns="0" rtlCol="0" anchor="ctr"/>
          <a:lstStyle/>
          <a:p>
            <a:pPr indent="0" marL="0">
              <a:buNone/>
            </a:pPr>
            <a:r>
              <a:rPr lang="en-US" sz="5200" dirty="0">
                <a:solidFill>
                  <a:srgbClr val="F43F5E"/>
                </a:solidFill>
                <a:latin typeface="Arial Black" pitchFamily="34" charset="0"/>
                <a:ea typeface="Arial Black" pitchFamily="34" charset="-122"/>
                <a:cs typeface="Arial Black" pitchFamily="34" charset="-120"/>
              </a:rPr>
              <a:t>19% slower.</a:t>
            </a:r>
            <a:endParaRPr lang="en-US" sz="5200" dirty="0"/>
          </a:p>
        </p:txBody>
      </p:sp>
      <p:sp>
        <p:nvSpPr>
          <p:cNvPr id="7" name="Shape 5"/>
          <p:cNvSpPr/>
          <p:nvPr/>
        </p:nvSpPr>
        <p:spPr>
          <a:xfrm>
            <a:off x="731520" y="3566160"/>
            <a:ext cx="7680960" cy="731520"/>
          </a:xfrm>
          <a:prstGeom prst="rect">
            <a:avLst/>
          </a:prstGeom>
          <a:solidFill>
            <a:srgbClr val="151E30"/>
          </a:solidFill>
          <a:ln/>
          <a:effectLst>
            <a:outerShdw sx="100000" sy="100000" kx="0" ky="0" algn="bl" rotWithShape="0" blurRad="76200" dist="25400" dir="8100000">
              <a:srgbClr val="000000">
                <a:alpha val="35000"/>
              </a:srgbClr>
            </a:outerShdw>
          </a:effectLst>
        </p:spPr>
      </p:sp>
      <p:sp>
        <p:nvSpPr>
          <p:cNvPr id="8" name="Text 6"/>
          <p:cNvSpPr/>
          <p:nvPr/>
        </p:nvSpPr>
        <p:spPr>
          <a:xfrm>
            <a:off x="731520" y="3566160"/>
            <a:ext cx="7680960" cy="731520"/>
          </a:xfrm>
          <a:prstGeom prst="rect">
            <a:avLst/>
          </a:prstGeom>
          <a:noFill/>
          <a:ln/>
        </p:spPr>
        <p:txBody>
          <a:bodyPr wrap="square" lIns="0" tIns="0" rIns="0" bIns="0" rtlCol="0" anchor="ctr"/>
          <a:lstStyle/>
          <a:p>
            <a:pPr algn="ctr" indent="0" marL="0">
              <a:buNone/>
            </a:pPr>
            <a:r>
              <a:rPr lang="en-US" sz="2000" i="1" dirty="0">
                <a:solidFill>
                  <a:srgbClr val="F59E0B"/>
                </a:solidFill>
                <a:latin typeface="Calibri" pitchFamily="34" charset="0"/>
                <a:ea typeface="Calibri" pitchFamily="34" charset="-122"/>
                <a:cs typeface="Calibri" pitchFamily="34" charset="-120"/>
              </a:rPr>
              <a:t>43-point gap between perception and reality.</a:t>
            </a:r>
            <a:endParaRPr lang="en-US" sz="2000" dirty="0"/>
          </a:p>
        </p:txBody>
      </p:sp>
      <p:sp>
        <p:nvSpPr>
          <p:cNvPr id="9" name="Text 7"/>
          <p:cNvSpPr/>
          <p:nvPr/>
        </p:nvSpPr>
        <p:spPr>
          <a:xfrm>
            <a:off x="731520" y="4480560"/>
            <a:ext cx="7680960" cy="36576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METR, July 2025 — Randomized controlled trial, 16 experienced devs, 246 real tasks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43F5E"/>
          </a:solidFill>
          <a:ln/>
        </p:spPr>
      </p:sp>
      <p:sp>
        <p:nvSpPr>
          <p:cNvPr id="3" name="Text 1"/>
          <p:cNvSpPr/>
          <p:nvPr/>
        </p:nvSpPr>
        <p:spPr>
          <a:xfrm>
            <a:off x="365760" y="4773168"/>
            <a:ext cx="4572000" cy="228600"/>
          </a:xfrm>
          <a:prstGeom prst="rect">
            <a:avLst/>
          </a:prstGeom>
          <a:noFill/>
          <a:ln/>
        </p:spPr>
        <p:txBody>
          <a:bodyPr wrap="square" rtlCol="0" anchor="ctr"/>
          <a:lstStyle/>
          <a:p>
            <a:pPr indent="0" marL="0">
              <a:buNone/>
            </a:pPr>
            <a:r>
              <a:rPr lang="en-US" sz="700" dirty="0">
                <a:solidFill>
                  <a:srgbClr val="64748B"/>
                </a:solidFill>
                <a:latin typeface="Calibri" pitchFamily="34" charset="0"/>
                <a:ea typeface="Calibri" pitchFamily="34" charset="-122"/>
                <a:cs typeface="Calibri" pitchFamily="34" charset="-120"/>
              </a:rPr>
              <a:t>KubeAuto AI Day Europe 2026</a:t>
            </a:r>
            <a:endParaRPr lang="en-US" sz="700" dirty="0"/>
          </a:p>
        </p:txBody>
      </p:sp>
      <p:sp>
        <p:nvSpPr>
          <p:cNvPr id="4" name="Text 2"/>
          <p:cNvSpPr/>
          <p:nvPr/>
        </p:nvSpPr>
        <p:spPr>
          <a:xfrm>
            <a:off x="7863840" y="4773168"/>
            <a:ext cx="914400" cy="228600"/>
          </a:xfrm>
          <a:prstGeom prst="rect">
            <a:avLst/>
          </a:prstGeom>
          <a:noFill/>
          <a:ln/>
        </p:spPr>
        <p:txBody>
          <a:bodyPr wrap="square" rtlCol="0" anchor="ctr"/>
          <a:lstStyle/>
          <a:p>
            <a:pPr algn="r" indent="0" marL="0">
              <a:buNone/>
            </a:pPr>
            <a:r>
              <a:rPr lang="en-US" sz="700" dirty="0">
                <a:solidFill>
                  <a:srgbClr val="64748B"/>
                </a:solidFill>
                <a:latin typeface="Calibri" pitchFamily="34" charset="0"/>
                <a:ea typeface="Calibri" pitchFamily="34" charset="-122"/>
                <a:cs typeface="Calibri" pitchFamily="34" charset="-120"/>
              </a:rPr>
              <a:t>3/21</a:t>
            </a:r>
            <a:endParaRPr lang="en-US" sz="700" dirty="0"/>
          </a:p>
        </p:txBody>
      </p:sp>
      <p:sp>
        <p:nvSpPr>
          <p:cNvPr id="5" name="Text 3"/>
          <p:cNvSpPr/>
          <p:nvPr/>
        </p:nvSpPr>
        <p:spPr>
          <a:xfrm>
            <a:off x="457200" y="274320"/>
            <a:ext cx="8229600" cy="640080"/>
          </a:xfrm>
          <a:prstGeom prst="rect">
            <a:avLst/>
          </a:prstGeom>
          <a:noFill/>
          <a:ln/>
        </p:spPr>
        <p:txBody>
          <a:bodyPr wrap="square" lIns="0" tIns="0" rIns="0" bIns="0" rtlCol="0" anchor="ctr"/>
          <a:lstStyle/>
          <a:p>
            <a:pPr indent="0" marL="0">
              <a:buNone/>
            </a:pPr>
            <a:r>
              <a:rPr lang="en-US" sz="3200" dirty="0">
                <a:solidFill>
                  <a:srgbClr val="F8FAFC"/>
                </a:solidFill>
                <a:latin typeface="Arial Black" pitchFamily="34" charset="0"/>
                <a:ea typeface="Arial Black" pitchFamily="34" charset="-122"/>
                <a:cs typeface="Arial Black" pitchFamily="34" charset="-120"/>
              </a:rPr>
              <a:t>It gets worse.</a:t>
            </a:r>
            <a:endParaRPr lang="en-US" sz="3200" dirty="0"/>
          </a:p>
        </p:txBody>
      </p:sp>
      <p:sp>
        <p:nvSpPr>
          <p:cNvPr id="6" name="Shape 4"/>
          <p:cNvSpPr/>
          <p:nvPr/>
        </p:nvSpPr>
        <p:spPr>
          <a:xfrm>
            <a:off x="365760" y="1051560"/>
            <a:ext cx="8412480" cy="658368"/>
          </a:xfrm>
          <a:prstGeom prst="rect">
            <a:avLst/>
          </a:prstGeom>
          <a:solidFill>
            <a:srgbClr val="151E30"/>
          </a:solidFill>
          <a:ln/>
        </p:spPr>
      </p:sp>
      <p:sp>
        <p:nvSpPr>
          <p:cNvPr id="7" name="Shape 5"/>
          <p:cNvSpPr/>
          <p:nvPr/>
        </p:nvSpPr>
        <p:spPr>
          <a:xfrm>
            <a:off x="365760" y="1051560"/>
            <a:ext cx="54864" cy="658368"/>
          </a:xfrm>
          <a:prstGeom prst="rect">
            <a:avLst/>
          </a:prstGeom>
          <a:solidFill>
            <a:srgbClr val="EF4444"/>
          </a:solidFill>
          <a:ln/>
        </p:spPr>
      </p:sp>
      <p:sp>
        <p:nvSpPr>
          <p:cNvPr id="8" name="Text 6"/>
          <p:cNvSpPr/>
          <p:nvPr/>
        </p:nvSpPr>
        <p:spPr>
          <a:xfrm>
            <a:off x="594360" y="1051560"/>
            <a:ext cx="1371600" cy="658368"/>
          </a:xfrm>
          <a:prstGeom prst="rect">
            <a:avLst/>
          </a:prstGeom>
          <a:noFill/>
          <a:ln/>
        </p:spPr>
        <p:txBody>
          <a:bodyPr wrap="square" lIns="0" tIns="0" rIns="0" bIns="0" rtlCol="0" anchor="ctr"/>
          <a:lstStyle/>
          <a:p>
            <a:pPr algn="ctr" indent="0" marL="0">
              <a:buNone/>
            </a:pPr>
            <a:r>
              <a:rPr lang="en-US" sz="2600" dirty="0">
                <a:solidFill>
                  <a:srgbClr val="EF4444"/>
                </a:solidFill>
                <a:latin typeface="Arial Black" pitchFamily="34" charset="0"/>
                <a:ea typeface="Arial Black" pitchFamily="34" charset="-122"/>
                <a:cs typeface="Arial Black" pitchFamily="34" charset="-120"/>
              </a:rPr>
              <a:t>−1.5%</a:t>
            </a:r>
            <a:endParaRPr lang="en-US" sz="2600" dirty="0"/>
          </a:p>
        </p:txBody>
      </p:sp>
      <p:sp>
        <p:nvSpPr>
          <p:cNvPr id="9" name="Text 7"/>
          <p:cNvSpPr/>
          <p:nvPr/>
        </p:nvSpPr>
        <p:spPr>
          <a:xfrm>
            <a:off x="2011680" y="1097280"/>
            <a:ext cx="3657600" cy="32004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delivery throughput</a:t>
            </a:r>
            <a:endParaRPr lang="en-US" sz="1400" dirty="0"/>
          </a:p>
        </p:txBody>
      </p:sp>
      <p:sp>
        <p:nvSpPr>
          <p:cNvPr id="10" name="Text 8"/>
          <p:cNvSpPr/>
          <p:nvPr/>
        </p:nvSpPr>
        <p:spPr>
          <a:xfrm>
            <a:off x="2011680" y="1399032"/>
            <a:ext cx="64008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DORA 2024: per 25% increase in AI adoption (2025 report reversed this to positive)</a:t>
            </a:r>
            <a:endParaRPr lang="en-US" sz="1000" dirty="0"/>
          </a:p>
        </p:txBody>
      </p:sp>
      <p:sp>
        <p:nvSpPr>
          <p:cNvPr id="11" name="Shape 9"/>
          <p:cNvSpPr/>
          <p:nvPr/>
        </p:nvSpPr>
        <p:spPr>
          <a:xfrm>
            <a:off x="365760" y="1828800"/>
            <a:ext cx="8412480" cy="658368"/>
          </a:xfrm>
          <a:prstGeom prst="rect">
            <a:avLst/>
          </a:prstGeom>
          <a:solidFill>
            <a:srgbClr val="151E30"/>
          </a:solidFill>
          <a:ln/>
        </p:spPr>
      </p:sp>
      <p:sp>
        <p:nvSpPr>
          <p:cNvPr id="12" name="Shape 10"/>
          <p:cNvSpPr/>
          <p:nvPr/>
        </p:nvSpPr>
        <p:spPr>
          <a:xfrm>
            <a:off x="365760" y="1828800"/>
            <a:ext cx="54864" cy="658368"/>
          </a:xfrm>
          <a:prstGeom prst="rect">
            <a:avLst/>
          </a:prstGeom>
          <a:solidFill>
            <a:srgbClr val="EF4444"/>
          </a:solidFill>
          <a:ln/>
        </p:spPr>
      </p:sp>
      <p:sp>
        <p:nvSpPr>
          <p:cNvPr id="13" name="Text 11"/>
          <p:cNvSpPr/>
          <p:nvPr/>
        </p:nvSpPr>
        <p:spPr>
          <a:xfrm>
            <a:off x="594360" y="1828800"/>
            <a:ext cx="1371600" cy="658368"/>
          </a:xfrm>
          <a:prstGeom prst="rect">
            <a:avLst/>
          </a:prstGeom>
          <a:noFill/>
          <a:ln/>
        </p:spPr>
        <p:txBody>
          <a:bodyPr wrap="square" lIns="0" tIns="0" rIns="0" bIns="0" rtlCol="0" anchor="ctr"/>
          <a:lstStyle/>
          <a:p>
            <a:pPr algn="ctr" indent="0" marL="0">
              <a:buNone/>
            </a:pPr>
            <a:r>
              <a:rPr lang="en-US" sz="2600" dirty="0">
                <a:solidFill>
                  <a:srgbClr val="EF4444"/>
                </a:solidFill>
                <a:latin typeface="Arial Black" pitchFamily="34" charset="0"/>
                <a:ea typeface="Arial Black" pitchFamily="34" charset="-122"/>
                <a:cs typeface="Arial Black" pitchFamily="34" charset="-120"/>
              </a:rPr>
              <a:t>−7.2%</a:t>
            </a:r>
            <a:endParaRPr lang="en-US" sz="2600" dirty="0"/>
          </a:p>
        </p:txBody>
      </p:sp>
      <p:sp>
        <p:nvSpPr>
          <p:cNvPr id="14" name="Text 12"/>
          <p:cNvSpPr/>
          <p:nvPr/>
        </p:nvSpPr>
        <p:spPr>
          <a:xfrm>
            <a:off x="2011680" y="1874520"/>
            <a:ext cx="3657600" cy="32004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stability</a:t>
            </a:r>
            <a:endParaRPr lang="en-US" sz="1400" dirty="0"/>
          </a:p>
        </p:txBody>
      </p:sp>
      <p:sp>
        <p:nvSpPr>
          <p:cNvPr id="15" name="Text 13"/>
          <p:cNvSpPr/>
          <p:nvPr/>
        </p:nvSpPr>
        <p:spPr>
          <a:xfrm>
            <a:off x="2011680" y="2176272"/>
            <a:ext cx="64008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DORA 2024: per 25% increase in AI adoption (2025 report: stability decline persists)</a:t>
            </a:r>
            <a:endParaRPr lang="en-US" sz="1000" dirty="0"/>
          </a:p>
        </p:txBody>
      </p:sp>
      <p:sp>
        <p:nvSpPr>
          <p:cNvPr id="16" name="Shape 14"/>
          <p:cNvSpPr/>
          <p:nvPr/>
        </p:nvSpPr>
        <p:spPr>
          <a:xfrm>
            <a:off x="365760" y="2606040"/>
            <a:ext cx="8412480" cy="658368"/>
          </a:xfrm>
          <a:prstGeom prst="rect">
            <a:avLst/>
          </a:prstGeom>
          <a:solidFill>
            <a:srgbClr val="151E30"/>
          </a:solidFill>
          <a:ln/>
        </p:spPr>
      </p:sp>
      <p:sp>
        <p:nvSpPr>
          <p:cNvPr id="17" name="Shape 15"/>
          <p:cNvSpPr/>
          <p:nvPr/>
        </p:nvSpPr>
        <p:spPr>
          <a:xfrm>
            <a:off x="365760" y="2606040"/>
            <a:ext cx="54864" cy="658368"/>
          </a:xfrm>
          <a:prstGeom prst="rect">
            <a:avLst/>
          </a:prstGeom>
          <a:solidFill>
            <a:srgbClr val="F59E0B"/>
          </a:solidFill>
          <a:ln/>
        </p:spPr>
      </p:sp>
      <p:sp>
        <p:nvSpPr>
          <p:cNvPr id="18" name="Text 16"/>
          <p:cNvSpPr/>
          <p:nvPr/>
        </p:nvSpPr>
        <p:spPr>
          <a:xfrm>
            <a:off x="594360" y="2606040"/>
            <a:ext cx="1371600" cy="658368"/>
          </a:xfrm>
          <a:prstGeom prst="rect">
            <a:avLst/>
          </a:prstGeom>
          <a:noFill/>
          <a:ln/>
        </p:spPr>
        <p:txBody>
          <a:bodyPr wrap="square" lIns="0" tIns="0" rIns="0" bIns="0" rtlCol="0" anchor="ctr"/>
          <a:lstStyle/>
          <a:p>
            <a:pPr algn="ctr" indent="0" marL="0">
              <a:buNone/>
            </a:pPr>
            <a:r>
              <a:rPr lang="en-US" sz="2600" dirty="0">
                <a:solidFill>
                  <a:srgbClr val="F59E0B"/>
                </a:solidFill>
                <a:latin typeface="Arial Black" pitchFamily="34" charset="0"/>
                <a:ea typeface="Arial Black" pitchFamily="34" charset="-122"/>
                <a:cs typeface="Arial Black" pitchFamily="34" charset="-120"/>
              </a:rPr>
              <a:t>1%</a:t>
            </a:r>
            <a:endParaRPr lang="en-US" sz="2600" dirty="0"/>
          </a:p>
        </p:txBody>
      </p:sp>
      <p:sp>
        <p:nvSpPr>
          <p:cNvPr id="19" name="Text 17"/>
          <p:cNvSpPr/>
          <p:nvPr/>
        </p:nvSpPr>
        <p:spPr>
          <a:xfrm>
            <a:off x="2011680" y="2651760"/>
            <a:ext cx="3657600" cy="32004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of companies 'AI mature'</a:t>
            </a:r>
            <a:endParaRPr lang="en-US" sz="1400" dirty="0"/>
          </a:p>
        </p:txBody>
      </p:sp>
      <p:sp>
        <p:nvSpPr>
          <p:cNvPr id="20" name="Text 18"/>
          <p:cNvSpPr/>
          <p:nvPr/>
        </p:nvSpPr>
        <p:spPr>
          <a:xfrm>
            <a:off x="2011680" y="2953512"/>
            <a:ext cx="64008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McKinsey Superagency, Jan 2025 — despite 92% planning to increase AI spending</a:t>
            </a:r>
            <a:endParaRPr lang="en-US" sz="1000" dirty="0"/>
          </a:p>
        </p:txBody>
      </p:sp>
      <p:sp>
        <p:nvSpPr>
          <p:cNvPr id="21" name="Shape 19"/>
          <p:cNvSpPr/>
          <p:nvPr/>
        </p:nvSpPr>
        <p:spPr>
          <a:xfrm>
            <a:off x="365760" y="3383280"/>
            <a:ext cx="8412480" cy="658368"/>
          </a:xfrm>
          <a:prstGeom prst="rect">
            <a:avLst/>
          </a:prstGeom>
          <a:solidFill>
            <a:srgbClr val="151E30"/>
          </a:solidFill>
          <a:ln/>
        </p:spPr>
      </p:sp>
      <p:sp>
        <p:nvSpPr>
          <p:cNvPr id="22" name="Shape 20"/>
          <p:cNvSpPr/>
          <p:nvPr/>
        </p:nvSpPr>
        <p:spPr>
          <a:xfrm>
            <a:off x="365760" y="3383280"/>
            <a:ext cx="54864" cy="658368"/>
          </a:xfrm>
          <a:prstGeom prst="rect">
            <a:avLst/>
          </a:prstGeom>
          <a:solidFill>
            <a:srgbClr val="F59E0B"/>
          </a:solidFill>
          <a:ln/>
        </p:spPr>
      </p:sp>
      <p:sp>
        <p:nvSpPr>
          <p:cNvPr id="23" name="Text 21"/>
          <p:cNvSpPr/>
          <p:nvPr/>
        </p:nvSpPr>
        <p:spPr>
          <a:xfrm>
            <a:off x="594360" y="3383280"/>
            <a:ext cx="1371600" cy="658368"/>
          </a:xfrm>
          <a:prstGeom prst="rect">
            <a:avLst/>
          </a:prstGeom>
          <a:noFill/>
          <a:ln/>
        </p:spPr>
        <p:txBody>
          <a:bodyPr wrap="square" lIns="0" tIns="0" rIns="0" bIns="0" rtlCol="0" anchor="ctr"/>
          <a:lstStyle/>
          <a:p>
            <a:pPr algn="ctr" indent="0" marL="0">
              <a:buNone/>
            </a:pPr>
            <a:r>
              <a:rPr lang="en-US" sz="2600" dirty="0">
                <a:solidFill>
                  <a:srgbClr val="F59E0B"/>
                </a:solidFill>
                <a:latin typeface="Arial Black" pitchFamily="34" charset="0"/>
                <a:ea typeface="Arial Black" pitchFamily="34" charset="-122"/>
                <a:cs typeface="Arial Black" pitchFamily="34" charset="-120"/>
              </a:rPr>
              <a:t>46%</a:t>
            </a:r>
            <a:endParaRPr lang="en-US" sz="2600" dirty="0"/>
          </a:p>
        </p:txBody>
      </p:sp>
      <p:sp>
        <p:nvSpPr>
          <p:cNvPr id="24" name="Text 22"/>
          <p:cNvSpPr/>
          <p:nvPr/>
        </p:nvSpPr>
        <p:spPr>
          <a:xfrm>
            <a:off x="2011680" y="3429000"/>
            <a:ext cx="3657600" cy="32004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of devs don't trust AI output</a:t>
            </a:r>
            <a:endParaRPr lang="en-US" sz="1400" dirty="0"/>
          </a:p>
        </p:txBody>
      </p:sp>
      <p:sp>
        <p:nvSpPr>
          <p:cNvPr id="25" name="Text 23"/>
          <p:cNvSpPr/>
          <p:nvPr/>
        </p:nvSpPr>
        <p:spPr>
          <a:xfrm>
            <a:off x="2011680" y="3730752"/>
            <a:ext cx="64008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Stack Overflow 2025 — up from 31% last year</a:t>
            </a:r>
            <a:endParaRPr lang="en-US" sz="1000" dirty="0"/>
          </a:p>
        </p:txBody>
      </p:sp>
      <p:sp>
        <p:nvSpPr>
          <p:cNvPr id="26" name="Shape 24"/>
          <p:cNvSpPr/>
          <p:nvPr/>
        </p:nvSpPr>
        <p:spPr>
          <a:xfrm>
            <a:off x="365760" y="4160520"/>
            <a:ext cx="8412480" cy="658368"/>
          </a:xfrm>
          <a:prstGeom prst="rect">
            <a:avLst/>
          </a:prstGeom>
          <a:solidFill>
            <a:srgbClr val="151E30"/>
          </a:solidFill>
          <a:ln/>
        </p:spPr>
      </p:sp>
      <p:sp>
        <p:nvSpPr>
          <p:cNvPr id="27" name="Shape 25"/>
          <p:cNvSpPr/>
          <p:nvPr/>
        </p:nvSpPr>
        <p:spPr>
          <a:xfrm>
            <a:off x="365760" y="4160520"/>
            <a:ext cx="54864" cy="658368"/>
          </a:xfrm>
          <a:prstGeom prst="rect">
            <a:avLst/>
          </a:prstGeom>
          <a:solidFill>
            <a:srgbClr val="F43F5E"/>
          </a:solidFill>
          <a:ln/>
        </p:spPr>
      </p:sp>
      <p:sp>
        <p:nvSpPr>
          <p:cNvPr id="28" name="Text 26"/>
          <p:cNvSpPr/>
          <p:nvPr/>
        </p:nvSpPr>
        <p:spPr>
          <a:xfrm>
            <a:off x="594360" y="4160520"/>
            <a:ext cx="1371600" cy="658368"/>
          </a:xfrm>
          <a:prstGeom prst="rect">
            <a:avLst/>
          </a:prstGeom>
          <a:noFill/>
          <a:ln/>
        </p:spPr>
        <p:txBody>
          <a:bodyPr wrap="square" lIns="0" tIns="0" rIns="0" bIns="0" rtlCol="0" anchor="ctr"/>
          <a:lstStyle/>
          <a:p>
            <a:pPr algn="ctr" indent="0" marL="0">
              <a:buNone/>
            </a:pPr>
            <a:r>
              <a:rPr lang="en-US" sz="2600" dirty="0">
                <a:solidFill>
                  <a:srgbClr val="F43F5E"/>
                </a:solidFill>
                <a:latin typeface="Arial Black" pitchFamily="34" charset="0"/>
                <a:ea typeface="Arial Black" pitchFamily="34" charset="-122"/>
                <a:cs typeface="Arial Black" pitchFamily="34" charset="-120"/>
              </a:rPr>
              <a:t>30%</a:t>
            </a:r>
            <a:endParaRPr lang="en-US" sz="2600" dirty="0"/>
          </a:p>
        </p:txBody>
      </p:sp>
      <p:sp>
        <p:nvSpPr>
          <p:cNvPr id="29" name="Text 27"/>
          <p:cNvSpPr/>
          <p:nvPr/>
        </p:nvSpPr>
        <p:spPr>
          <a:xfrm>
            <a:off x="2011680" y="4206240"/>
            <a:ext cx="3657600" cy="32004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of platform teams don't measure</a:t>
            </a:r>
            <a:endParaRPr lang="en-US" sz="1400" dirty="0"/>
          </a:p>
        </p:txBody>
      </p:sp>
      <p:sp>
        <p:nvSpPr>
          <p:cNvPr id="30" name="Text 28"/>
          <p:cNvSpPr/>
          <p:nvPr/>
        </p:nvSpPr>
        <p:spPr>
          <a:xfrm>
            <a:off x="2011680" y="4507992"/>
            <a:ext cx="64008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State of Platform Engineering Vol. 4, 2025</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365760" y="4773168"/>
            <a:ext cx="4572000" cy="228600"/>
          </a:xfrm>
          <a:prstGeom prst="rect">
            <a:avLst/>
          </a:prstGeom>
          <a:noFill/>
          <a:ln/>
        </p:spPr>
        <p:txBody>
          <a:bodyPr wrap="square" rtlCol="0" anchor="ctr"/>
          <a:lstStyle/>
          <a:p>
            <a:pPr indent="0" marL="0">
              <a:buNone/>
            </a:pPr>
            <a:r>
              <a:rPr lang="en-US" sz="700" dirty="0">
                <a:solidFill>
                  <a:srgbClr val="64748B"/>
                </a:solidFill>
                <a:latin typeface="Calibri" pitchFamily="34" charset="0"/>
                <a:ea typeface="Calibri" pitchFamily="34" charset="-122"/>
                <a:cs typeface="Calibri" pitchFamily="34" charset="-120"/>
              </a:rPr>
              <a:t>KubeAuto AI Day Europe 2026</a:t>
            </a:r>
            <a:endParaRPr lang="en-US" sz="700" dirty="0"/>
          </a:p>
        </p:txBody>
      </p:sp>
      <p:sp>
        <p:nvSpPr>
          <p:cNvPr id="3" name="Text 1"/>
          <p:cNvSpPr/>
          <p:nvPr/>
        </p:nvSpPr>
        <p:spPr>
          <a:xfrm>
            <a:off x="7863840" y="4773168"/>
            <a:ext cx="914400" cy="228600"/>
          </a:xfrm>
          <a:prstGeom prst="rect">
            <a:avLst/>
          </a:prstGeom>
          <a:noFill/>
          <a:ln/>
        </p:spPr>
        <p:txBody>
          <a:bodyPr wrap="square" rtlCol="0" anchor="ctr"/>
          <a:lstStyle/>
          <a:p>
            <a:pPr algn="r" indent="0" marL="0">
              <a:buNone/>
            </a:pPr>
            <a:r>
              <a:rPr lang="en-US" sz="700" dirty="0">
                <a:solidFill>
                  <a:srgbClr val="64748B"/>
                </a:solidFill>
                <a:latin typeface="Calibri" pitchFamily="34" charset="0"/>
                <a:ea typeface="Calibri" pitchFamily="34" charset="-122"/>
                <a:cs typeface="Calibri" pitchFamily="34" charset="-120"/>
              </a:rPr>
              <a:t>4/21</a:t>
            </a:r>
            <a:endParaRPr lang="en-US" sz="700" dirty="0"/>
          </a:p>
        </p:txBody>
      </p:sp>
      <p:sp>
        <p:nvSpPr>
          <p:cNvPr id="4" name="Text 2"/>
          <p:cNvSpPr/>
          <p:nvPr/>
        </p:nvSpPr>
        <p:spPr>
          <a:xfrm>
            <a:off x="731520" y="274320"/>
            <a:ext cx="7680960" cy="868680"/>
          </a:xfrm>
          <a:prstGeom prst="rect">
            <a:avLst/>
          </a:prstGeom>
          <a:noFill/>
          <a:ln/>
        </p:spPr>
        <p:txBody>
          <a:bodyPr wrap="square" lIns="0" tIns="0" rIns="0" bIns="0" rtlCol="0" anchor="ctr"/>
          <a:lstStyle/>
          <a:p>
            <a:pPr indent="0" marL="0">
              <a:buNone/>
            </a:pPr>
            <a:r>
              <a:rPr lang="en-US" sz="1500" dirty="0">
                <a:solidFill>
                  <a:srgbClr val="94A3B8"/>
                </a:solidFill>
                <a:latin typeface="Calibri" pitchFamily="34" charset="0"/>
                <a:ea typeface="Calibri" pitchFamily="34" charset="-122"/>
                <a:cs typeface="Calibri" pitchFamily="34" charset="-120"/>
              </a:rPr>
              <a:t>Everyone's talking about AI agents in production.
</a:t>
            </a:r>
            <a:pPr indent="0" marL="0">
              <a:buNone/>
            </a:pPr>
            <a:r>
              <a:rPr lang="en-US" sz="1500" dirty="0">
                <a:solidFill>
                  <a:srgbClr val="CBD5E1"/>
                </a:solidFill>
                <a:latin typeface="Calibri" pitchFamily="34" charset="0"/>
                <a:ea typeface="Calibri" pitchFamily="34" charset="-122"/>
                <a:cs typeface="Calibri" pitchFamily="34" charset="-120"/>
              </a:rPr>
              <a:t>I'm not there yet. I'm at the beginning — standing up clusters,</a:t>
            </a:r>
            <a:endParaRPr lang="en-US" sz="1500" dirty="0"/>
          </a:p>
          <a:p>
            <a:pPr indent="0" marL="0">
              <a:buNone/>
            </a:pPr>
            <a:r>
              <a:rPr lang="en-US" sz="1500" dirty="0">
                <a:solidFill>
                  <a:srgbClr val="CBD5E1"/>
                </a:solidFill>
                <a:latin typeface="Calibri" pitchFamily="34" charset="0"/>
                <a:ea typeface="Calibri" pitchFamily="34" charset="-122"/>
                <a:cs typeface="Calibri" pitchFamily="34" charset="-120"/>
              </a:rPr>
              <a:t>adding technologies, running POCs. </a:t>
            </a:r>
            <a:endParaRPr lang="en-US" sz="1500" dirty="0"/>
          </a:p>
          <a:p>
            <a:pPr indent="0" marL="0">
              <a:buNone/>
            </a:pPr>
            <a:r>
              <a:rPr lang="en-US" sz="1500" b="1" dirty="0">
                <a:solidFill>
                  <a:srgbClr val="F59E0B"/>
                </a:solidFill>
                <a:latin typeface="Calibri" pitchFamily="34" charset="0"/>
                <a:ea typeface="Calibri" pitchFamily="34" charset="-122"/>
                <a:cs typeface="Calibri" pitchFamily="34" charset="-120"/>
              </a:rPr>
              <a:t>The boring part.</a:t>
            </a:r>
            <a:endParaRPr lang="en-US" sz="1500" dirty="0"/>
          </a:p>
        </p:txBody>
      </p:sp>
      <p:sp>
        <p:nvSpPr>
          <p:cNvPr id="5" name="Shape 3"/>
          <p:cNvSpPr/>
          <p:nvPr/>
        </p:nvSpPr>
        <p:spPr>
          <a:xfrm>
            <a:off x="731520" y="1280160"/>
            <a:ext cx="2743200" cy="36576"/>
          </a:xfrm>
          <a:prstGeom prst="rect">
            <a:avLst/>
          </a:prstGeom>
          <a:solidFill>
            <a:srgbClr val="0EA5E9"/>
          </a:solidFill>
          <a:ln/>
        </p:spPr>
      </p:sp>
      <p:sp>
        <p:nvSpPr>
          <p:cNvPr id="6" name="Text 4"/>
          <p:cNvSpPr/>
          <p:nvPr/>
        </p:nvSpPr>
        <p:spPr>
          <a:xfrm>
            <a:off x="731520" y="1463040"/>
            <a:ext cx="7680960" cy="365760"/>
          </a:xfrm>
          <a:prstGeom prst="rect">
            <a:avLst/>
          </a:prstGeom>
          <a:noFill/>
          <a:ln/>
        </p:spPr>
        <p:txBody>
          <a:bodyPr wrap="square" lIns="0" tIns="0" rIns="0" bIns="0" rtlCol="0" anchor="ctr"/>
          <a:lstStyle/>
          <a:p>
            <a:pPr indent="0" marL="0">
              <a:buNone/>
            </a:pPr>
            <a:r>
              <a:rPr lang="en-US" sz="1600" i="1" dirty="0">
                <a:solidFill>
                  <a:srgbClr val="F1F5F9"/>
                </a:solidFill>
                <a:latin typeface="Calibri" pitchFamily="34" charset="0"/>
                <a:ea typeface="Calibri" pitchFamily="34" charset="-122"/>
                <a:cs typeface="Calibri" pitchFamily="34" charset="-120"/>
              </a:rPr>
              <a:t>So I asked a different question.</a:t>
            </a:r>
            <a:endParaRPr lang="en-US" sz="1600" dirty="0"/>
          </a:p>
        </p:txBody>
      </p:sp>
      <p:sp>
        <p:nvSpPr>
          <p:cNvPr id="7" name="Text 5"/>
          <p:cNvSpPr/>
          <p:nvPr/>
        </p:nvSpPr>
        <p:spPr>
          <a:xfrm>
            <a:off x="731520" y="1920240"/>
            <a:ext cx="7680960" cy="365760"/>
          </a:xfrm>
          <a:prstGeom prst="rect">
            <a:avLst/>
          </a:prstGeom>
          <a:noFill/>
          <a:ln/>
        </p:spPr>
        <p:txBody>
          <a:bodyPr wrap="square" lIns="0" tIns="0" rIns="0" bIns="0" rtlCol="0" anchor="ctr"/>
          <a:lstStyle/>
          <a:p>
            <a:pPr indent="0" marL="0">
              <a:buNone/>
            </a:pPr>
            <a:r>
              <a:rPr lang="en-US" sz="2000" dirty="0">
                <a:solidFill>
                  <a:srgbClr val="64748B"/>
                </a:solidFill>
                <a:latin typeface="Calibri" pitchFamily="34" charset="0"/>
                <a:ea typeface="Calibri" pitchFamily="34" charset="-122"/>
                <a:cs typeface="Calibri" pitchFamily="34" charset="-120"/>
              </a:rPr>
              <a:t>Not </a:t>
            </a:r>
            <a:pPr indent="0" marL="0">
              <a:buNone/>
            </a:pPr>
            <a:r>
              <a:rPr lang="en-US" sz="2000" strike="sngStrike" dirty="0">
                <a:solidFill>
                  <a:srgbClr val="64748B"/>
                </a:solidFill>
                <a:latin typeface="Calibri" pitchFamily="34" charset="0"/>
                <a:ea typeface="Calibri" pitchFamily="34" charset="-122"/>
                <a:cs typeface="Calibri" pitchFamily="34" charset="-120"/>
              </a:rPr>
              <a:t>'is AI useful?'</a:t>
            </a:r>
            <a:endParaRPr lang="en-US" sz="2000" dirty="0"/>
          </a:p>
        </p:txBody>
      </p:sp>
      <p:sp>
        <p:nvSpPr>
          <p:cNvPr id="8" name="Text 6"/>
          <p:cNvSpPr/>
          <p:nvPr/>
        </p:nvSpPr>
        <p:spPr>
          <a:xfrm>
            <a:off x="731520" y="2468880"/>
            <a:ext cx="7680960" cy="457200"/>
          </a:xfrm>
          <a:prstGeom prst="rect">
            <a:avLst/>
          </a:prstGeom>
          <a:noFill/>
          <a:ln/>
        </p:spPr>
        <p:txBody>
          <a:bodyPr wrap="square" lIns="0" tIns="0" rIns="0" bIns="0" rtlCol="0" anchor="ctr"/>
          <a:lstStyle/>
          <a:p>
            <a:pPr indent="0" marL="0">
              <a:buNone/>
            </a:pPr>
            <a:r>
              <a:rPr lang="en-US" sz="2600" b="1" dirty="0">
                <a:solidFill>
                  <a:srgbClr val="F8FAFC"/>
                </a:solidFill>
                <a:latin typeface="Calibri" pitchFamily="34" charset="0"/>
                <a:ea typeface="Calibri" pitchFamily="34" charset="-122"/>
                <a:cs typeface="Calibri" pitchFamily="34" charset="-120"/>
              </a:rPr>
              <a:t>Can AI make the boring part</a:t>
            </a:r>
            <a:endParaRPr lang="en-US" sz="2600" dirty="0"/>
          </a:p>
        </p:txBody>
      </p:sp>
      <p:sp>
        <p:nvSpPr>
          <p:cNvPr id="9" name="Text 7"/>
          <p:cNvSpPr/>
          <p:nvPr/>
        </p:nvSpPr>
        <p:spPr>
          <a:xfrm>
            <a:off x="731520" y="2880360"/>
            <a:ext cx="7680960" cy="502920"/>
          </a:xfrm>
          <a:prstGeom prst="rect">
            <a:avLst/>
          </a:prstGeom>
          <a:noFill/>
          <a:ln/>
        </p:spPr>
        <p:txBody>
          <a:bodyPr wrap="square" lIns="0" tIns="0" rIns="0" bIns="0" rtlCol="0" anchor="ctr"/>
          <a:lstStyle/>
          <a:p>
            <a:pPr indent="0" marL="0">
              <a:buNone/>
            </a:pPr>
            <a:r>
              <a:rPr lang="en-US" sz="3600" dirty="0">
                <a:solidFill>
                  <a:srgbClr val="0EA5E9"/>
                </a:solidFill>
                <a:latin typeface="Arial Black" pitchFamily="34" charset="0"/>
                <a:ea typeface="Arial Black" pitchFamily="34" charset="-122"/>
                <a:cs typeface="Arial Black" pitchFamily="34" charset="-120"/>
              </a:rPr>
              <a:t>disappear?</a:t>
            </a:r>
            <a:endParaRPr lang="en-US" sz="3600" dirty="0"/>
          </a:p>
        </p:txBody>
      </p:sp>
      <p:sp>
        <p:nvSpPr>
          <p:cNvPr id="10" name="Text 8"/>
          <p:cNvSpPr/>
          <p:nvPr/>
        </p:nvSpPr>
        <p:spPr>
          <a:xfrm>
            <a:off x="731520" y="3566160"/>
            <a:ext cx="7680960" cy="365760"/>
          </a:xfrm>
          <a:prstGeom prst="rect">
            <a:avLst/>
          </a:prstGeom>
          <a:noFill/>
          <a:ln/>
        </p:spPr>
        <p:txBody>
          <a:bodyPr wrap="square" lIns="0" tIns="0" rIns="0" bIns="0" rtlCol="0" anchor="ctr"/>
          <a:lstStyle/>
          <a:p>
            <a:pPr indent="0" marL="0">
              <a:buNone/>
            </a:pPr>
            <a:r>
              <a:rPr lang="en-US" sz="2000" dirty="0">
                <a:solidFill>
                  <a:srgbClr val="F8FAFC"/>
                </a:solidFill>
                <a:latin typeface="Calibri" pitchFamily="34" charset="0"/>
                <a:ea typeface="Calibri" pitchFamily="34" charset="-122"/>
                <a:cs typeface="Calibri" pitchFamily="34" charset="-120"/>
              </a:rPr>
              <a:t>And can I actually </a:t>
            </a:r>
            <a:pPr indent="0" marL="0">
              <a:buNone/>
            </a:pPr>
            <a:r>
              <a:rPr lang="en-US" sz="2000" b="1" dirty="0">
                <a:solidFill>
                  <a:srgbClr val="0EA5E9"/>
                </a:solidFill>
                <a:latin typeface="Calibri" pitchFamily="34" charset="0"/>
                <a:ea typeface="Calibri" pitchFamily="34" charset="-122"/>
                <a:cs typeface="Calibri" pitchFamily="34" charset="-120"/>
              </a:rPr>
              <a:t>measure it?</a:t>
            </a:r>
            <a:endParaRPr lang="en-US" sz="2000" dirty="0"/>
          </a:p>
        </p:txBody>
      </p:sp>
      <p:sp>
        <p:nvSpPr>
          <p:cNvPr id="11" name="Shape 9"/>
          <p:cNvSpPr/>
          <p:nvPr/>
        </p:nvSpPr>
        <p:spPr>
          <a:xfrm>
            <a:off x="731520" y="4160520"/>
            <a:ext cx="7680960" cy="36576"/>
          </a:xfrm>
          <a:prstGeom prst="rect">
            <a:avLst/>
          </a:prstGeom>
          <a:solidFill>
            <a:srgbClr val="1E293B"/>
          </a:solidFill>
          <a:ln/>
        </p:spPr>
      </p:sp>
      <p:sp>
        <p:nvSpPr>
          <p:cNvPr id="12" name="Text 10"/>
          <p:cNvSpPr/>
          <p:nvPr/>
        </p:nvSpPr>
        <p:spPr>
          <a:xfrm>
            <a:off x="731520" y="4297680"/>
            <a:ext cx="7680960" cy="320040"/>
          </a:xfrm>
          <a:prstGeom prst="rect">
            <a:avLst/>
          </a:prstGeom>
          <a:noFill/>
          <a:ln/>
        </p:spPr>
        <p:txBody>
          <a:bodyPr wrap="square" lIns="0" tIns="0" rIns="0" bIns="0" rtlCol="0" anchor="ctr"/>
          <a:lstStyle/>
          <a:p>
            <a:pPr indent="0" marL="0">
              <a:buNone/>
            </a:pPr>
            <a:r>
              <a:rPr lang="en-US" sz="1300" i="1" dirty="0">
                <a:solidFill>
                  <a:srgbClr val="94A3B8"/>
                </a:solidFill>
                <a:latin typeface="Calibri" pitchFamily="34" charset="0"/>
                <a:ea typeface="Calibri" pitchFamily="34" charset="-122"/>
                <a:cs typeface="Calibri" pitchFamily="34" charset="-120"/>
              </a:rPr>
              <a:t>Component by component. With tests. With a timer. With a scorecard that doesn't lie.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EA5E9"/>
          </a:solidFill>
          <a:ln/>
        </p:spPr>
      </p:sp>
      <p:sp>
        <p:nvSpPr>
          <p:cNvPr id="3" name="Text 1"/>
          <p:cNvSpPr/>
          <p:nvPr/>
        </p:nvSpPr>
        <p:spPr>
          <a:xfrm>
            <a:off x="365760" y="4773168"/>
            <a:ext cx="4572000" cy="228600"/>
          </a:xfrm>
          <a:prstGeom prst="rect">
            <a:avLst/>
          </a:prstGeom>
          <a:noFill/>
          <a:ln/>
        </p:spPr>
        <p:txBody>
          <a:bodyPr wrap="square" rtlCol="0" anchor="ctr"/>
          <a:lstStyle/>
          <a:p>
            <a:pPr indent="0" marL="0">
              <a:buNone/>
            </a:pPr>
            <a:r>
              <a:rPr lang="en-US" sz="700" dirty="0">
                <a:solidFill>
                  <a:srgbClr val="64748B"/>
                </a:solidFill>
                <a:latin typeface="Calibri" pitchFamily="34" charset="0"/>
                <a:ea typeface="Calibri" pitchFamily="34" charset="-122"/>
                <a:cs typeface="Calibri" pitchFamily="34" charset="-120"/>
              </a:rPr>
              <a:t>KubeAuto AI Day Europe 2026</a:t>
            </a:r>
            <a:endParaRPr lang="en-US" sz="700" dirty="0"/>
          </a:p>
        </p:txBody>
      </p:sp>
      <p:sp>
        <p:nvSpPr>
          <p:cNvPr id="4" name="Text 2"/>
          <p:cNvSpPr/>
          <p:nvPr/>
        </p:nvSpPr>
        <p:spPr>
          <a:xfrm>
            <a:off x="7863840" y="4773168"/>
            <a:ext cx="914400" cy="228600"/>
          </a:xfrm>
          <a:prstGeom prst="rect">
            <a:avLst/>
          </a:prstGeom>
          <a:noFill/>
          <a:ln/>
        </p:spPr>
        <p:txBody>
          <a:bodyPr wrap="square" rtlCol="0" anchor="ctr"/>
          <a:lstStyle/>
          <a:p>
            <a:pPr algn="r" indent="0" marL="0">
              <a:buNone/>
            </a:pPr>
            <a:r>
              <a:rPr lang="en-US" sz="700" dirty="0">
                <a:solidFill>
                  <a:srgbClr val="64748B"/>
                </a:solidFill>
                <a:latin typeface="Calibri" pitchFamily="34" charset="0"/>
                <a:ea typeface="Calibri" pitchFamily="34" charset="-122"/>
                <a:cs typeface="Calibri" pitchFamily="34" charset="-120"/>
              </a:rPr>
              <a:t>5/21</a:t>
            </a:r>
            <a:endParaRPr lang="en-US" sz="700" dirty="0"/>
          </a:p>
        </p:txBody>
      </p:sp>
      <p:sp>
        <p:nvSpPr>
          <p:cNvPr id="5" name="Text 3"/>
          <p:cNvSpPr/>
          <p:nvPr/>
        </p:nvSpPr>
        <p:spPr>
          <a:xfrm>
            <a:off x="457200" y="274320"/>
            <a:ext cx="8229600" cy="640080"/>
          </a:xfrm>
          <a:prstGeom prst="rect">
            <a:avLst/>
          </a:prstGeom>
          <a:noFill/>
          <a:ln/>
        </p:spPr>
        <p:txBody>
          <a:bodyPr wrap="square" lIns="0" tIns="0" rIns="0" bIns="0" rtlCol="0" anchor="ctr"/>
          <a:lstStyle/>
          <a:p>
            <a:pPr indent="0" marL="0">
              <a:buNone/>
            </a:pPr>
            <a:r>
              <a:rPr lang="en-US" sz="3200" dirty="0">
                <a:solidFill>
                  <a:srgbClr val="F8FAFC"/>
                </a:solidFill>
                <a:latin typeface="Arial Black" pitchFamily="34" charset="0"/>
                <a:ea typeface="Arial Black" pitchFamily="34" charset="-122"/>
                <a:cs typeface="Arial Black" pitchFamily="34" charset="-120"/>
              </a:rPr>
              <a:t>The Experiment</a:t>
            </a:r>
            <a:endParaRPr lang="en-US" sz="3200" dirty="0"/>
          </a:p>
        </p:txBody>
      </p:sp>
      <p:sp>
        <p:nvSpPr>
          <p:cNvPr id="6" name="Shape 4"/>
          <p:cNvSpPr/>
          <p:nvPr/>
        </p:nvSpPr>
        <p:spPr>
          <a:xfrm>
            <a:off x="320040" y="1097280"/>
            <a:ext cx="2011680" cy="2377440"/>
          </a:xfrm>
          <a:prstGeom prst="rect">
            <a:avLst/>
          </a:prstGeom>
          <a:solidFill>
            <a:srgbClr val="151E30"/>
          </a:solidFill>
          <a:ln/>
          <a:effectLst>
            <a:outerShdw sx="100000" sy="100000" kx="0" ky="0" algn="bl" rotWithShape="0" blurRad="76200" dist="25400" dir="8100000">
              <a:srgbClr val="000000">
                <a:alpha val="35000"/>
              </a:srgbClr>
            </a:outerShdw>
          </a:effectLst>
        </p:spPr>
      </p:sp>
      <p:sp>
        <p:nvSpPr>
          <p:cNvPr id="7" name="Text 5"/>
          <p:cNvSpPr/>
          <p:nvPr/>
        </p:nvSpPr>
        <p:spPr>
          <a:xfrm>
            <a:off x="320040" y="1280160"/>
            <a:ext cx="2011680" cy="822960"/>
          </a:xfrm>
          <a:prstGeom prst="rect">
            <a:avLst/>
          </a:prstGeom>
          <a:noFill/>
          <a:ln/>
        </p:spPr>
        <p:txBody>
          <a:bodyPr wrap="square" lIns="0" tIns="0" rIns="0" bIns="0" rtlCol="0" anchor="ctr"/>
          <a:lstStyle/>
          <a:p>
            <a:pPr algn="ctr" indent="0" marL="0">
              <a:buNone/>
            </a:pPr>
            <a:r>
              <a:rPr lang="en-US" sz="4800" dirty="0">
                <a:solidFill>
                  <a:srgbClr val="0EA5E9"/>
                </a:solidFill>
                <a:latin typeface="Arial Black" pitchFamily="34" charset="0"/>
                <a:ea typeface="Arial Black" pitchFamily="34" charset="-122"/>
                <a:cs typeface="Arial Black" pitchFamily="34" charset="-120"/>
              </a:rPr>
              <a:t>10</a:t>
            </a:r>
            <a:endParaRPr lang="en-US" sz="4800" dirty="0"/>
          </a:p>
        </p:txBody>
      </p:sp>
      <p:sp>
        <p:nvSpPr>
          <p:cNvPr id="8" name="Text 6"/>
          <p:cNvSpPr/>
          <p:nvPr/>
        </p:nvSpPr>
        <p:spPr>
          <a:xfrm>
            <a:off x="320040" y="2103120"/>
            <a:ext cx="2011680" cy="365760"/>
          </a:xfrm>
          <a:prstGeom prst="rect">
            <a:avLst/>
          </a:prstGeom>
          <a:noFill/>
          <a:ln/>
        </p:spPr>
        <p:txBody>
          <a:bodyPr wrap="square" lIns="0" tIns="0" rIns="0" bIns="0" rtlCol="0" anchor="ctr"/>
          <a:lstStyle/>
          <a:p>
            <a:pPr algn="ctr" indent="0" marL="0">
              <a:buNone/>
            </a:pPr>
            <a:r>
              <a:rPr lang="en-US" sz="1600" b="1" dirty="0">
                <a:solidFill>
                  <a:srgbClr val="F1F5F9"/>
                </a:solidFill>
                <a:latin typeface="Calibri" pitchFamily="34" charset="0"/>
                <a:ea typeface="Calibri" pitchFamily="34" charset="-122"/>
                <a:cs typeface="Calibri" pitchFamily="34" charset="-120"/>
              </a:rPr>
              <a:t>hours</a:t>
            </a:r>
            <a:endParaRPr lang="en-US" sz="1600" dirty="0"/>
          </a:p>
        </p:txBody>
      </p:sp>
      <p:sp>
        <p:nvSpPr>
          <p:cNvPr id="9" name="Shape 7"/>
          <p:cNvSpPr/>
          <p:nvPr/>
        </p:nvSpPr>
        <p:spPr>
          <a:xfrm>
            <a:off x="868680" y="2560320"/>
            <a:ext cx="914400" cy="27432"/>
          </a:xfrm>
          <a:prstGeom prst="rect">
            <a:avLst/>
          </a:prstGeom>
          <a:solidFill>
            <a:srgbClr val="0EA5E9"/>
          </a:solidFill>
          <a:ln/>
        </p:spPr>
      </p:sp>
      <p:sp>
        <p:nvSpPr>
          <p:cNvPr id="10" name="Text 8"/>
          <p:cNvSpPr/>
          <p:nvPr/>
        </p:nvSpPr>
        <p:spPr>
          <a:xfrm>
            <a:off x="457200" y="2697480"/>
            <a:ext cx="1737360" cy="640080"/>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Total effort — planning, building, recording</a:t>
            </a:r>
            <a:endParaRPr lang="en-US" sz="1100" dirty="0"/>
          </a:p>
        </p:txBody>
      </p:sp>
      <p:sp>
        <p:nvSpPr>
          <p:cNvPr id="11" name="Shape 9"/>
          <p:cNvSpPr/>
          <p:nvPr/>
        </p:nvSpPr>
        <p:spPr>
          <a:xfrm>
            <a:off x="2468880" y="1097280"/>
            <a:ext cx="2011680" cy="2377440"/>
          </a:xfrm>
          <a:prstGeom prst="rect">
            <a:avLst/>
          </a:prstGeom>
          <a:solidFill>
            <a:srgbClr val="151E30"/>
          </a:solidFill>
          <a:ln/>
          <a:effectLst>
            <a:outerShdw sx="100000" sy="100000" kx="0" ky="0" algn="bl" rotWithShape="0" blurRad="76200" dist="25400" dir="8100000">
              <a:srgbClr val="000000">
                <a:alpha val="35000"/>
              </a:srgbClr>
            </a:outerShdw>
          </a:effectLst>
        </p:spPr>
      </p:sp>
      <p:sp>
        <p:nvSpPr>
          <p:cNvPr id="12" name="Text 10"/>
          <p:cNvSpPr/>
          <p:nvPr/>
        </p:nvSpPr>
        <p:spPr>
          <a:xfrm>
            <a:off x="2468880" y="1280160"/>
            <a:ext cx="2011680" cy="822960"/>
          </a:xfrm>
          <a:prstGeom prst="rect">
            <a:avLst/>
          </a:prstGeom>
          <a:noFill/>
          <a:ln/>
        </p:spPr>
        <p:txBody>
          <a:bodyPr wrap="square" lIns="0" tIns="0" rIns="0" bIns="0" rtlCol="0" anchor="ctr"/>
          <a:lstStyle/>
          <a:p>
            <a:pPr algn="ctr" indent="0" marL="0">
              <a:buNone/>
            </a:pPr>
            <a:r>
              <a:rPr lang="en-US" sz="4800" dirty="0">
                <a:solidFill>
                  <a:srgbClr val="0EA5E9"/>
                </a:solidFill>
                <a:latin typeface="Arial Black" pitchFamily="34" charset="0"/>
                <a:ea typeface="Arial Black" pitchFamily="34" charset="-122"/>
                <a:cs typeface="Arial Black" pitchFamily="34" charset="-120"/>
              </a:rPr>
              <a:t>27</a:t>
            </a:r>
            <a:endParaRPr lang="en-US" sz="4800" dirty="0"/>
          </a:p>
        </p:txBody>
      </p:sp>
      <p:sp>
        <p:nvSpPr>
          <p:cNvPr id="13" name="Text 11"/>
          <p:cNvSpPr/>
          <p:nvPr/>
        </p:nvSpPr>
        <p:spPr>
          <a:xfrm>
            <a:off x="2468880" y="2103120"/>
            <a:ext cx="2011680" cy="365760"/>
          </a:xfrm>
          <a:prstGeom prst="rect">
            <a:avLst/>
          </a:prstGeom>
          <a:noFill/>
          <a:ln/>
        </p:spPr>
        <p:txBody>
          <a:bodyPr wrap="square" lIns="0" tIns="0" rIns="0" bIns="0" rtlCol="0" anchor="ctr"/>
          <a:lstStyle/>
          <a:p>
            <a:pPr algn="ctr" indent="0" marL="0">
              <a:buNone/>
            </a:pPr>
            <a:r>
              <a:rPr lang="en-US" sz="1600" b="1" dirty="0">
                <a:solidFill>
                  <a:srgbClr val="F1F5F9"/>
                </a:solidFill>
                <a:latin typeface="Calibri" pitchFamily="34" charset="0"/>
                <a:ea typeface="Calibri" pitchFamily="34" charset="-122"/>
                <a:cs typeface="Calibri" pitchFamily="34" charset="-120"/>
              </a:rPr>
              <a:t>components</a:t>
            </a:r>
            <a:endParaRPr lang="en-US" sz="1600" dirty="0"/>
          </a:p>
        </p:txBody>
      </p:sp>
      <p:sp>
        <p:nvSpPr>
          <p:cNvPr id="14" name="Shape 12"/>
          <p:cNvSpPr/>
          <p:nvPr/>
        </p:nvSpPr>
        <p:spPr>
          <a:xfrm>
            <a:off x="3017520" y="2560320"/>
            <a:ext cx="914400" cy="27432"/>
          </a:xfrm>
          <a:prstGeom prst="rect">
            <a:avLst/>
          </a:prstGeom>
          <a:solidFill>
            <a:srgbClr val="0EA5E9"/>
          </a:solidFill>
          <a:ln/>
        </p:spPr>
      </p:sp>
      <p:sp>
        <p:nvSpPr>
          <p:cNvPr id="15" name="Text 13"/>
          <p:cNvSpPr/>
          <p:nvPr/>
        </p:nvSpPr>
        <p:spPr>
          <a:xfrm>
            <a:off x="2606040" y="2697480"/>
            <a:ext cx="1737360" cy="640080"/>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Across 7 build phases</a:t>
            </a:r>
            <a:endParaRPr lang="en-US" sz="1100" dirty="0"/>
          </a:p>
        </p:txBody>
      </p:sp>
      <p:sp>
        <p:nvSpPr>
          <p:cNvPr id="16" name="Shape 14"/>
          <p:cNvSpPr/>
          <p:nvPr/>
        </p:nvSpPr>
        <p:spPr>
          <a:xfrm>
            <a:off x="4617720" y="1097280"/>
            <a:ext cx="2011680" cy="2377440"/>
          </a:xfrm>
          <a:prstGeom prst="rect">
            <a:avLst/>
          </a:prstGeom>
          <a:solidFill>
            <a:srgbClr val="151E30"/>
          </a:solidFill>
          <a:ln/>
          <a:effectLst>
            <a:outerShdw sx="100000" sy="100000" kx="0" ky="0" algn="bl" rotWithShape="0" blurRad="76200" dist="25400" dir="8100000">
              <a:srgbClr val="000000">
                <a:alpha val="35000"/>
              </a:srgbClr>
            </a:outerShdw>
          </a:effectLst>
        </p:spPr>
      </p:sp>
      <p:sp>
        <p:nvSpPr>
          <p:cNvPr id="17" name="Text 15"/>
          <p:cNvSpPr/>
          <p:nvPr/>
        </p:nvSpPr>
        <p:spPr>
          <a:xfrm>
            <a:off x="4617720" y="1280160"/>
            <a:ext cx="2011680" cy="822960"/>
          </a:xfrm>
          <a:prstGeom prst="rect">
            <a:avLst/>
          </a:prstGeom>
          <a:noFill/>
          <a:ln/>
        </p:spPr>
        <p:txBody>
          <a:bodyPr wrap="square" lIns="0" tIns="0" rIns="0" bIns="0" rtlCol="0" anchor="ctr"/>
          <a:lstStyle/>
          <a:p>
            <a:pPr algn="ctr" indent="0" marL="0">
              <a:buNone/>
            </a:pPr>
            <a:r>
              <a:rPr lang="en-US" sz="4800" dirty="0">
                <a:solidFill>
                  <a:srgbClr val="0EA5E9"/>
                </a:solidFill>
                <a:latin typeface="Arial Black" pitchFamily="34" charset="0"/>
                <a:ea typeface="Arial Black" pitchFamily="34" charset="-122"/>
                <a:cs typeface="Arial Black" pitchFamily="34" charset="-120"/>
              </a:rPr>
              <a:t>59</a:t>
            </a:r>
            <a:endParaRPr lang="en-US" sz="4800" dirty="0"/>
          </a:p>
        </p:txBody>
      </p:sp>
      <p:sp>
        <p:nvSpPr>
          <p:cNvPr id="18" name="Text 16"/>
          <p:cNvSpPr/>
          <p:nvPr/>
        </p:nvSpPr>
        <p:spPr>
          <a:xfrm>
            <a:off x="4617720" y="2103120"/>
            <a:ext cx="2011680" cy="365760"/>
          </a:xfrm>
          <a:prstGeom prst="rect">
            <a:avLst/>
          </a:prstGeom>
          <a:noFill/>
          <a:ln/>
        </p:spPr>
        <p:txBody>
          <a:bodyPr wrap="square" lIns="0" tIns="0" rIns="0" bIns="0" rtlCol="0" anchor="ctr"/>
          <a:lstStyle/>
          <a:p>
            <a:pPr algn="ctr" indent="0" marL="0">
              <a:buNone/>
            </a:pPr>
            <a:r>
              <a:rPr lang="en-US" sz="1600" b="1" dirty="0">
                <a:solidFill>
                  <a:srgbClr val="F1F5F9"/>
                </a:solidFill>
                <a:latin typeface="Calibri" pitchFamily="34" charset="0"/>
                <a:ea typeface="Calibri" pitchFamily="34" charset="-122"/>
                <a:cs typeface="Calibri" pitchFamily="34" charset="-120"/>
              </a:rPr>
              <a:t>tests</a:t>
            </a:r>
            <a:endParaRPr lang="en-US" sz="1600" dirty="0"/>
          </a:p>
        </p:txBody>
      </p:sp>
      <p:sp>
        <p:nvSpPr>
          <p:cNvPr id="19" name="Shape 17"/>
          <p:cNvSpPr/>
          <p:nvPr/>
        </p:nvSpPr>
        <p:spPr>
          <a:xfrm>
            <a:off x="5166360" y="2560320"/>
            <a:ext cx="914400" cy="27432"/>
          </a:xfrm>
          <a:prstGeom prst="rect">
            <a:avLst/>
          </a:prstGeom>
          <a:solidFill>
            <a:srgbClr val="0EA5E9"/>
          </a:solidFill>
          <a:ln/>
        </p:spPr>
      </p:sp>
      <p:sp>
        <p:nvSpPr>
          <p:cNvPr id="20" name="Text 18"/>
          <p:cNvSpPr/>
          <p:nvPr/>
        </p:nvSpPr>
        <p:spPr>
          <a:xfrm>
            <a:off x="4754880" y="2697480"/>
            <a:ext cx="1737360" cy="640080"/>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All hit real infrastructure. Zero mocks.</a:t>
            </a:r>
            <a:endParaRPr lang="en-US" sz="1100" dirty="0"/>
          </a:p>
        </p:txBody>
      </p:sp>
      <p:sp>
        <p:nvSpPr>
          <p:cNvPr id="21" name="Shape 19"/>
          <p:cNvSpPr/>
          <p:nvPr/>
        </p:nvSpPr>
        <p:spPr>
          <a:xfrm>
            <a:off x="6766560" y="1097280"/>
            <a:ext cx="2011680" cy="2377440"/>
          </a:xfrm>
          <a:prstGeom prst="rect">
            <a:avLst/>
          </a:prstGeom>
          <a:solidFill>
            <a:srgbClr val="151E30"/>
          </a:solidFill>
          <a:ln/>
          <a:effectLst>
            <a:outerShdw sx="100000" sy="100000" kx="0" ky="0" algn="bl" rotWithShape="0" blurRad="76200" dist="25400" dir="8100000">
              <a:srgbClr val="000000">
                <a:alpha val="35000"/>
              </a:srgbClr>
            </a:outerShdw>
          </a:effectLst>
        </p:spPr>
      </p:sp>
      <p:sp>
        <p:nvSpPr>
          <p:cNvPr id="22" name="Text 20"/>
          <p:cNvSpPr/>
          <p:nvPr/>
        </p:nvSpPr>
        <p:spPr>
          <a:xfrm>
            <a:off x="6766560" y="1280160"/>
            <a:ext cx="2011680" cy="822960"/>
          </a:xfrm>
          <a:prstGeom prst="rect">
            <a:avLst/>
          </a:prstGeom>
          <a:noFill/>
          <a:ln/>
        </p:spPr>
        <p:txBody>
          <a:bodyPr wrap="square" lIns="0" tIns="0" rIns="0" bIns="0" rtlCol="0" anchor="ctr"/>
          <a:lstStyle/>
          <a:p>
            <a:pPr algn="ctr" indent="0" marL="0">
              <a:buNone/>
            </a:pPr>
            <a:r>
              <a:rPr lang="en-US" sz="4800" dirty="0">
                <a:solidFill>
                  <a:srgbClr val="0EA5E9"/>
                </a:solidFill>
                <a:latin typeface="Arial Black" pitchFamily="34" charset="0"/>
                <a:ea typeface="Arial Black" pitchFamily="34" charset="-122"/>
                <a:cs typeface="Arial Black" pitchFamily="34" charset="-120"/>
              </a:rPr>
              <a:t>6</a:t>
            </a:r>
            <a:endParaRPr lang="en-US" sz="4800" dirty="0"/>
          </a:p>
        </p:txBody>
      </p:sp>
      <p:sp>
        <p:nvSpPr>
          <p:cNvPr id="23" name="Text 21"/>
          <p:cNvSpPr/>
          <p:nvPr/>
        </p:nvSpPr>
        <p:spPr>
          <a:xfrm>
            <a:off x="6766560" y="2103120"/>
            <a:ext cx="2011680" cy="365760"/>
          </a:xfrm>
          <a:prstGeom prst="rect">
            <a:avLst/>
          </a:prstGeom>
          <a:noFill/>
          <a:ln/>
        </p:spPr>
        <p:txBody>
          <a:bodyPr wrap="square" lIns="0" tIns="0" rIns="0" bIns="0" rtlCol="0" anchor="ctr"/>
          <a:lstStyle/>
          <a:p>
            <a:pPr algn="ctr" indent="0" marL="0">
              <a:buNone/>
            </a:pPr>
            <a:r>
              <a:rPr lang="en-US" sz="1600" b="1" dirty="0">
                <a:solidFill>
                  <a:srgbClr val="F1F5F9"/>
                </a:solidFill>
                <a:latin typeface="Calibri" pitchFamily="34" charset="0"/>
                <a:ea typeface="Calibri" pitchFamily="34" charset="-122"/>
                <a:cs typeface="Calibri" pitchFamily="34" charset="-120"/>
              </a:rPr>
              <a:t>dimensions</a:t>
            </a:r>
            <a:endParaRPr lang="en-US" sz="1600" dirty="0"/>
          </a:p>
        </p:txBody>
      </p:sp>
      <p:sp>
        <p:nvSpPr>
          <p:cNvPr id="24" name="Shape 22"/>
          <p:cNvSpPr/>
          <p:nvPr/>
        </p:nvSpPr>
        <p:spPr>
          <a:xfrm>
            <a:off x="7315200" y="2560320"/>
            <a:ext cx="914400" cy="27432"/>
          </a:xfrm>
          <a:prstGeom prst="rect">
            <a:avLst/>
          </a:prstGeom>
          <a:solidFill>
            <a:srgbClr val="0EA5E9"/>
          </a:solidFill>
          <a:ln/>
        </p:spPr>
      </p:sp>
      <p:sp>
        <p:nvSpPr>
          <p:cNvPr id="25" name="Text 23"/>
          <p:cNvSpPr/>
          <p:nvPr/>
        </p:nvSpPr>
        <p:spPr>
          <a:xfrm>
            <a:off x="6903720" y="2697480"/>
            <a:ext cx="1737360" cy="640080"/>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Per-component honest scoring</a:t>
            </a:r>
            <a:endParaRPr lang="en-US" sz="1100" dirty="0"/>
          </a:p>
        </p:txBody>
      </p:sp>
      <p:sp>
        <p:nvSpPr>
          <p:cNvPr id="26" name="Shape 24"/>
          <p:cNvSpPr/>
          <p:nvPr/>
        </p:nvSpPr>
        <p:spPr>
          <a:xfrm>
            <a:off x="365760" y="3840480"/>
            <a:ext cx="8412480" cy="731520"/>
          </a:xfrm>
          <a:prstGeom prst="rect">
            <a:avLst/>
          </a:prstGeom>
          <a:solidFill>
            <a:srgbClr val="1E293B"/>
          </a:solidFill>
          <a:ln/>
        </p:spPr>
      </p:sp>
      <p:sp>
        <p:nvSpPr>
          <p:cNvPr id="27" name="Text 25"/>
          <p:cNvSpPr/>
          <p:nvPr/>
        </p:nvSpPr>
        <p:spPr>
          <a:xfrm>
            <a:off x="365760" y="3840480"/>
            <a:ext cx="8412480" cy="731520"/>
          </a:xfrm>
          <a:prstGeom prst="rect">
            <a:avLst/>
          </a:prstGeom>
          <a:noFill/>
          <a:ln/>
        </p:spPr>
        <p:txBody>
          <a:bodyPr wrap="square" lIns="0" tIns="0" rIns="0" bIns="0" rtlCol="0" anchor="ctr"/>
          <a:lstStyle/>
          <a:p>
            <a:pPr algn="ctr" indent="0" marL="0">
              <a:buNone/>
            </a:pPr>
            <a:r>
              <a:rPr lang="en-US" sz="1500" i="1" dirty="0">
                <a:solidFill>
                  <a:srgbClr val="0EA5E9"/>
                </a:solidFill>
                <a:latin typeface="Calibri" pitchFamily="34" charset="0"/>
                <a:ea typeface="Calibri" pitchFamily="34" charset="-122"/>
                <a:cs typeface="Calibri" pitchFamily="34" charset="-120"/>
              </a:rPr>
              <a:t>Claude Code builds. I decide, review, and score. Everything documented. Everything tested.</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EA5E9"/>
          </a:solidFill>
          <a:ln/>
        </p:spPr>
      </p:sp>
      <p:sp>
        <p:nvSpPr>
          <p:cNvPr id="3" name="Text 1"/>
          <p:cNvSpPr/>
          <p:nvPr/>
        </p:nvSpPr>
        <p:spPr>
          <a:xfrm>
            <a:off x="365760" y="4773168"/>
            <a:ext cx="4572000" cy="228600"/>
          </a:xfrm>
          <a:prstGeom prst="rect">
            <a:avLst/>
          </a:prstGeom>
          <a:noFill/>
          <a:ln/>
        </p:spPr>
        <p:txBody>
          <a:bodyPr wrap="square" rtlCol="0" anchor="ctr"/>
          <a:lstStyle/>
          <a:p>
            <a:pPr indent="0" marL="0">
              <a:buNone/>
            </a:pPr>
            <a:r>
              <a:rPr lang="en-US" sz="700" dirty="0">
                <a:solidFill>
                  <a:srgbClr val="64748B"/>
                </a:solidFill>
                <a:latin typeface="Calibri" pitchFamily="34" charset="0"/>
                <a:ea typeface="Calibri" pitchFamily="34" charset="-122"/>
                <a:cs typeface="Calibri" pitchFamily="34" charset="-120"/>
              </a:rPr>
              <a:t>KubeAuto AI Day Europe 2026</a:t>
            </a:r>
            <a:endParaRPr lang="en-US" sz="700" dirty="0"/>
          </a:p>
        </p:txBody>
      </p:sp>
      <p:sp>
        <p:nvSpPr>
          <p:cNvPr id="4" name="Text 2"/>
          <p:cNvSpPr/>
          <p:nvPr/>
        </p:nvSpPr>
        <p:spPr>
          <a:xfrm>
            <a:off x="7863840" y="4773168"/>
            <a:ext cx="914400" cy="228600"/>
          </a:xfrm>
          <a:prstGeom prst="rect">
            <a:avLst/>
          </a:prstGeom>
          <a:noFill/>
          <a:ln/>
        </p:spPr>
        <p:txBody>
          <a:bodyPr wrap="square" rtlCol="0" anchor="ctr"/>
          <a:lstStyle/>
          <a:p>
            <a:pPr algn="r" indent="0" marL="0">
              <a:buNone/>
            </a:pPr>
            <a:r>
              <a:rPr lang="en-US" sz="700" dirty="0">
                <a:solidFill>
                  <a:srgbClr val="64748B"/>
                </a:solidFill>
                <a:latin typeface="Calibri" pitchFamily="34" charset="0"/>
                <a:ea typeface="Calibri" pitchFamily="34" charset="-122"/>
                <a:cs typeface="Calibri" pitchFamily="34" charset="-120"/>
              </a:rPr>
              <a:t>6/21</a:t>
            </a:r>
            <a:endParaRPr lang="en-US" sz="700" dirty="0"/>
          </a:p>
        </p:txBody>
      </p:sp>
      <p:sp>
        <p:nvSpPr>
          <p:cNvPr id="5" name="Text 3"/>
          <p:cNvSpPr/>
          <p:nvPr/>
        </p:nvSpPr>
        <p:spPr>
          <a:xfrm>
            <a:off x="457200" y="274320"/>
            <a:ext cx="8229600" cy="548640"/>
          </a:xfrm>
          <a:prstGeom prst="rect">
            <a:avLst/>
          </a:prstGeom>
          <a:noFill/>
          <a:ln/>
        </p:spPr>
        <p:txBody>
          <a:bodyPr wrap="square" lIns="0" tIns="0" rIns="0" bIns="0" rtlCol="0" anchor="ctr"/>
          <a:lstStyle/>
          <a:p>
            <a:pPr indent="0" marL="0">
              <a:buNone/>
            </a:pPr>
            <a:r>
              <a:rPr lang="en-US" sz="2800" dirty="0">
                <a:solidFill>
                  <a:srgbClr val="F8FAFC"/>
                </a:solidFill>
                <a:latin typeface="Arial Black" pitchFamily="34" charset="0"/>
                <a:ea typeface="Arial Black" pitchFamily="34" charset="-122"/>
                <a:cs typeface="Arial Black" pitchFamily="34" charset="-120"/>
              </a:rPr>
              <a:t>What the AI Had to Handle</a:t>
            </a:r>
            <a:endParaRPr lang="en-US" sz="2800" dirty="0"/>
          </a:p>
        </p:txBody>
      </p:sp>
      <p:sp>
        <p:nvSpPr>
          <p:cNvPr id="6" name="Shape 4"/>
          <p:cNvSpPr/>
          <p:nvPr/>
        </p:nvSpPr>
        <p:spPr>
          <a:xfrm>
            <a:off x="365760" y="914400"/>
            <a:ext cx="54864" cy="365760"/>
          </a:xfrm>
          <a:prstGeom prst="rect">
            <a:avLst/>
          </a:prstGeom>
          <a:solidFill>
            <a:srgbClr val="0EA5E9"/>
          </a:solidFill>
          <a:ln/>
        </p:spPr>
      </p:sp>
      <p:sp>
        <p:nvSpPr>
          <p:cNvPr id="7" name="Shape 5"/>
          <p:cNvSpPr/>
          <p:nvPr/>
        </p:nvSpPr>
        <p:spPr>
          <a:xfrm>
            <a:off x="457200" y="914400"/>
            <a:ext cx="8321040" cy="365760"/>
          </a:xfrm>
          <a:prstGeom prst="rect">
            <a:avLst/>
          </a:prstGeom>
          <a:solidFill>
            <a:srgbClr val="151E30"/>
          </a:solidFill>
          <a:ln/>
        </p:spPr>
      </p:sp>
      <p:sp>
        <p:nvSpPr>
          <p:cNvPr id="8" name="Text 6"/>
          <p:cNvSpPr/>
          <p:nvPr/>
        </p:nvSpPr>
        <p:spPr>
          <a:xfrm>
            <a:off x="594360" y="914400"/>
            <a:ext cx="2011680" cy="36576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Infrastructure</a:t>
            </a:r>
            <a:endParaRPr lang="en-US" sz="1100" dirty="0"/>
          </a:p>
        </p:txBody>
      </p:sp>
      <p:sp>
        <p:nvSpPr>
          <p:cNvPr id="9" name="Text 7"/>
          <p:cNvSpPr/>
          <p:nvPr/>
        </p:nvSpPr>
        <p:spPr>
          <a:xfrm>
            <a:off x="2651760" y="914400"/>
            <a:ext cx="3931920" cy="365760"/>
          </a:xfrm>
          <a:prstGeom prst="rect">
            <a:avLst/>
          </a:prstGeom>
          <a:noFill/>
          <a:ln/>
        </p:spPr>
        <p:txBody>
          <a:bodyPr wrap="square" lIns="0" tIns="0" rIns="0" bIns="0" rtlCol="0" anchor="ctr"/>
          <a:lstStyle/>
          <a:p>
            <a:pPr indent="0" marL="0">
              <a:buNone/>
            </a:pPr>
            <a:r>
              <a:rPr lang="en-US" sz="1300" b="1" dirty="0">
                <a:solidFill>
                  <a:srgbClr val="F1F5F9"/>
                </a:solidFill>
                <a:latin typeface="Calibri" pitchFamily="34" charset="0"/>
                <a:ea typeface="Calibri" pitchFamily="34" charset="-122"/>
                <a:cs typeface="Calibri" pitchFamily="34" charset="-120"/>
              </a:rPr>
              <a:t>EKS on AWS</a:t>
            </a:r>
            <a:endParaRPr lang="en-US" sz="1300" dirty="0"/>
          </a:p>
        </p:txBody>
      </p:sp>
      <p:sp>
        <p:nvSpPr>
          <p:cNvPr id="10" name="Text 8"/>
          <p:cNvSpPr/>
          <p:nvPr/>
        </p:nvSpPr>
        <p:spPr>
          <a:xfrm>
            <a:off x="6858000" y="914400"/>
            <a:ext cx="1828800" cy="365760"/>
          </a:xfrm>
          <a:prstGeom prst="rect">
            <a:avLst/>
          </a:prstGeom>
          <a:noFill/>
          <a:ln/>
        </p:spPr>
        <p:txBody>
          <a:bodyPr wrap="square" lIns="0" tIns="0" rIns="0" bIns="0" rtlCol="0" anchor="ctr"/>
          <a:lstStyle/>
          <a:p>
            <a:pPr algn="r" indent="0" marL="0">
              <a:buNone/>
            </a:pPr>
            <a:r>
              <a:rPr lang="en-US" sz="1000" dirty="0">
                <a:solidFill>
                  <a:srgbClr val="06B6D4"/>
                </a:solidFill>
                <a:latin typeface="Consolas" pitchFamily="34" charset="0"/>
                <a:ea typeface="Consolas" pitchFamily="34" charset="-122"/>
                <a:cs typeface="Consolas" pitchFamily="34" charset="-120"/>
              </a:rPr>
              <a:t>1.34</a:t>
            </a:r>
            <a:endParaRPr lang="en-US" sz="1000" dirty="0"/>
          </a:p>
        </p:txBody>
      </p:sp>
      <p:sp>
        <p:nvSpPr>
          <p:cNvPr id="11" name="Shape 9"/>
          <p:cNvSpPr/>
          <p:nvPr/>
        </p:nvSpPr>
        <p:spPr>
          <a:xfrm>
            <a:off x="365760" y="1362456"/>
            <a:ext cx="54864" cy="365760"/>
          </a:xfrm>
          <a:prstGeom prst="rect">
            <a:avLst/>
          </a:prstGeom>
          <a:solidFill>
            <a:srgbClr val="8B5CF6"/>
          </a:solidFill>
          <a:ln/>
        </p:spPr>
      </p:sp>
      <p:sp>
        <p:nvSpPr>
          <p:cNvPr id="12" name="Shape 10"/>
          <p:cNvSpPr/>
          <p:nvPr/>
        </p:nvSpPr>
        <p:spPr>
          <a:xfrm>
            <a:off x="457200" y="1362456"/>
            <a:ext cx="8321040" cy="365760"/>
          </a:xfrm>
          <a:prstGeom prst="rect">
            <a:avLst/>
          </a:prstGeom>
          <a:solidFill>
            <a:srgbClr val="151E30"/>
          </a:solidFill>
          <a:ln/>
        </p:spPr>
      </p:sp>
      <p:sp>
        <p:nvSpPr>
          <p:cNvPr id="13" name="Text 11"/>
          <p:cNvSpPr/>
          <p:nvPr/>
        </p:nvSpPr>
        <p:spPr>
          <a:xfrm>
            <a:off x="594360" y="1362456"/>
            <a:ext cx="2011680" cy="36576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GitOps</a:t>
            </a:r>
            <a:endParaRPr lang="en-US" sz="1100" dirty="0"/>
          </a:p>
        </p:txBody>
      </p:sp>
      <p:sp>
        <p:nvSpPr>
          <p:cNvPr id="14" name="Text 12"/>
          <p:cNvSpPr/>
          <p:nvPr/>
        </p:nvSpPr>
        <p:spPr>
          <a:xfrm>
            <a:off x="2651760" y="1362456"/>
            <a:ext cx="3931920" cy="365760"/>
          </a:xfrm>
          <a:prstGeom prst="rect">
            <a:avLst/>
          </a:prstGeom>
          <a:noFill/>
          <a:ln/>
        </p:spPr>
        <p:txBody>
          <a:bodyPr wrap="square" lIns="0" tIns="0" rIns="0" bIns="0" rtlCol="0" anchor="ctr"/>
          <a:lstStyle/>
          <a:p>
            <a:pPr indent="0" marL="0">
              <a:buNone/>
            </a:pPr>
            <a:r>
              <a:rPr lang="en-US" sz="1300" b="1" dirty="0">
                <a:solidFill>
                  <a:srgbClr val="F1F5F9"/>
                </a:solidFill>
                <a:latin typeface="Calibri" pitchFamily="34" charset="0"/>
                <a:ea typeface="Calibri" pitchFamily="34" charset="-122"/>
                <a:cs typeface="Calibri" pitchFamily="34" charset="-120"/>
              </a:rPr>
              <a:t>ArgoCD</a:t>
            </a:r>
            <a:endParaRPr lang="en-US" sz="1300" dirty="0"/>
          </a:p>
        </p:txBody>
      </p:sp>
      <p:sp>
        <p:nvSpPr>
          <p:cNvPr id="15" name="Text 13"/>
          <p:cNvSpPr/>
          <p:nvPr/>
        </p:nvSpPr>
        <p:spPr>
          <a:xfrm>
            <a:off x="6858000" y="1362456"/>
            <a:ext cx="1828800" cy="365760"/>
          </a:xfrm>
          <a:prstGeom prst="rect">
            <a:avLst/>
          </a:prstGeom>
          <a:noFill/>
          <a:ln/>
        </p:spPr>
        <p:txBody>
          <a:bodyPr wrap="square" lIns="0" tIns="0" rIns="0" bIns="0" rtlCol="0" anchor="ctr"/>
          <a:lstStyle/>
          <a:p>
            <a:pPr algn="r" indent="0" marL="0">
              <a:buNone/>
            </a:pPr>
            <a:r>
              <a:rPr lang="en-US" sz="1000" dirty="0">
                <a:solidFill>
                  <a:srgbClr val="06B6D4"/>
                </a:solidFill>
                <a:latin typeface="Consolas" pitchFamily="34" charset="0"/>
                <a:ea typeface="Consolas" pitchFamily="34" charset="-122"/>
                <a:cs typeface="Consolas" pitchFamily="34" charset="-120"/>
              </a:rPr>
              <a:t>3.3.0</a:t>
            </a:r>
            <a:endParaRPr lang="en-US" sz="1000" dirty="0"/>
          </a:p>
        </p:txBody>
      </p:sp>
      <p:sp>
        <p:nvSpPr>
          <p:cNvPr id="16" name="Shape 14"/>
          <p:cNvSpPr/>
          <p:nvPr/>
        </p:nvSpPr>
        <p:spPr>
          <a:xfrm>
            <a:off x="365760" y="1810512"/>
            <a:ext cx="54864" cy="365760"/>
          </a:xfrm>
          <a:prstGeom prst="rect">
            <a:avLst/>
          </a:prstGeom>
          <a:solidFill>
            <a:srgbClr val="F59E0B"/>
          </a:solidFill>
          <a:ln/>
        </p:spPr>
      </p:sp>
      <p:sp>
        <p:nvSpPr>
          <p:cNvPr id="17" name="Shape 15"/>
          <p:cNvSpPr/>
          <p:nvPr/>
        </p:nvSpPr>
        <p:spPr>
          <a:xfrm>
            <a:off x="457200" y="1810512"/>
            <a:ext cx="8321040" cy="365760"/>
          </a:xfrm>
          <a:prstGeom prst="rect">
            <a:avLst/>
          </a:prstGeom>
          <a:solidFill>
            <a:srgbClr val="151E30"/>
          </a:solidFill>
          <a:ln/>
        </p:spPr>
      </p:sp>
      <p:sp>
        <p:nvSpPr>
          <p:cNvPr id="18" name="Text 16"/>
          <p:cNvSpPr/>
          <p:nvPr/>
        </p:nvSpPr>
        <p:spPr>
          <a:xfrm>
            <a:off x="594360" y="1810512"/>
            <a:ext cx="2011680" cy="36576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Policy</a:t>
            </a:r>
            <a:endParaRPr lang="en-US" sz="1100" dirty="0"/>
          </a:p>
        </p:txBody>
      </p:sp>
      <p:sp>
        <p:nvSpPr>
          <p:cNvPr id="19" name="Text 17"/>
          <p:cNvSpPr/>
          <p:nvPr/>
        </p:nvSpPr>
        <p:spPr>
          <a:xfrm>
            <a:off x="2651760" y="1810512"/>
            <a:ext cx="3931920" cy="365760"/>
          </a:xfrm>
          <a:prstGeom prst="rect">
            <a:avLst/>
          </a:prstGeom>
          <a:noFill/>
          <a:ln/>
        </p:spPr>
        <p:txBody>
          <a:bodyPr wrap="square" lIns="0" tIns="0" rIns="0" bIns="0" rtlCol="0" anchor="ctr"/>
          <a:lstStyle/>
          <a:p>
            <a:pPr indent="0" marL="0">
              <a:buNone/>
            </a:pPr>
            <a:r>
              <a:rPr lang="en-US" sz="1300" b="1" dirty="0">
                <a:solidFill>
                  <a:srgbClr val="F1F5F9"/>
                </a:solidFill>
                <a:latin typeface="Calibri" pitchFamily="34" charset="0"/>
                <a:ea typeface="Calibri" pitchFamily="34" charset="-122"/>
                <a:cs typeface="Calibri" pitchFamily="34" charset="-120"/>
              </a:rPr>
              <a:t>Kyverno</a:t>
            </a:r>
            <a:endParaRPr lang="en-US" sz="1300" dirty="0"/>
          </a:p>
        </p:txBody>
      </p:sp>
      <p:sp>
        <p:nvSpPr>
          <p:cNvPr id="20" name="Text 18"/>
          <p:cNvSpPr/>
          <p:nvPr/>
        </p:nvSpPr>
        <p:spPr>
          <a:xfrm>
            <a:off x="6858000" y="1810512"/>
            <a:ext cx="1828800" cy="365760"/>
          </a:xfrm>
          <a:prstGeom prst="rect">
            <a:avLst/>
          </a:prstGeom>
          <a:noFill/>
          <a:ln/>
        </p:spPr>
        <p:txBody>
          <a:bodyPr wrap="square" lIns="0" tIns="0" rIns="0" bIns="0" rtlCol="0" anchor="ctr"/>
          <a:lstStyle/>
          <a:p>
            <a:pPr algn="r" indent="0" marL="0">
              <a:buNone/>
            </a:pPr>
            <a:r>
              <a:rPr lang="en-US" sz="1000" dirty="0">
                <a:solidFill>
                  <a:srgbClr val="06B6D4"/>
                </a:solidFill>
                <a:latin typeface="Consolas" pitchFamily="34" charset="0"/>
                <a:ea typeface="Consolas" pitchFamily="34" charset="-122"/>
                <a:cs typeface="Consolas" pitchFamily="34" charset="-120"/>
              </a:rPr>
              <a:t>1.17.0</a:t>
            </a:r>
            <a:endParaRPr lang="en-US" sz="1000" dirty="0"/>
          </a:p>
        </p:txBody>
      </p:sp>
      <p:sp>
        <p:nvSpPr>
          <p:cNvPr id="21" name="Shape 19"/>
          <p:cNvSpPr/>
          <p:nvPr/>
        </p:nvSpPr>
        <p:spPr>
          <a:xfrm>
            <a:off x="365760" y="2258568"/>
            <a:ext cx="54864" cy="365760"/>
          </a:xfrm>
          <a:prstGeom prst="rect">
            <a:avLst/>
          </a:prstGeom>
          <a:solidFill>
            <a:srgbClr val="EF4444"/>
          </a:solidFill>
          <a:ln/>
        </p:spPr>
      </p:sp>
      <p:sp>
        <p:nvSpPr>
          <p:cNvPr id="22" name="Shape 20"/>
          <p:cNvSpPr/>
          <p:nvPr/>
        </p:nvSpPr>
        <p:spPr>
          <a:xfrm>
            <a:off x="457200" y="2258568"/>
            <a:ext cx="8321040" cy="365760"/>
          </a:xfrm>
          <a:prstGeom prst="rect">
            <a:avLst/>
          </a:prstGeom>
          <a:solidFill>
            <a:srgbClr val="151E30"/>
          </a:solidFill>
          <a:ln/>
        </p:spPr>
      </p:sp>
      <p:sp>
        <p:nvSpPr>
          <p:cNvPr id="23" name="Text 21"/>
          <p:cNvSpPr/>
          <p:nvPr/>
        </p:nvSpPr>
        <p:spPr>
          <a:xfrm>
            <a:off x="594360" y="2258568"/>
            <a:ext cx="2011680" cy="36576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Runtime Security</a:t>
            </a:r>
            <a:endParaRPr lang="en-US" sz="1100" dirty="0"/>
          </a:p>
        </p:txBody>
      </p:sp>
      <p:sp>
        <p:nvSpPr>
          <p:cNvPr id="24" name="Text 22"/>
          <p:cNvSpPr/>
          <p:nvPr/>
        </p:nvSpPr>
        <p:spPr>
          <a:xfrm>
            <a:off x="2651760" y="2258568"/>
            <a:ext cx="3931920" cy="365760"/>
          </a:xfrm>
          <a:prstGeom prst="rect">
            <a:avLst/>
          </a:prstGeom>
          <a:noFill/>
          <a:ln/>
        </p:spPr>
        <p:txBody>
          <a:bodyPr wrap="square" lIns="0" tIns="0" rIns="0" bIns="0" rtlCol="0" anchor="ctr"/>
          <a:lstStyle/>
          <a:p>
            <a:pPr indent="0" marL="0">
              <a:buNone/>
            </a:pPr>
            <a:r>
              <a:rPr lang="en-US" sz="1300" b="1" dirty="0">
                <a:solidFill>
                  <a:srgbClr val="F1F5F9"/>
                </a:solidFill>
                <a:latin typeface="Calibri" pitchFamily="34" charset="0"/>
                <a:ea typeface="Calibri" pitchFamily="34" charset="-122"/>
                <a:cs typeface="Calibri" pitchFamily="34" charset="-120"/>
              </a:rPr>
              <a:t>Falco (eBPF)</a:t>
            </a:r>
            <a:endParaRPr lang="en-US" sz="1300" dirty="0"/>
          </a:p>
        </p:txBody>
      </p:sp>
      <p:sp>
        <p:nvSpPr>
          <p:cNvPr id="25" name="Text 23"/>
          <p:cNvSpPr/>
          <p:nvPr/>
        </p:nvSpPr>
        <p:spPr>
          <a:xfrm>
            <a:off x="6858000" y="2258568"/>
            <a:ext cx="1828800" cy="365760"/>
          </a:xfrm>
          <a:prstGeom prst="rect">
            <a:avLst/>
          </a:prstGeom>
          <a:noFill/>
          <a:ln/>
        </p:spPr>
        <p:txBody>
          <a:bodyPr wrap="square" lIns="0" tIns="0" rIns="0" bIns="0" rtlCol="0" anchor="ctr"/>
          <a:lstStyle/>
          <a:p>
            <a:pPr algn="r" indent="0" marL="0">
              <a:buNone/>
            </a:pPr>
            <a:r>
              <a:rPr lang="en-US" sz="1000" dirty="0">
                <a:solidFill>
                  <a:srgbClr val="06B6D4"/>
                </a:solidFill>
                <a:latin typeface="Consolas" pitchFamily="34" charset="0"/>
                <a:ea typeface="Consolas" pitchFamily="34" charset="-122"/>
                <a:cs typeface="Consolas" pitchFamily="34" charset="-120"/>
              </a:rPr>
              <a:t>0.43.0</a:t>
            </a:r>
            <a:endParaRPr lang="en-US" sz="1000" dirty="0"/>
          </a:p>
        </p:txBody>
      </p:sp>
      <p:sp>
        <p:nvSpPr>
          <p:cNvPr id="26" name="Shape 24"/>
          <p:cNvSpPr/>
          <p:nvPr/>
        </p:nvSpPr>
        <p:spPr>
          <a:xfrm>
            <a:off x="365760" y="2706624"/>
            <a:ext cx="54864" cy="365760"/>
          </a:xfrm>
          <a:prstGeom prst="rect">
            <a:avLst/>
          </a:prstGeom>
          <a:solidFill>
            <a:srgbClr val="22C55E"/>
          </a:solidFill>
          <a:ln/>
        </p:spPr>
      </p:sp>
      <p:sp>
        <p:nvSpPr>
          <p:cNvPr id="27" name="Shape 25"/>
          <p:cNvSpPr/>
          <p:nvPr/>
        </p:nvSpPr>
        <p:spPr>
          <a:xfrm>
            <a:off x="457200" y="2706624"/>
            <a:ext cx="8321040" cy="365760"/>
          </a:xfrm>
          <a:prstGeom prst="rect">
            <a:avLst/>
          </a:prstGeom>
          <a:solidFill>
            <a:srgbClr val="151E30"/>
          </a:solidFill>
          <a:ln/>
        </p:spPr>
      </p:sp>
      <p:sp>
        <p:nvSpPr>
          <p:cNvPr id="28" name="Text 26"/>
          <p:cNvSpPr/>
          <p:nvPr/>
        </p:nvSpPr>
        <p:spPr>
          <a:xfrm>
            <a:off x="594360" y="2706624"/>
            <a:ext cx="2011680" cy="36576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Secrets</a:t>
            </a:r>
            <a:endParaRPr lang="en-US" sz="1100" dirty="0"/>
          </a:p>
        </p:txBody>
      </p:sp>
      <p:sp>
        <p:nvSpPr>
          <p:cNvPr id="29" name="Text 27"/>
          <p:cNvSpPr/>
          <p:nvPr/>
        </p:nvSpPr>
        <p:spPr>
          <a:xfrm>
            <a:off x="2651760" y="2706624"/>
            <a:ext cx="3931920" cy="365760"/>
          </a:xfrm>
          <a:prstGeom prst="rect">
            <a:avLst/>
          </a:prstGeom>
          <a:noFill/>
          <a:ln/>
        </p:spPr>
        <p:txBody>
          <a:bodyPr wrap="square" lIns="0" tIns="0" rIns="0" bIns="0" rtlCol="0" anchor="ctr"/>
          <a:lstStyle/>
          <a:p>
            <a:pPr indent="0" marL="0">
              <a:buNone/>
            </a:pPr>
            <a:r>
              <a:rPr lang="en-US" sz="1300" b="1" dirty="0">
                <a:solidFill>
                  <a:srgbClr val="F1F5F9"/>
                </a:solidFill>
                <a:latin typeface="Calibri" pitchFamily="34" charset="0"/>
                <a:ea typeface="Calibri" pitchFamily="34" charset="-122"/>
                <a:cs typeface="Calibri" pitchFamily="34" charset="-120"/>
              </a:rPr>
              <a:t>ESO + AWS Secrets Mgr</a:t>
            </a:r>
            <a:endParaRPr lang="en-US" sz="1300" dirty="0"/>
          </a:p>
        </p:txBody>
      </p:sp>
      <p:sp>
        <p:nvSpPr>
          <p:cNvPr id="30" name="Text 28"/>
          <p:cNvSpPr/>
          <p:nvPr/>
        </p:nvSpPr>
        <p:spPr>
          <a:xfrm>
            <a:off x="6858000" y="2706624"/>
            <a:ext cx="1828800" cy="365760"/>
          </a:xfrm>
          <a:prstGeom prst="rect">
            <a:avLst/>
          </a:prstGeom>
          <a:noFill/>
          <a:ln/>
        </p:spPr>
        <p:txBody>
          <a:bodyPr wrap="square" lIns="0" tIns="0" rIns="0" bIns="0" rtlCol="0" anchor="ctr"/>
          <a:lstStyle/>
          <a:p>
            <a:pPr algn="r" indent="0" marL="0">
              <a:buNone/>
            </a:pPr>
            <a:r>
              <a:rPr lang="en-US" sz="1000" dirty="0">
                <a:solidFill>
                  <a:srgbClr val="06B6D4"/>
                </a:solidFill>
                <a:latin typeface="Consolas" pitchFamily="34" charset="0"/>
                <a:ea typeface="Consolas" pitchFamily="34" charset="-122"/>
                <a:cs typeface="Consolas" pitchFamily="34" charset="-120"/>
              </a:rPr>
              <a:t>1.3.2</a:t>
            </a:r>
            <a:endParaRPr lang="en-US" sz="1000" dirty="0"/>
          </a:p>
        </p:txBody>
      </p:sp>
      <p:sp>
        <p:nvSpPr>
          <p:cNvPr id="31" name="Shape 29"/>
          <p:cNvSpPr/>
          <p:nvPr/>
        </p:nvSpPr>
        <p:spPr>
          <a:xfrm>
            <a:off x="365760" y="3154680"/>
            <a:ext cx="54864" cy="365760"/>
          </a:xfrm>
          <a:prstGeom prst="rect">
            <a:avLst/>
          </a:prstGeom>
          <a:solidFill>
            <a:srgbClr val="06B6D4"/>
          </a:solidFill>
          <a:ln/>
        </p:spPr>
      </p:sp>
      <p:sp>
        <p:nvSpPr>
          <p:cNvPr id="32" name="Shape 30"/>
          <p:cNvSpPr/>
          <p:nvPr/>
        </p:nvSpPr>
        <p:spPr>
          <a:xfrm>
            <a:off x="457200" y="3154680"/>
            <a:ext cx="8321040" cy="365760"/>
          </a:xfrm>
          <a:prstGeom prst="rect">
            <a:avLst/>
          </a:prstGeom>
          <a:solidFill>
            <a:srgbClr val="151E30"/>
          </a:solidFill>
          <a:ln/>
        </p:spPr>
      </p:sp>
      <p:sp>
        <p:nvSpPr>
          <p:cNvPr id="33" name="Text 31"/>
          <p:cNvSpPr/>
          <p:nvPr/>
        </p:nvSpPr>
        <p:spPr>
          <a:xfrm>
            <a:off x="594360" y="3154680"/>
            <a:ext cx="2011680" cy="36576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Observability</a:t>
            </a:r>
            <a:endParaRPr lang="en-US" sz="1100" dirty="0"/>
          </a:p>
        </p:txBody>
      </p:sp>
      <p:sp>
        <p:nvSpPr>
          <p:cNvPr id="34" name="Text 32"/>
          <p:cNvSpPr/>
          <p:nvPr/>
        </p:nvSpPr>
        <p:spPr>
          <a:xfrm>
            <a:off x="2651760" y="3154680"/>
            <a:ext cx="3931920" cy="365760"/>
          </a:xfrm>
          <a:prstGeom prst="rect">
            <a:avLst/>
          </a:prstGeom>
          <a:noFill/>
          <a:ln/>
        </p:spPr>
        <p:txBody>
          <a:bodyPr wrap="square" lIns="0" tIns="0" rIns="0" bIns="0" rtlCol="0" anchor="ctr"/>
          <a:lstStyle/>
          <a:p>
            <a:pPr indent="0" marL="0">
              <a:buNone/>
            </a:pPr>
            <a:r>
              <a:rPr lang="en-US" sz="1300" b="1" dirty="0">
                <a:solidFill>
                  <a:srgbClr val="F1F5F9"/>
                </a:solidFill>
                <a:latin typeface="Calibri" pitchFamily="34" charset="0"/>
                <a:ea typeface="Calibri" pitchFamily="34" charset="-122"/>
                <a:cs typeface="Calibri" pitchFamily="34" charset="-120"/>
              </a:rPr>
              <a:t>Prometheus + Grafana + OTel</a:t>
            </a:r>
            <a:endParaRPr lang="en-US" sz="1300" dirty="0"/>
          </a:p>
        </p:txBody>
      </p:sp>
      <p:sp>
        <p:nvSpPr>
          <p:cNvPr id="35" name="Text 33"/>
          <p:cNvSpPr/>
          <p:nvPr/>
        </p:nvSpPr>
        <p:spPr>
          <a:xfrm>
            <a:off x="6858000" y="3154680"/>
            <a:ext cx="1828800" cy="365760"/>
          </a:xfrm>
          <a:prstGeom prst="rect">
            <a:avLst/>
          </a:prstGeom>
          <a:noFill/>
          <a:ln/>
        </p:spPr>
        <p:txBody>
          <a:bodyPr wrap="square" lIns="0" tIns="0" rIns="0" bIns="0" rtlCol="0" anchor="ctr"/>
          <a:lstStyle/>
          <a:p>
            <a:pPr algn="r" indent="0" marL="0">
              <a:buNone/>
            </a:pPr>
            <a:r>
              <a:rPr lang="en-US" sz="1000" dirty="0">
                <a:solidFill>
                  <a:srgbClr val="06B6D4"/>
                </a:solidFill>
                <a:latin typeface="Consolas" pitchFamily="34" charset="0"/>
                <a:ea typeface="Consolas" pitchFamily="34" charset="-122"/>
                <a:cs typeface="Consolas" pitchFamily="34" charset="-120"/>
              </a:rPr>
              <a:t>3.9 / 12.3 / 0.145</a:t>
            </a:r>
            <a:endParaRPr lang="en-US" sz="1000" dirty="0"/>
          </a:p>
        </p:txBody>
      </p:sp>
      <p:sp>
        <p:nvSpPr>
          <p:cNvPr id="36" name="Shape 34"/>
          <p:cNvSpPr/>
          <p:nvPr/>
        </p:nvSpPr>
        <p:spPr>
          <a:xfrm>
            <a:off x="365760" y="3602736"/>
            <a:ext cx="54864" cy="365760"/>
          </a:xfrm>
          <a:prstGeom prst="rect">
            <a:avLst/>
          </a:prstGeom>
          <a:solidFill>
            <a:srgbClr val="3B82F6"/>
          </a:solidFill>
          <a:ln/>
        </p:spPr>
      </p:sp>
      <p:sp>
        <p:nvSpPr>
          <p:cNvPr id="37" name="Shape 35"/>
          <p:cNvSpPr/>
          <p:nvPr/>
        </p:nvSpPr>
        <p:spPr>
          <a:xfrm>
            <a:off x="457200" y="3602736"/>
            <a:ext cx="8321040" cy="365760"/>
          </a:xfrm>
          <a:prstGeom prst="rect">
            <a:avLst/>
          </a:prstGeom>
          <a:solidFill>
            <a:srgbClr val="151E30"/>
          </a:solidFill>
          <a:ln/>
        </p:spPr>
      </p:sp>
      <p:sp>
        <p:nvSpPr>
          <p:cNvPr id="38" name="Text 36"/>
          <p:cNvSpPr/>
          <p:nvPr/>
        </p:nvSpPr>
        <p:spPr>
          <a:xfrm>
            <a:off x="594360" y="3602736"/>
            <a:ext cx="2011680" cy="36576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Portal</a:t>
            </a:r>
            <a:endParaRPr lang="en-US" sz="1100" dirty="0"/>
          </a:p>
        </p:txBody>
      </p:sp>
      <p:sp>
        <p:nvSpPr>
          <p:cNvPr id="39" name="Text 37"/>
          <p:cNvSpPr/>
          <p:nvPr/>
        </p:nvSpPr>
        <p:spPr>
          <a:xfrm>
            <a:off x="2651760" y="3602736"/>
            <a:ext cx="3931920" cy="365760"/>
          </a:xfrm>
          <a:prstGeom prst="rect">
            <a:avLst/>
          </a:prstGeom>
          <a:noFill/>
          <a:ln/>
        </p:spPr>
        <p:txBody>
          <a:bodyPr wrap="square" lIns="0" tIns="0" rIns="0" bIns="0" rtlCol="0" anchor="ctr"/>
          <a:lstStyle/>
          <a:p>
            <a:pPr indent="0" marL="0">
              <a:buNone/>
            </a:pPr>
            <a:r>
              <a:rPr lang="en-US" sz="1300" b="1" dirty="0">
                <a:solidFill>
                  <a:srgbClr val="F1F5F9"/>
                </a:solidFill>
                <a:latin typeface="Calibri" pitchFamily="34" charset="0"/>
                <a:ea typeface="Calibri" pitchFamily="34" charset="-122"/>
                <a:cs typeface="Calibri" pitchFamily="34" charset="-120"/>
              </a:rPr>
              <a:t>Backstage</a:t>
            </a:r>
            <a:endParaRPr lang="en-US" sz="1300" dirty="0"/>
          </a:p>
        </p:txBody>
      </p:sp>
      <p:sp>
        <p:nvSpPr>
          <p:cNvPr id="40" name="Text 38"/>
          <p:cNvSpPr/>
          <p:nvPr/>
        </p:nvSpPr>
        <p:spPr>
          <a:xfrm>
            <a:off x="6858000" y="3602736"/>
            <a:ext cx="1828800" cy="365760"/>
          </a:xfrm>
          <a:prstGeom prst="rect">
            <a:avLst/>
          </a:prstGeom>
          <a:noFill/>
          <a:ln/>
        </p:spPr>
        <p:txBody>
          <a:bodyPr wrap="square" lIns="0" tIns="0" rIns="0" bIns="0" rtlCol="0" anchor="ctr"/>
          <a:lstStyle/>
          <a:p>
            <a:pPr algn="r" indent="0" marL="0">
              <a:buNone/>
            </a:pPr>
            <a:r>
              <a:rPr lang="en-US" sz="1000" dirty="0">
                <a:solidFill>
                  <a:srgbClr val="06B6D4"/>
                </a:solidFill>
                <a:latin typeface="Consolas" pitchFamily="34" charset="0"/>
                <a:ea typeface="Consolas" pitchFamily="34" charset="-122"/>
                <a:cs typeface="Consolas" pitchFamily="34" charset="-120"/>
              </a:rPr>
              <a:t>1.9.1</a:t>
            </a:r>
            <a:endParaRPr lang="en-US" sz="1000" dirty="0"/>
          </a:p>
        </p:txBody>
      </p:sp>
      <p:sp>
        <p:nvSpPr>
          <p:cNvPr id="41" name="Shape 39"/>
          <p:cNvSpPr/>
          <p:nvPr/>
        </p:nvSpPr>
        <p:spPr>
          <a:xfrm>
            <a:off x="365760" y="4050792"/>
            <a:ext cx="54864" cy="365760"/>
          </a:xfrm>
          <a:prstGeom prst="rect">
            <a:avLst/>
          </a:prstGeom>
          <a:solidFill>
            <a:srgbClr val="A855F7"/>
          </a:solidFill>
          <a:ln/>
        </p:spPr>
      </p:sp>
      <p:sp>
        <p:nvSpPr>
          <p:cNvPr id="42" name="Shape 40"/>
          <p:cNvSpPr/>
          <p:nvPr/>
        </p:nvSpPr>
        <p:spPr>
          <a:xfrm>
            <a:off x="457200" y="4050792"/>
            <a:ext cx="8321040" cy="365760"/>
          </a:xfrm>
          <a:prstGeom prst="rect">
            <a:avLst/>
          </a:prstGeom>
          <a:solidFill>
            <a:srgbClr val="151E30"/>
          </a:solidFill>
          <a:ln/>
        </p:spPr>
      </p:sp>
      <p:sp>
        <p:nvSpPr>
          <p:cNvPr id="43" name="Text 41"/>
          <p:cNvSpPr/>
          <p:nvPr/>
        </p:nvSpPr>
        <p:spPr>
          <a:xfrm>
            <a:off x="594360" y="4050792"/>
            <a:ext cx="2011680" cy="36576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TLS + RBAC</a:t>
            </a:r>
            <a:endParaRPr lang="en-US" sz="1100" dirty="0"/>
          </a:p>
        </p:txBody>
      </p:sp>
      <p:sp>
        <p:nvSpPr>
          <p:cNvPr id="44" name="Text 42"/>
          <p:cNvSpPr/>
          <p:nvPr/>
        </p:nvSpPr>
        <p:spPr>
          <a:xfrm>
            <a:off x="2651760" y="4050792"/>
            <a:ext cx="3931920" cy="365760"/>
          </a:xfrm>
          <a:prstGeom prst="rect">
            <a:avLst/>
          </a:prstGeom>
          <a:noFill/>
          <a:ln/>
        </p:spPr>
        <p:txBody>
          <a:bodyPr wrap="square" lIns="0" tIns="0" rIns="0" bIns="0" rtlCol="0" anchor="ctr"/>
          <a:lstStyle/>
          <a:p>
            <a:pPr indent="0" marL="0">
              <a:buNone/>
            </a:pPr>
            <a:r>
              <a:rPr lang="en-US" sz="1300" b="1" dirty="0">
                <a:solidFill>
                  <a:srgbClr val="F1F5F9"/>
                </a:solidFill>
                <a:latin typeface="Calibri" pitchFamily="34" charset="0"/>
                <a:ea typeface="Calibri" pitchFamily="34" charset="-122"/>
                <a:cs typeface="Calibri" pitchFamily="34" charset="-120"/>
              </a:rPr>
              <a:t>cert-manager + NetworkPolicies + PDBs</a:t>
            </a:r>
            <a:endParaRPr lang="en-US" sz="1300" dirty="0"/>
          </a:p>
        </p:txBody>
      </p:sp>
      <p:sp>
        <p:nvSpPr>
          <p:cNvPr id="45" name="Text 43"/>
          <p:cNvSpPr/>
          <p:nvPr/>
        </p:nvSpPr>
        <p:spPr>
          <a:xfrm>
            <a:off x="6858000" y="4050792"/>
            <a:ext cx="1828800" cy="365760"/>
          </a:xfrm>
          <a:prstGeom prst="rect">
            <a:avLst/>
          </a:prstGeom>
          <a:noFill/>
          <a:ln/>
        </p:spPr>
        <p:txBody>
          <a:bodyPr wrap="square" lIns="0" tIns="0" rIns="0" bIns="0" rtlCol="0" anchor="ctr"/>
          <a:lstStyle/>
          <a:p>
            <a:pPr algn="r" indent="0" marL="0">
              <a:buNone/>
            </a:pPr>
            <a:r>
              <a:rPr lang="en-US" sz="1000" dirty="0">
                <a:solidFill>
                  <a:srgbClr val="06B6D4"/>
                </a:solidFill>
                <a:latin typeface="Consolas" pitchFamily="34" charset="0"/>
                <a:ea typeface="Consolas" pitchFamily="34" charset="-122"/>
                <a:cs typeface="Consolas" pitchFamily="34" charset="-120"/>
              </a:rPr>
              <a:t>1.19.3</a:t>
            </a:r>
            <a:endParaRPr lang="en-US" sz="1000" dirty="0"/>
          </a:p>
        </p:txBody>
      </p:sp>
      <p:sp>
        <p:nvSpPr>
          <p:cNvPr id="46" name="Text 44"/>
          <p:cNvSpPr/>
          <p:nvPr/>
        </p:nvSpPr>
        <p:spPr>
          <a:xfrm>
            <a:off x="457200" y="4572000"/>
            <a:ext cx="8229600" cy="22860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27 ArgoCD Applications · app-of-apps pattern · every version pinned in skill files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EA5E9"/>
          </a:solidFill>
          <a:ln/>
        </p:spPr>
      </p:sp>
      <p:sp>
        <p:nvSpPr>
          <p:cNvPr id="3" name="Text 1"/>
          <p:cNvSpPr/>
          <p:nvPr/>
        </p:nvSpPr>
        <p:spPr>
          <a:xfrm>
            <a:off x="365760" y="4773168"/>
            <a:ext cx="4572000" cy="228600"/>
          </a:xfrm>
          <a:prstGeom prst="rect">
            <a:avLst/>
          </a:prstGeom>
          <a:noFill/>
          <a:ln/>
        </p:spPr>
        <p:txBody>
          <a:bodyPr wrap="square" rtlCol="0" anchor="ctr"/>
          <a:lstStyle/>
          <a:p>
            <a:pPr indent="0" marL="0">
              <a:buNone/>
            </a:pPr>
            <a:r>
              <a:rPr lang="en-US" sz="700" dirty="0">
                <a:solidFill>
                  <a:srgbClr val="64748B"/>
                </a:solidFill>
                <a:latin typeface="Calibri" pitchFamily="34" charset="0"/>
                <a:ea typeface="Calibri" pitchFamily="34" charset="-122"/>
                <a:cs typeface="Calibri" pitchFamily="34" charset="-120"/>
              </a:rPr>
              <a:t>KubeAuto AI Day Europe 2026</a:t>
            </a:r>
            <a:endParaRPr lang="en-US" sz="700" dirty="0"/>
          </a:p>
        </p:txBody>
      </p:sp>
      <p:sp>
        <p:nvSpPr>
          <p:cNvPr id="4" name="Text 2"/>
          <p:cNvSpPr/>
          <p:nvPr/>
        </p:nvSpPr>
        <p:spPr>
          <a:xfrm>
            <a:off x="7863840" y="4773168"/>
            <a:ext cx="914400" cy="228600"/>
          </a:xfrm>
          <a:prstGeom prst="rect">
            <a:avLst/>
          </a:prstGeom>
          <a:noFill/>
          <a:ln/>
        </p:spPr>
        <p:txBody>
          <a:bodyPr wrap="square" rtlCol="0" anchor="ctr"/>
          <a:lstStyle/>
          <a:p>
            <a:pPr algn="r" indent="0" marL="0">
              <a:buNone/>
            </a:pPr>
            <a:r>
              <a:rPr lang="en-US" sz="700" dirty="0">
                <a:solidFill>
                  <a:srgbClr val="64748B"/>
                </a:solidFill>
                <a:latin typeface="Calibri" pitchFamily="34" charset="0"/>
                <a:ea typeface="Calibri" pitchFamily="34" charset="-122"/>
                <a:cs typeface="Calibri" pitchFamily="34" charset="-120"/>
              </a:rPr>
              <a:t>7/21</a:t>
            </a:r>
            <a:endParaRPr lang="en-US" sz="700" dirty="0"/>
          </a:p>
        </p:txBody>
      </p:sp>
      <p:sp>
        <p:nvSpPr>
          <p:cNvPr id="5" name="Text 3"/>
          <p:cNvSpPr/>
          <p:nvPr/>
        </p:nvSpPr>
        <p:spPr>
          <a:xfrm>
            <a:off x="457200" y="274320"/>
            <a:ext cx="8229600" cy="548640"/>
          </a:xfrm>
          <a:prstGeom prst="rect">
            <a:avLst/>
          </a:prstGeom>
          <a:noFill/>
          <a:ln/>
        </p:spPr>
        <p:txBody>
          <a:bodyPr wrap="square" lIns="0" tIns="0" rIns="0" bIns="0" rtlCol="0" anchor="ctr"/>
          <a:lstStyle/>
          <a:p>
            <a:pPr indent="0" marL="0">
              <a:buNone/>
            </a:pPr>
            <a:r>
              <a:rPr lang="en-US" sz="2800" dirty="0">
                <a:solidFill>
                  <a:srgbClr val="F8FAFC"/>
                </a:solidFill>
                <a:latin typeface="Arial Black" pitchFamily="34" charset="0"/>
                <a:ea typeface="Arial Black" pitchFamily="34" charset="-122"/>
                <a:cs typeface="Arial Black" pitchFamily="34" charset="-120"/>
              </a:rPr>
              <a:t>The Scorecard Method</a:t>
            </a:r>
            <a:endParaRPr lang="en-US" sz="2800" dirty="0"/>
          </a:p>
        </p:txBody>
      </p:sp>
      <p:sp>
        <p:nvSpPr>
          <p:cNvPr id="6" name="Shape 4"/>
          <p:cNvSpPr/>
          <p:nvPr/>
        </p:nvSpPr>
        <p:spPr>
          <a:xfrm>
            <a:off x="365760" y="1005840"/>
            <a:ext cx="4754880" cy="749808"/>
          </a:xfrm>
          <a:prstGeom prst="rect">
            <a:avLst/>
          </a:prstGeom>
          <a:solidFill>
            <a:srgbClr val="151E30"/>
          </a:solidFill>
          <a:ln/>
          <a:effectLst>
            <a:outerShdw sx="100000" sy="100000" kx="0" ky="0" algn="bl" rotWithShape="0" blurRad="76200" dist="25400" dir="8100000">
              <a:srgbClr val="000000">
                <a:alpha val="35000"/>
              </a:srgbClr>
            </a:outerShdw>
          </a:effectLst>
        </p:spPr>
      </p:sp>
      <p:sp>
        <p:nvSpPr>
          <p:cNvPr id="7" name="Shape 5"/>
          <p:cNvSpPr/>
          <p:nvPr/>
        </p:nvSpPr>
        <p:spPr>
          <a:xfrm>
            <a:off x="365760" y="1005840"/>
            <a:ext cx="457200" cy="749808"/>
          </a:xfrm>
          <a:prstGeom prst="rect">
            <a:avLst/>
          </a:prstGeom>
          <a:solidFill>
            <a:srgbClr val="0EA5E9"/>
          </a:solidFill>
          <a:ln/>
        </p:spPr>
      </p:sp>
      <p:sp>
        <p:nvSpPr>
          <p:cNvPr id="8" name="Text 6"/>
          <p:cNvSpPr/>
          <p:nvPr/>
        </p:nvSpPr>
        <p:spPr>
          <a:xfrm>
            <a:off x="365760" y="1005840"/>
            <a:ext cx="457200" cy="749808"/>
          </a:xfrm>
          <a:prstGeom prst="rect">
            <a:avLst/>
          </a:prstGeom>
          <a:noFill/>
          <a:ln/>
        </p:spPr>
        <p:txBody>
          <a:bodyPr wrap="square" lIns="0" tIns="0" rIns="0" bIns="0" rtlCol="0" anchor="ctr"/>
          <a:lstStyle/>
          <a:p>
            <a:pPr algn="ctr" indent="0" marL="0">
              <a:buNone/>
            </a:pPr>
            <a:r>
              <a:rPr lang="en-US" sz="2200" dirty="0">
                <a:solidFill>
                  <a:srgbClr val="F8FAFC"/>
                </a:solidFill>
                <a:latin typeface="Arial Black" pitchFamily="34" charset="0"/>
                <a:ea typeface="Arial Black" pitchFamily="34" charset="-122"/>
                <a:cs typeface="Arial Black" pitchFamily="34" charset="-120"/>
              </a:rPr>
              <a:t>1</a:t>
            </a:r>
            <a:endParaRPr lang="en-US" sz="2200" dirty="0"/>
          </a:p>
        </p:txBody>
      </p:sp>
      <p:pic>
        <p:nvPicPr>
          <p:cNvPr id="9" name="Image 0" descr="preencoded.png">    </p:cNvPr>
          <p:cNvPicPr>
            <a:picLocks noChangeAspect="1"/>
          </p:cNvPicPr>
          <p:nvPr/>
        </p:nvPicPr>
        <p:blipFill>
          <a:blip r:embed="rId1"/>
          <a:stretch>
            <a:fillRect/>
          </a:stretch>
        </p:blipFill>
        <p:spPr>
          <a:xfrm>
            <a:off x="960120" y="1170432"/>
            <a:ext cx="365760" cy="365760"/>
          </a:xfrm>
          <a:prstGeom prst="rect">
            <a:avLst/>
          </a:prstGeom>
        </p:spPr>
      </p:pic>
      <p:sp>
        <p:nvSpPr>
          <p:cNvPr id="10" name="Text 7"/>
          <p:cNvSpPr/>
          <p:nvPr/>
        </p:nvSpPr>
        <p:spPr>
          <a:xfrm>
            <a:off x="1463040" y="1033272"/>
            <a:ext cx="3200400" cy="347472"/>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Write the test</a:t>
            </a:r>
            <a:endParaRPr lang="en-US" sz="1400" dirty="0"/>
          </a:p>
        </p:txBody>
      </p:sp>
      <p:sp>
        <p:nvSpPr>
          <p:cNvPr id="11" name="Text 8"/>
          <p:cNvSpPr/>
          <p:nvPr/>
        </p:nvSpPr>
        <p:spPr>
          <a:xfrm>
            <a:off x="1463040" y="1389888"/>
            <a:ext cx="347472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Failing test before any implementation</a:t>
            </a:r>
            <a:endParaRPr lang="en-US" sz="1000" dirty="0"/>
          </a:p>
        </p:txBody>
      </p:sp>
      <p:sp>
        <p:nvSpPr>
          <p:cNvPr id="12" name="Shape 9"/>
          <p:cNvSpPr/>
          <p:nvPr/>
        </p:nvSpPr>
        <p:spPr>
          <a:xfrm>
            <a:off x="365760" y="1874520"/>
            <a:ext cx="4754880" cy="749808"/>
          </a:xfrm>
          <a:prstGeom prst="rect">
            <a:avLst/>
          </a:prstGeom>
          <a:solidFill>
            <a:srgbClr val="151E30"/>
          </a:solidFill>
          <a:ln/>
          <a:effectLst>
            <a:outerShdw sx="100000" sy="100000" kx="0" ky="0" algn="bl" rotWithShape="0" blurRad="76200" dist="25400" dir="8100000">
              <a:srgbClr val="000000">
                <a:alpha val="35000"/>
              </a:srgbClr>
            </a:outerShdw>
          </a:effectLst>
        </p:spPr>
      </p:sp>
      <p:sp>
        <p:nvSpPr>
          <p:cNvPr id="13" name="Shape 10"/>
          <p:cNvSpPr/>
          <p:nvPr/>
        </p:nvSpPr>
        <p:spPr>
          <a:xfrm>
            <a:off x="365760" y="1874520"/>
            <a:ext cx="457200" cy="749808"/>
          </a:xfrm>
          <a:prstGeom prst="rect">
            <a:avLst/>
          </a:prstGeom>
          <a:solidFill>
            <a:srgbClr val="0EA5E9"/>
          </a:solidFill>
          <a:ln/>
        </p:spPr>
      </p:sp>
      <p:sp>
        <p:nvSpPr>
          <p:cNvPr id="14" name="Text 11"/>
          <p:cNvSpPr/>
          <p:nvPr/>
        </p:nvSpPr>
        <p:spPr>
          <a:xfrm>
            <a:off x="365760" y="1874520"/>
            <a:ext cx="457200" cy="749808"/>
          </a:xfrm>
          <a:prstGeom prst="rect">
            <a:avLst/>
          </a:prstGeom>
          <a:noFill/>
          <a:ln/>
        </p:spPr>
        <p:txBody>
          <a:bodyPr wrap="square" lIns="0" tIns="0" rIns="0" bIns="0" rtlCol="0" anchor="ctr"/>
          <a:lstStyle/>
          <a:p>
            <a:pPr algn="ctr" indent="0" marL="0">
              <a:buNone/>
            </a:pPr>
            <a:r>
              <a:rPr lang="en-US" sz="2200" dirty="0">
                <a:solidFill>
                  <a:srgbClr val="F8FAFC"/>
                </a:solidFill>
                <a:latin typeface="Arial Black" pitchFamily="34" charset="0"/>
                <a:ea typeface="Arial Black" pitchFamily="34" charset="-122"/>
                <a:cs typeface="Arial Black" pitchFamily="34" charset="-120"/>
              </a:rPr>
              <a:t>2</a:t>
            </a:r>
            <a:endParaRPr lang="en-US" sz="2200" dirty="0"/>
          </a:p>
        </p:txBody>
      </p:sp>
      <p:pic>
        <p:nvPicPr>
          <p:cNvPr id="15" name="Image 1" descr="preencoded.png">    </p:cNvPr>
          <p:cNvPicPr>
            <a:picLocks noChangeAspect="1"/>
          </p:cNvPicPr>
          <p:nvPr/>
        </p:nvPicPr>
        <p:blipFill>
          <a:blip r:embed="rId2"/>
          <a:stretch>
            <a:fillRect/>
          </a:stretch>
        </p:blipFill>
        <p:spPr>
          <a:xfrm>
            <a:off x="960120" y="2039112"/>
            <a:ext cx="365760" cy="365760"/>
          </a:xfrm>
          <a:prstGeom prst="rect">
            <a:avLst/>
          </a:prstGeom>
        </p:spPr>
      </p:pic>
      <p:sp>
        <p:nvSpPr>
          <p:cNvPr id="16" name="Text 12"/>
          <p:cNvSpPr/>
          <p:nvPr/>
        </p:nvSpPr>
        <p:spPr>
          <a:xfrm>
            <a:off x="1463040" y="1901952"/>
            <a:ext cx="3200400" cy="347472"/>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AI implements</a:t>
            </a:r>
            <a:endParaRPr lang="en-US" sz="1400" dirty="0"/>
          </a:p>
        </p:txBody>
      </p:sp>
      <p:sp>
        <p:nvSpPr>
          <p:cNvPr id="17" name="Text 13"/>
          <p:cNvSpPr/>
          <p:nvPr/>
        </p:nvSpPr>
        <p:spPr>
          <a:xfrm>
            <a:off x="1463040" y="2258568"/>
            <a:ext cx="347472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Claude Code + skill files + pinned versions</a:t>
            </a:r>
            <a:endParaRPr lang="en-US" sz="1000" dirty="0"/>
          </a:p>
        </p:txBody>
      </p:sp>
      <p:sp>
        <p:nvSpPr>
          <p:cNvPr id="18" name="Shape 14"/>
          <p:cNvSpPr/>
          <p:nvPr/>
        </p:nvSpPr>
        <p:spPr>
          <a:xfrm>
            <a:off x="365760" y="2743200"/>
            <a:ext cx="4754880" cy="749808"/>
          </a:xfrm>
          <a:prstGeom prst="rect">
            <a:avLst/>
          </a:prstGeom>
          <a:solidFill>
            <a:srgbClr val="151E30"/>
          </a:solidFill>
          <a:ln/>
          <a:effectLst>
            <a:outerShdw sx="100000" sy="100000" kx="0" ky="0" algn="bl" rotWithShape="0" blurRad="76200" dist="25400" dir="8100000">
              <a:srgbClr val="000000">
                <a:alpha val="35000"/>
              </a:srgbClr>
            </a:outerShdw>
          </a:effectLst>
        </p:spPr>
      </p:sp>
      <p:sp>
        <p:nvSpPr>
          <p:cNvPr id="19" name="Shape 15"/>
          <p:cNvSpPr/>
          <p:nvPr/>
        </p:nvSpPr>
        <p:spPr>
          <a:xfrm>
            <a:off x="365760" y="2743200"/>
            <a:ext cx="457200" cy="749808"/>
          </a:xfrm>
          <a:prstGeom prst="rect">
            <a:avLst/>
          </a:prstGeom>
          <a:solidFill>
            <a:srgbClr val="0EA5E9"/>
          </a:solidFill>
          <a:ln/>
        </p:spPr>
      </p:sp>
      <p:sp>
        <p:nvSpPr>
          <p:cNvPr id="20" name="Text 16"/>
          <p:cNvSpPr/>
          <p:nvPr/>
        </p:nvSpPr>
        <p:spPr>
          <a:xfrm>
            <a:off x="365760" y="2743200"/>
            <a:ext cx="457200" cy="749808"/>
          </a:xfrm>
          <a:prstGeom prst="rect">
            <a:avLst/>
          </a:prstGeom>
          <a:noFill/>
          <a:ln/>
        </p:spPr>
        <p:txBody>
          <a:bodyPr wrap="square" lIns="0" tIns="0" rIns="0" bIns="0" rtlCol="0" anchor="ctr"/>
          <a:lstStyle/>
          <a:p>
            <a:pPr algn="ctr" indent="0" marL="0">
              <a:buNone/>
            </a:pPr>
            <a:r>
              <a:rPr lang="en-US" sz="2200" dirty="0">
                <a:solidFill>
                  <a:srgbClr val="F8FAFC"/>
                </a:solidFill>
                <a:latin typeface="Arial Black" pitchFamily="34" charset="0"/>
                <a:ea typeface="Arial Black" pitchFamily="34" charset="-122"/>
                <a:cs typeface="Arial Black" pitchFamily="34" charset="-120"/>
              </a:rPr>
              <a:t>3</a:t>
            </a:r>
            <a:endParaRPr lang="en-US" sz="2200" dirty="0"/>
          </a:p>
        </p:txBody>
      </p:sp>
      <p:pic>
        <p:nvPicPr>
          <p:cNvPr id="21" name="Image 2" descr="preencoded.png">    </p:cNvPr>
          <p:cNvPicPr>
            <a:picLocks noChangeAspect="1"/>
          </p:cNvPicPr>
          <p:nvPr/>
        </p:nvPicPr>
        <p:blipFill>
          <a:blip r:embed="rId3"/>
          <a:stretch>
            <a:fillRect/>
          </a:stretch>
        </p:blipFill>
        <p:spPr>
          <a:xfrm>
            <a:off x="960120" y="2907792"/>
            <a:ext cx="365760" cy="365760"/>
          </a:xfrm>
          <a:prstGeom prst="rect">
            <a:avLst/>
          </a:prstGeom>
        </p:spPr>
      </p:pic>
      <p:sp>
        <p:nvSpPr>
          <p:cNvPr id="22" name="Text 17"/>
          <p:cNvSpPr/>
          <p:nvPr/>
        </p:nvSpPr>
        <p:spPr>
          <a:xfrm>
            <a:off x="1463040" y="2770632"/>
            <a:ext cx="3200400" cy="347472"/>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Verify on live infra</a:t>
            </a:r>
            <a:endParaRPr lang="en-US" sz="1400" dirty="0"/>
          </a:p>
        </p:txBody>
      </p:sp>
      <p:sp>
        <p:nvSpPr>
          <p:cNvPr id="23" name="Text 18"/>
          <p:cNvSpPr/>
          <p:nvPr/>
        </p:nvSpPr>
        <p:spPr>
          <a:xfrm>
            <a:off x="1463040" y="3127248"/>
            <a:ext cx="347472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59 tests, zero mocks, real EKS cluster</a:t>
            </a:r>
            <a:endParaRPr lang="en-US" sz="1000" dirty="0"/>
          </a:p>
        </p:txBody>
      </p:sp>
      <p:sp>
        <p:nvSpPr>
          <p:cNvPr id="24" name="Shape 19"/>
          <p:cNvSpPr/>
          <p:nvPr/>
        </p:nvSpPr>
        <p:spPr>
          <a:xfrm>
            <a:off x="365760" y="3611880"/>
            <a:ext cx="4754880" cy="749808"/>
          </a:xfrm>
          <a:prstGeom prst="rect">
            <a:avLst/>
          </a:prstGeom>
          <a:solidFill>
            <a:srgbClr val="151E30"/>
          </a:solidFill>
          <a:ln/>
          <a:effectLst>
            <a:outerShdw sx="100000" sy="100000" kx="0" ky="0" algn="bl" rotWithShape="0" blurRad="76200" dist="25400" dir="8100000">
              <a:srgbClr val="000000">
                <a:alpha val="35000"/>
              </a:srgbClr>
            </a:outerShdw>
          </a:effectLst>
        </p:spPr>
      </p:sp>
      <p:sp>
        <p:nvSpPr>
          <p:cNvPr id="25" name="Shape 20"/>
          <p:cNvSpPr/>
          <p:nvPr/>
        </p:nvSpPr>
        <p:spPr>
          <a:xfrm>
            <a:off x="365760" y="3611880"/>
            <a:ext cx="457200" cy="749808"/>
          </a:xfrm>
          <a:prstGeom prst="rect">
            <a:avLst/>
          </a:prstGeom>
          <a:solidFill>
            <a:srgbClr val="0EA5E9"/>
          </a:solidFill>
          <a:ln/>
        </p:spPr>
      </p:sp>
      <p:sp>
        <p:nvSpPr>
          <p:cNvPr id="26" name="Text 21"/>
          <p:cNvSpPr/>
          <p:nvPr/>
        </p:nvSpPr>
        <p:spPr>
          <a:xfrm>
            <a:off x="365760" y="3611880"/>
            <a:ext cx="457200" cy="749808"/>
          </a:xfrm>
          <a:prstGeom prst="rect">
            <a:avLst/>
          </a:prstGeom>
          <a:noFill/>
          <a:ln/>
        </p:spPr>
        <p:txBody>
          <a:bodyPr wrap="square" lIns="0" tIns="0" rIns="0" bIns="0" rtlCol="0" anchor="ctr"/>
          <a:lstStyle/>
          <a:p>
            <a:pPr algn="ctr" indent="0" marL="0">
              <a:buNone/>
            </a:pPr>
            <a:r>
              <a:rPr lang="en-US" sz="2200" dirty="0">
                <a:solidFill>
                  <a:srgbClr val="F8FAFC"/>
                </a:solidFill>
                <a:latin typeface="Arial Black" pitchFamily="34" charset="0"/>
                <a:ea typeface="Arial Black" pitchFamily="34" charset="-122"/>
                <a:cs typeface="Arial Black" pitchFamily="34" charset="-120"/>
              </a:rPr>
              <a:t>4</a:t>
            </a:r>
            <a:endParaRPr lang="en-US" sz="2200" dirty="0"/>
          </a:p>
        </p:txBody>
      </p:sp>
      <p:pic>
        <p:nvPicPr>
          <p:cNvPr id="27" name="Image 3" descr="preencoded.png">    </p:cNvPr>
          <p:cNvPicPr>
            <a:picLocks noChangeAspect="1"/>
          </p:cNvPicPr>
          <p:nvPr/>
        </p:nvPicPr>
        <p:blipFill>
          <a:blip r:embed="rId4"/>
          <a:stretch>
            <a:fillRect/>
          </a:stretch>
        </p:blipFill>
        <p:spPr>
          <a:xfrm>
            <a:off x="960120" y="3776472"/>
            <a:ext cx="365760" cy="365760"/>
          </a:xfrm>
          <a:prstGeom prst="rect">
            <a:avLst/>
          </a:prstGeom>
        </p:spPr>
      </p:pic>
      <p:sp>
        <p:nvSpPr>
          <p:cNvPr id="28" name="Text 22"/>
          <p:cNvSpPr/>
          <p:nvPr/>
        </p:nvSpPr>
        <p:spPr>
          <a:xfrm>
            <a:off x="1463040" y="3639312"/>
            <a:ext cx="3200400" cy="347472"/>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Score honestly</a:t>
            </a:r>
            <a:endParaRPr lang="en-US" sz="1400" dirty="0"/>
          </a:p>
        </p:txBody>
      </p:sp>
      <p:sp>
        <p:nvSpPr>
          <p:cNvPr id="29" name="Text 23"/>
          <p:cNvSpPr/>
          <p:nvPr/>
        </p:nvSpPr>
        <p:spPr>
          <a:xfrm>
            <a:off x="1463040" y="3995928"/>
            <a:ext cx="347472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6 dimensions. Every correction documented.</a:t>
            </a:r>
            <a:endParaRPr lang="en-US" sz="1000" dirty="0"/>
          </a:p>
        </p:txBody>
      </p:sp>
      <p:sp>
        <p:nvSpPr>
          <p:cNvPr id="30" name="Text 24"/>
          <p:cNvSpPr/>
          <p:nvPr/>
        </p:nvSpPr>
        <p:spPr>
          <a:xfrm>
            <a:off x="5394960" y="914400"/>
            <a:ext cx="3383280" cy="365760"/>
          </a:xfrm>
          <a:prstGeom prst="rect">
            <a:avLst/>
          </a:prstGeom>
          <a:noFill/>
          <a:ln/>
        </p:spPr>
        <p:txBody>
          <a:bodyPr wrap="square" lIns="0" tIns="0" rIns="0" bIns="0" rtlCol="0" anchor="ctr"/>
          <a:lstStyle/>
          <a:p>
            <a:pPr indent="0" marL="0">
              <a:buNone/>
            </a:pPr>
            <a:r>
              <a:rPr lang="en-US" sz="1400" b="1" dirty="0">
                <a:solidFill>
                  <a:srgbClr val="0EA5E9"/>
                </a:solidFill>
                <a:latin typeface="Calibri" pitchFamily="34" charset="0"/>
                <a:ea typeface="Calibri" pitchFamily="34" charset="-122"/>
                <a:cs typeface="Calibri" pitchFamily="34" charset="-120"/>
              </a:rPr>
              <a:t>6 Scoring Dimensions</a:t>
            </a:r>
            <a:endParaRPr lang="en-US" sz="1400" dirty="0"/>
          </a:p>
        </p:txBody>
      </p:sp>
      <p:sp>
        <p:nvSpPr>
          <p:cNvPr id="31" name="Shape 25"/>
          <p:cNvSpPr/>
          <p:nvPr/>
        </p:nvSpPr>
        <p:spPr>
          <a:xfrm>
            <a:off x="5394960" y="1371600"/>
            <a:ext cx="3383280" cy="384048"/>
          </a:xfrm>
          <a:prstGeom prst="rect">
            <a:avLst/>
          </a:prstGeom>
          <a:solidFill>
            <a:srgbClr val="151E30"/>
          </a:solidFill>
          <a:ln/>
        </p:spPr>
      </p:sp>
      <p:sp>
        <p:nvSpPr>
          <p:cNvPr id="32" name="Shape 26"/>
          <p:cNvSpPr/>
          <p:nvPr/>
        </p:nvSpPr>
        <p:spPr>
          <a:xfrm>
            <a:off x="5394960" y="1371600"/>
            <a:ext cx="45720" cy="384048"/>
          </a:xfrm>
          <a:prstGeom prst="rect">
            <a:avLst/>
          </a:prstGeom>
          <a:solidFill>
            <a:srgbClr val="22C55E"/>
          </a:solidFill>
          <a:ln/>
        </p:spPr>
      </p:sp>
      <p:sp>
        <p:nvSpPr>
          <p:cNvPr id="33" name="Text 27"/>
          <p:cNvSpPr/>
          <p:nvPr/>
        </p:nvSpPr>
        <p:spPr>
          <a:xfrm>
            <a:off x="5577840" y="1371600"/>
            <a:ext cx="2103120" cy="384048"/>
          </a:xfrm>
          <a:prstGeom prst="rect">
            <a:avLst/>
          </a:prstGeom>
          <a:noFill/>
          <a:ln/>
        </p:spPr>
        <p:txBody>
          <a:bodyPr wrap="square" lIns="0" tIns="0" rIns="0" bIns="0" rtlCol="0" anchor="ctr"/>
          <a:lstStyle/>
          <a:p>
            <a:pPr indent="0" marL="0">
              <a:buNone/>
            </a:pPr>
            <a:r>
              <a:rPr lang="en-US" sz="1200" b="1" dirty="0">
                <a:solidFill>
                  <a:srgbClr val="F1F5F9"/>
                </a:solidFill>
                <a:latin typeface="Calibri" pitchFamily="34" charset="0"/>
                <a:ea typeface="Calibri" pitchFamily="34" charset="-122"/>
                <a:cs typeface="Calibri" pitchFamily="34" charset="-120"/>
              </a:rPr>
              <a:t>Toil Reduced</a:t>
            </a:r>
            <a:endParaRPr lang="en-US" sz="1200" dirty="0"/>
          </a:p>
        </p:txBody>
      </p:sp>
      <p:sp>
        <p:nvSpPr>
          <p:cNvPr id="34" name="Text 28"/>
          <p:cNvSpPr/>
          <p:nvPr/>
        </p:nvSpPr>
        <p:spPr>
          <a:xfrm>
            <a:off x="7680960" y="1371600"/>
            <a:ext cx="1005840" cy="384048"/>
          </a:xfrm>
          <a:prstGeom prst="rect">
            <a:avLst/>
          </a:prstGeom>
          <a:noFill/>
          <a:ln/>
        </p:spPr>
        <p:txBody>
          <a:bodyPr wrap="square" lIns="0" tIns="0" rIns="0" bIns="0" rtlCol="0" anchor="ctr"/>
          <a:lstStyle/>
          <a:p>
            <a:pPr algn="r" indent="0" marL="0">
              <a:buNone/>
            </a:pPr>
            <a:r>
              <a:rPr lang="en-US" sz="1000" dirty="0">
                <a:solidFill>
                  <a:srgbClr val="22C55E"/>
                </a:solidFill>
                <a:latin typeface="Consolas" pitchFamily="34" charset="0"/>
                <a:ea typeface="Consolas" pitchFamily="34" charset="-122"/>
                <a:cs typeface="Consolas" pitchFamily="34" charset="-120"/>
              </a:rPr>
              <a:t>1–10</a:t>
            </a:r>
            <a:endParaRPr lang="en-US" sz="1000" dirty="0"/>
          </a:p>
        </p:txBody>
      </p:sp>
      <p:sp>
        <p:nvSpPr>
          <p:cNvPr id="35" name="Shape 29"/>
          <p:cNvSpPr/>
          <p:nvPr/>
        </p:nvSpPr>
        <p:spPr>
          <a:xfrm>
            <a:off x="5394960" y="1847088"/>
            <a:ext cx="3383280" cy="384048"/>
          </a:xfrm>
          <a:prstGeom prst="rect">
            <a:avLst/>
          </a:prstGeom>
          <a:solidFill>
            <a:srgbClr val="151E30"/>
          </a:solidFill>
          <a:ln/>
        </p:spPr>
      </p:sp>
      <p:sp>
        <p:nvSpPr>
          <p:cNvPr id="36" name="Shape 30"/>
          <p:cNvSpPr/>
          <p:nvPr/>
        </p:nvSpPr>
        <p:spPr>
          <a:xfrm>
            <a:off x="5394960" y="1847088"/>
            <a:ext cx="45720" cy="384048"/>
          </a:xfrm>
          <a:prstGeom prst="rect">
            <a:avLst/>
          </a:prstGeom>
          <a:solidFill>
            <a:srgbClr val="F59E0B"/>
          </a:solidFill>
          <a:ln/>
        </p:spPr>
      </p:sp>
      <p:sp>
        <p:nvSpPr>
          <p:cNvPr id="37" name="Text 31"/>
          <p:cNvSpPr/>
          <p:nvPr/>
        </p:nvSpPr>
        <p:spPr>
          <a:xfrm>
            <a:off x="5577840" y="1847088"/>
            <a:ext cx="2103120" cy="384048"/>
          </a:xfrm>
          <a:prstGeom prst="rect">
            <a:avLst/>
          </a:prstGeom>
          <a:noFill/>
          <a:ln/>
        </p:spPr>
        <p:txBody>
          <a:bodyPr wrap="square" lIns="0" tIns="0" rIns="0" bIns="0" rtlCol="0" anchor="ctr"/>
          <a:lstStyle/>
          <a:p>
            <a:pPr indent="0" marL="0">
              <a:buNone/>
            </a:pPr>
            <a:r>
              <a:rPr lang="en-US" sz="1200" b="1" dirty="0">
                <a:solidFill>
                  <a:srgbClr val="F1F5F9"/>
                </a:solidFill>
                <a:latin typeface="Calibri" pitchFamily="34" charset="0"/>
                <a:ea typeface="Calibri" pitchFamily="34" charset="-122"/>
                <a:cs typeface="Calibri" pitchFamily="34" charset="-120"/>
              </a:rPr>
              <a:t>Correction Cycles</a:t>
            </a:r>
            <a:endParaRPr lang="en-US" sz="1200" dirty="0"/>
          </a:p>
        </p:txBody>
      </p:sp>
      <p:sp>
        <p:nvSpPr>
          <p:cNvPr id="38" name="Text 32"/>
          <p:cNvSpPr/>
          <p:nvPr/>
        </p:nvSpPr>
        <p:spPr>
          <a:xfrm>
            <a:off x="7680960" y="1847088"/>
            <a:ext cx="1005840" cy="384048"/>
          </a:xfrm>
          <a:prstGeom prst="rect">
            <a:avLst/>
          </a:prstGeom>
          <a:noFill/>
          <a:ln/>
        </p:spPr>
        <p:txBody>
          <a:bodyPr wrap="square" lIns="0" tIns="0" rIns="0" bIns="0" rtlCol="0" anchor="ctr"/>
          <a:lstStyle/>
          <a:p>
            <a:pPr algn="r" indent="0" marL="0">
              <a:buNone/>
            </a:pPr>
            <a:r>
              <a:rPr lang="en-US" sz="1000" dirty="0">
                <a:solidFill>
                  <a:srgbClr val="F59E0B"/>
                </a:solidFill>
                <a:latin typeface="Consolas" pitchFamily="34" charset="0"/>
                <a:ea typeface="Consolas" pitchFamily="34" charset="-122"/>
                <a:cs typeface="Consolas" pitchFamily="34" charset="-120"/>
              </a:rPr>
              <a:t>count</a:t>
            </a:r>
            <a:endParaRPr lang="en-US" sz="1000" dirty="0"/>
          </a:p>
        </p:txBody>
      </p:sp>
      <p:sp>
        <p:nvSpPr>
          <p:cNvPr id="39" name="Shape 33"/>
          <p:cNvSpPr/>
          <p:nvPr/>
        </p:nvSpPr>
        <p:spPr>
          <a:xfrm>
            <a:off x="5394960" y="2322576"/>
            <a:ext cx="3383280" cy="384048"/>
          </a:xfrm>
          <a:prstGeom prst="rect">
            <a:avLst/>
          </a:prstGeom>
          <a:solidFill>
            <a:srgbClr val="151E30"/>
          </a:solidFill>
          <a:ln/>
        </p:spPr>
      </p:sp>
      <p:sp>
        <p:nvSpPr>
          <p:cNvPr id="40" name="Shape 34"/>
          <p:cNvSpPr/>
          <p:nvPr/>
        </p:nvSpPr>
        <p:spPr>
          <a:xfrm>
            <a:off x="5394960" y="2322576"/>
            <a:ext cx="45720" cy="384048"/>
          </a:xfrm>
          <a:prstGeom prst="rect">
            <a:avLst/>
          </a:prstGeom>
          <a:solidFill>
            <a:srgbClr val="0EA5E9"/>
          </a:solidFill>
          <a:ln/>
        </p:spPr>
      </p:sp>
      <p:sp>
        <p:nvSpPr>
          <p:cNvPr id="41" name="Text 35"/>
          <p:cNvSpPr/>
          <p:nvPr/>
        </p:nvSpPr>
        <p:spPr>
          <a:xfrm>
            <a:off x="5577840" y="2322576"/>
            <a:ext cx="2103120" cy="384048"/>
          </a:xfrm>
          <a:prstGeom prst="rect">
            <a:avLst/>
          </a:prstGeom>
          <a:noFill/>
          <a:ln/>
        </p:spPr>
        <p:txBody>
          <a:bodyPr wrap="square" lIns="0" tIns="0" rIns="0" bIns="0" rtlCol="0" anchor="ctr"/>
          <a:lstStyle/>
          <a:p>
            <a:pPr indent="0" marL="0">
              <a:buNone/>
            </a:pPr>
            <a:r>
              <a:rPr lang="en-US" sz="1200" b="1" dirty="0">
                <a:solidFill>
                  <a:srgbClr val="F1F5F9"/>
                </a:solidFill>
                <a:latin typeface="Calibri" pitchFamily="34" charset="0"/>
                <a:ea typeface="Calibri" pitchFamily="34" charset="-122"/>
                <a:cs typeface="Calibri" pitchFamily="34" charset="-120"/>
              </a:rPr>
              <a:t>AI Time</a:t>
            </a:r>
            <a:endParaRPr lang="en-US" sz="1200" dirty="0"/>
          </a:p>
        </p:txBody>
      </p:sp>
      <p:sp>
        <p:nvSpPr>
          <p:cNvPr id="42" name="Text 36"/>
          <p:cNvSpPr/>
          <p:nvPr/>
        </p:nvSpPr>
        <p:spPr>
          <a:xfrm>
            <a:off x="7680960" y="2322576"/>
            <a:ext cx="1005840" cy="384048"/>
          </a:xfrm>
          <a:prstGeom prst="rect">
            <a:avLst/>
          </a:prstGeom>
          <a:noFill/>
          <a:ln/>
        </p:spPr>
        <p:txBody>
          <a:bodyPr wrap="square" lIns="0" tIns="0" rIns="0" bIns="0" rtlCol="0" anchor="ctr"/>
          <a:lstStyle/>
          <a:p>
            <a:pPr algn="r" indent="0" marL="0">
              <a:buNone/>
            </a:pPr>
            <a:r>
              <a:rPr lang="en-US" sz="1000" dirty="0">
                <a:solidFill>
                  <a:srgbClr val="0EA5E9"/>
                </a:solidFill>
                <a:latin typeface="Consolas" pitchFamily="34" charset="0"/>
                <a:ea typeface="Consolas" pitchFamily="34" charset="-122"/>
                <a:cs typeface="Consolas" pitchFamily="34" charset="-120"/>
              </a:rPr>
              <a:t>minutes</a:t>
            </a:r>
            <a:endParaRPr lang="en-US" sz="1000" dirty="0"/>
          </a:p>
        </p:txBody>
      </p:sp>
      <p:sp>
        <p:nvSpPr>
          <p:cNvPr id="43" name="Shape 37"/>
          <p:cNvSpPr/>
          <p:nvPr/>
        </p:nvSpPr>
        <p:spPr>
          <a:xfrm>
            <a:off x="5394960" y="2798064"/>
            <a:ext cx="3383280" cy="384048"/>
          </a:xfrm>
          <a:prstGeom prst="rect">
            <a:avLst/>
          </a:prstGeom>
          <a:solidFill>
            <a:srgbClr val="151E30"/>
          </a:solidFill>
          <a:ln/>
        </p:spPr>
      </p:sp>
      <p:sp>
        <p:nvSpPr>
          <p:cNvPr id="44" name="Shape 38"/>
          <p:cNvSpPr/>
          <p:nvPr/>
        </p:nvSpPr>
        <p:spPr>
          <a:xfrm>
            <a:off x="5394960" y="2798064"/>
            <a:ext cx="45720" cy="384048"/>
          </a:xfrm>
          <a:prstGeom prst="rect">
            <a:avLst/>
          </a:prstGeom>
          <a:solidFill>
            <a:srgbClr val="06B6D4"/>
          </a:solidFill>
          <a:ln/>
        </p:spPr>
      </p:sp>
      <p:sp>
        <p:nvSpPr>
          <p:cNvPr id="45" name="Text 39"/>
          <p:cNvSpPr/>
          <p:nvPr/>
        </p:nvSpPr>
        <p:spPr>
          <a:xfrm>
            <a:off x="5577840" y="2798064"/>
            <a:ext cx="2103120" cy="384048"/>
          </a:xfrm>
          <a:prstGeom prst="rect">
            <a:avLst/>
          </a:prstGeom>
          <a:noFill/>
          <a:ln/>
        </p:spPr>
        <p:txBody>
          <a:bodyPr wrap="square" lIns="0" tIns="0" rIns="0" bIns="0" rtlCol="0" anchor="ctr"/>
          <a:lstStyle/>
          <a:p>
            <a:pPr indent="0" marL="0">
              <a:buNone/>
            </a:pPr>
            <a:r>
              <a:rPr lang="en-US" sz="1200" b="1" dirty="0">
                <a:solidFill>
                  <a:srgbClr val="F1F5F9"/>
                </a:solidFill>
                <a:latin typeface="Calibri" pitchFamily="34" charset="0"/>
                <a:ea typeface="Calibri" pitchFamily="34" charset="-122"/>
                <a:cs typeface="Calibri" pitchFamily="34" charset="-120"/>
              </a:rPr>
              <a:t>Manual Time</a:t>
            </a:r>
            <a:endParaRPr lang="en-US" sz="1200" dirty="0"/>
          </a:p>
        </p:txBody>
      </p:sp>
      <p:sp>
        <p:nvSpPr>
          <p:cNvPr id="46" name="Text 40"/>
          <p:cNvSpPr/>
          <p:nvPr/>
        </p:nvSpPr>
        <p:spPr>
          <a:xfrm>
            <a:off x="7680960" y="2798064"/>
            <a:ext cx="1005840" cy="384048"/>
          </a:xfrm>
          <a:prstGeom prst="rect">
            <a:avLst/>
          </a:prstGeom>
          <a:noFill/>
          <a:ln/>
        </p:spPr>
        <p:txBody>
          <a:bodyPr wrap="square" lIns="0" tIns="0" rIns="0" bIns="0" rtlCol="0" anchor="ctr"/>
          <a:lstStyle/>
          <a:p>
            <a:pPr algn="r" indent="0" marL="0">
              <a:buNone/>
            </a:pPr>
            <a:r>
              <a:rPr lang="en-US" sz="1000" dirty="0">
                <a:solidFill>
                  <a:srgbClr val="06B6D4"/>
                </a:solidFill>
                <a:latin typeface="Consolas" pitchFamily="34" charset="0"/>
                <a:ea typeface="Consolas" pitchFamily="34" charset="-122"/>
                <a:cs typeface="Consolas" pitchFamily="34" charset="-120"/>
              </a:rPr>
              <a:t>minutes</a:t>
            </a:r>
            <a:endParaRPr lang="en-US" sz="1000" dirty="0"/>
          </a:p>
        </p:txBody>
      </p:sp>
      <p:sp>
        <p:nvSpPr>
          <p:cNvPr id="47" name="Shape 41"/>
          <p:cNvSpPr/>
          <p:nvPr/>
        </p:nvSpPr>
        <p:spPr>
          <a:xfrm>
            <a:off x="5394960" y="3273552"/>
            <a:ext cx="3383280" cy="384048"/>
          </a:xfrm>
          <a:prstGeom prst="rect">
            <a:avLst/>
          </a:prstGeom>
          <a:solidFill>
            <a:srgbClr val="151E30"/>
          </a:solidFill>
          <a:ln/>
        </p:spPr>
      </p:sp>
      <p:sp>
        <p:nvSpPr>
          <p:cNvPr id="48" name="Shape 42"/>
          <p:cNvSpPr/>
          <p:nvPr/>
        </p:nvSpPr>
        <p:spPr>
          <a:xfrm>
            <a:off x="5394960" y="3273552"/>
            <a:ext cx="45720" cy="384048"/>
          </a:xfrm>
          <a:prstGeom prst="rect">
            <a:avLst/>
          </a:prstGeom>
          <a:solidFill>
            <a:srgbClr val="EF4444"/>
          </a:solidFill>
          <a:ln/>
        </p:spPr>
      </p:sp>
      <p:sp>
        <p:nvSpPr>
          <p:cNvPr id="49" name="Text 43"/>
          <p:cNvSpPr/>
          <p:nvPr/>
        </p:nvSpPr>
        <p:spPr>
          <a:xfrm>
            <a:off x="5577840" y="3273552"/>
            <a:ext cx="2103120" cy="384048"/>
          </a:xfrm>
          <a:prstGeom prst="rect">
            <a:avLst/>
          </a:prstGeom>
          <a:noFill/>
          <a:ln/>
        </p:spPr>
        <p:txBody>
          <a:bodyPr wrap="square" lIns="0" tIns="0" rIns="0" bIns="0" rtlCol="0" anchor="ctr"/>
          <a:lstStyle/>
          <a:p>
            <a:pPr indent="0" marL="0">
              <a:buNone/>
            </a:pPr>
            <a:r>
              <a:rPr lang="en-US" sz="1200" b="1" dirty="0">
                <a:solidFill>
                  <a:srgbClr val="F1F5F9"/>
                </a:solidFill>
                <a:latin typeface="Calibri" pitchFamily="34" charset="0"/>
                <a:ea typeface="Calibri" pitchFamily="34" charset="-122"/>
                <a:cs typeface="Calibri" pitchFamily="34" charset="-120"/>
              </a:rPr>
              <a:t>Toil Shifted?</a:t>
            </a:r>
            <a:endParaRPr lang="en-US" sz="1200" dirty="0"/>
          </a:p>
        </p:txBody>
      </p:sp>
      <p:sp>
        <p:nvSpPr>
          <p:cNvPr id="50" name="Text 44"/>
          <p:cNvSpPr/>
          <p:nvPr/>
        </p:nvSpPr>
        <p:spPr>
          <a:xfrm>
            <a:off x="7680960" y="3273552"/>
            <a:ext cx="1005840" cy="384048"/>
          </a:xfrm>
          <a:prstGeom prst="rect">
            <a:avLst/>
          </a:prstGeom>
          <a:noFill/>
          <a:ln/>
        </p:spPr>
        <p:txBody>
          <a:bodyPr wrap="square" lIns="0" tIns="0" rIns="0" bIns="0" rtlCol="0" anchor="ctr"/>
          <a:lstStyle/>
          <a:p>
            <a:pPr algn="r" indent="0" marL="0">
              <a:buNone/>
            </a:pPr>
            <a:r>
              <a:rPr lang="en-US" sz="1000" dirty="0">
                <a:solidFill>
                  <a:srgbClr val="EF4444"/>
                </a:solidFill>
                <a:latin typeface="Consolas" pitchFamily="34" charset="0"/>
                <a:ea typeface="Consolas" pitchFamily="34" charset="-122"/>
                <a:cs typeface="Consolas" pitchFamily="34" charset="-120"/>
              </a:rPr>
              <a:t>yes/no</a:t>
            </a:r>
            <a:endParaRPr lang="en-US" sz="1000" dirty="0"/>
          </a:p>
        </p:txBody>
      </p:sp>
      <p:sp>
        <p:nvSpPr>
          <p:cNvPr id="51" name="Shape 45"/>
          <p:cNvSpPr/>
          <p:nvPr/>
        </p:nvSpPr>
        <p:spPr>
          <a:xfrm>
            <a:off x="5394960" y="3749040"/>
            <a:ext cx="3383280" cy="384048"/>
          </a:xfrm>
          <a:prstGeom prst="rect">
            <a:avLst/>
          </a:prstGeom>
          <a:solidFill>
            <a:srgbClr val="151E30"/>
          </a:solidFill>
          <a:ln/>
        </p:spPr>
      </p:sp>
      <p:sp>
        <p:nvSpPr>
          <p:cNvPr id="52" name="Shape 46"/>
          <p:cNvSpPr/>
          <p:nvPr/>
        </p:nvSpPr>
        <p:spPr>
          <a:xfrm>
            <a:off x="5394960" y="3749040"/>
            <a:ext cx="45720" cy="384048"/>
          </a:xfrm>
          <a:prstGeom prst="rect">
            <a:avLst/>
          </a:prstGeom>
          <a:solidFill>
            <a:srgbClr val="94A3B8"/>
          </a:solidFill>
          <a:ln/>
        </p:spPr>
      </p:sp>
      <p:sp>
        <p:nvSpPr>
          <p:cNvPr id="53" name="Text 47"/>
          <p:cNvSpPr/>
          <p:nvPr/>
        </p:nvSpPr>
        <p:spPr>
          <a:xfrm>
            <a:off x="5577840" y="3749040"/>
            <a:ext cx="2103120" cy="384048"/>
          </a:xfrm>
          <a:prstGeom prst="rect">
            <a:avLst/>
          </a:prstGeom>
          <a:noFill/>
          <a:ln/>
        </p:spPr>
        <p:txBody>
          <a:bodyPr wrap="square" lIns="0" tIns="0" rIns="0" bIns="0" rtlCol="0" anchor="ctr"/>
          <a:lstStyle/>
          <a:p>
            <a:pPr indent="0" marL="0">
              <a:buNone/>
            </a:pPr>
            <a:r>
              <a:rPr lang="en-US" sz="1200" b="1" dirty="0">
                <a:solidFill>
                  <a:srgbClr val="F1F5F9"/>
                </a:solidFill>
                <a:latin typeface="Calibri" pitchFamily="34" charset="0"/>
                <a:ea typeface="Calibri" pitchFamily="34" charset="-122"/>
                <a:cs typeface="Calibri" pitchFamily="34" charset="-120"/>
              </a:rPr>
              <a:t>Notes</a:t>
            </a:r>
            <a:endParaRPr lang="en-US" sz="1200" dirty="0"/>
          </a:p>
        </p:txBody>
      </p:sp>
      <p:sp>
        <p:nvSpPr>
          <p:cNvPr id="54" name="Text 48"/>
          <p:cNvSpPr/>
          <p:nvPr/>
        </p:nvSpPr>
        <p:spPr>
          <a:xfrm>
            <a:off x="7680960" y="3749040"/>
            <a:ext cx="1005840" cy="384048"/>
          </a:xfrm>
          <a:prstGeom prst="rect">
            <a:avLst/>
          </a:prstGeom>
          <a:noFill/>
          <a:ln/>
        </p:spPr>
        <p:txBody>
          <a:bodyPr wrap="square" lIns="0" tIns="0" rIns="0" bIns="0" rtlCol="0" anchor="ctr"/>
          <a:lstStyle/>
          <a:p>
            <a:pPr algn="r" indent="0" marL="0">
              <a:buNone/>
            </a:pPr>
            <a:r>
              <a:rPr lang="en-US" sz="1000" dirty="0">
                <a:solidFill>
                  <a:srgbClr val="94A3B8"/>
                </a:solidFill>
                <a:latin typeface="Consolas" pitchFamily="34" charset="0"/>
                <a:ea typeface="Consolas" pitchFamily="34" charset="-122"/>
                <a:cs typeface="Consolas" pitchFamily="34" charset="-120"/>
              </a:rPr>
              <a:t>honest</a:t>
            </a:r>
            <a:endParaRPr lang="en-US" sz="1000" dirty="0"/>
          </a:p>
        </p:txBody>
      </p:sp>
      <p:sp>
        <p:nvSpPr>
          <p:cNvPr id="55" name="Text 49"/>
          <p:cNvSpPr/>
          <p:nvPr/>
        </p:nvSpPr>
        <p:spPr>
          <a:xfrm>
            <a:off x="5394960" y="4297680"/>
            <a:ext cx="3383280" cy="365760"/>
          </a:xfrm>
          <a:prstGeom prst="rect">
            <a:avLst/>
          </a:prstGeom>
          <a:noFill/>
          <a:ln/>
        </p:spPr>
        <p:txBody>
          <a:bodyPr wrap="square" lIns="0" tIns="0" rIns="0" bIns="0" rtlCol="0" anchor="ctr"/>
          <a:lstStyle/>
          <a:p>
            <a:pPr indent="0" marL="0">
              <a:buNone/>
            </a:pPr>
            <a:r>
              <a:rPr lang="en-US" sz="1100" i="1" dirty="0">
                <a:solidFill>
                  <a:srgbClr val="0EA5E9"/>
                </a:solidFill>
                <a:latin typeface="Calibri" pitchFamily="34" charset="0"/>
                <a:ea typeface="Calibri" pitchFamily="34" charset="-122"/>
                <a:cs typeface="Calibri" pitchFamily="34" charset="-120"/>
              </a:rPr>
              <a:t>The scorecard is the artifact. Not the platform.</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365760" y="4773168"/>
            <a:ext cx="4572000" cy="228600"/>
          </a:xfrm>
          <a:prstGeom prst="rect">
            <a:avLst/>
          </a:prstGeom>
          <a:noFill/>
          <a:ln/>
        </p:spPr>
        <p:txBody>
          <a:bodyPr wrap="square" rtlCol="0" anchor="ctr"/>
          <a:lstStyle/>
          <a:p>
            <a:pPr indent="0" marL="0">
              <a:buNone/>
            </a:pPr>
            <a:r>
              <a:rPr lang="en-US" sz="700" dirty="0">
                <a:solidFill>
                  <a:srgbClr val="64748B"/>
                </a:solidFill>
                <a:latin typeface="Calibri" pitchFamily="34" charset="0"/>
                <a:ea typeface="Calibri" pitchFamily="34" charset="-122"/>
                <a:cs typeface="Calibri" pitchFamily="34" charset="-120"/>
              </a:rPr>
              <a:t>KubeAuto AI Day Europe 2026</a:t>
            </a:r>
            <a:endParaRPr lang="en-US" sz="700" dirty="0"/>
          </a:p>
        </p:txBody>
      </p:sp>
      <p:sp>
        <p:nvSpPr>
          <p:cNvPr id="3" name="Text 1"/>
          <p:cNvSpPr/>
          <p:nvPr/>
        </p:nvSpPr>
        <p:spPr>
          <a:xfrm>
            <a:off x="7863840" y="4773168"/>
            <a:ext cx="914400" cy="228600"/>
          </a:xfrm>
          <a:prstGeom prst="rect">
            <a:avLst/>
          </a:prstGeom>
          <a:noFill/>
          <a:ln/>
        </p:spPr>
        <p:txBody>
          <a:bodyPr wrap="square" rtlCol="0" anchor="ctr"/>
          <a:lstStyle/>
          <a:p>
            <a:pPr algn="r" indent="0" marL="0">
              <a:buNone/>
            </a:pPr>
            <a:r>
              <a:rPr lang="en-US" sz="700" dirty="0">
                <a:solidFill>
                  <a:srgbClr val="64748B"/>
                </a:solidFill>
                <a:latin typeface="Calibri" pitchFamily="34" charset="0"/>
                <a:ea typeface="Calibri" pitchFamily="34" charset="-122"/>
                <a:cs typeface="Calibri" pitchFamily="34" charset="-120"/>
              </a:rPr>
              <a:t>8/21</a:t>
            </a:r>
            <a:endParaRPr lang="en-US" sz="700" dirty="0"/>
          </a:p>
        </p:txBody>
      </p:sp>
      <p:sp>
        <p:nvSpPr>
          <p:cNvPr id="4" name="Shape 2"/>
          <p:cNvSpPr/>
          <p:nvPr/>
        </p:nvSpPr>
        <p:spPr>
          <a:xfrm>
            <a:off x="1371600" y="731520"/>
            <a:ext cx="6400800" cy="3108960"/>
          </a:xfrm>
          <a:prstGeom prst="rect">
            <a:avLst/>
          </a:prstGeom>
          <a:solidFill>
            <a:srgbClr val="151E30"/>
          </a:solidFill>
          <a:ln/>
          <a:effectLst>
            <a:outerShdw sx="100000" sy="100000" kx="0" ky="0" algn="bl" rotWithShape="0" blurRad="76200" dist="25400" dir="8100000">
              <a:srgbClr val="000000">
                <a:alpha val="35000"/>
              </a:srgbClr>
            </a:outerShdw>
          </a:effectLst>
        </p:spPr>
      </p:sp>
      <p:sp>
        <p:nvSpPr>
          <p:cNvPr id="5" name="Shape 3"/>
          <p:cNvSpPr/>
          <p:nvPr/>
        </p:nvSpPr>
        <p:spPr>
          <a:xfrm>
            <a:off x="1371600" y="731520"/>
            <a:ext cx="6400800" cy="45720"/>
          </a:xfrm>
          <a:prstGeom prst="rect">
            <a:avLst/>
          </a:prstGeom>
          <a:solidFill>
            <a:srgbClr val="0EA5E9"/>
          </a:solidFill>
          <a:ln/>
        </p:spPr>
      </p:sp>
      <p:pic>
        <p:nvPicPr>
          <p:cNvPr id="6" name="Image 0" descr="preencoded.png">    </p:cNvPr>
          <p:cNvPicPr>
            <a:picLocks noChangeAspect="1"/>
          </p:cNvPicPr>
          <p:nvPr/>
        </p:nvPicPr>
        <p:blipFill>
          <a:blip r:embed="rId1"/>
          <a:stretch>
            <a:fillRect/>
          </a:stretch>
        </p:blipFill>
        <p:spPr>
          <a:xfrm>
            <a:off x="4114800" y="1051560"/>
            <a:ext cx="914400" cy="914400"/>
          </a:xfrm>
          <a:prstGeom prst="rect">
            <a:avLst/>
          </a:prstGeom>
        </p:spPr>
      </p:pic>
      <p:sp>
        <p:nvSpPr>
          <p:cNvPr id="7" name="Text 4"/>
          <p:cNvSpPr/>
          <p:nvPr/>
        </p:nvSpPr>
        <p:spPr>
          <a:xfrm>
            <a:off x="1371600" y="2011680"/>
            <a:ext cx="6400800" cy="640080"/>
          </a:xfrm>
          <a:prstGeom prst="rect">
            <a:avLst/>
          </a:prstGeom>
          <a:noFill/>
          <a:ln/>
        </p:spPr>
        <p:txBody>
          <a:bodyPr wrap="square" lIns="0" tIns="0" rIns="0" bIns="0" rtlCol="0" anchor="ctr"/>
          <a:lstStyle/>
          <a:p>
            <a:pPr algn="ctr" indent="0" marL="0">
              <a:buNone/>
            </a:pPr>
            <a:r>
              <a:rPr lang="en-US" sz="2800" dirty="0">
                <a:solidFill>
                  <a:srgbClr val="F8FAFC"/>
                </a:solidFill>
                <a:latin typeface="Arial Black" pitchFamily="34" charset="0"/>
                <a:ea typeface="Arial Black" pitchFamily="34" charset="-122"/>
                <a:cs typeface="Arial Black" pitchFamily="34" charset="-120"/>
              </a:rPr>
              <a:t>GitOps in Action</a:t>
            </a:r>
            <a:endParaRPr lang="en-US" sz="2800" dirty="0"/>
          </a:p>
        </p:txBody>
      </p:sp>
      <p:sp>
        <p:nvSpPr>
          <p:cNvPr id="8" name="Text 5"/>
          <p:cNvSpPr/>
          <p:nvPr/>
        </p:nvSpPr>
        <p:spPr>
          <a:xfrm>
            <a:off x="1828800" y="2697480"/>
            <a:ext cx="5486400" cy="548640"/>
          </a:xfrm>
          <a:prstGeom prst="rect">
            <a:avLst/>
          </a:prstGeom>
          <a:noFill/>
          <a:ln/>
        </p:spPr>
        <p:txBody>
          <a:bodyPr wrap="square" lIns="0" tIns="0" rIns="0" bIns="0" rtlCol="0" anchor="ctr"/>
          <a:lstStyle/>
          <a:p>
            <a:pPr algn="ctr" indent="0" marL="0">
              <a:buNone/>
            </a:pPr>
            <a:r>
              <a:rPr lang="en-US" sz="1300" dirty="0">
                <a:solidFill>
                  <a:srgbClr val="94A3B8"/>
                </a:solidFill>
                <a:latin typeface="Calibri" pitchFamily="34" charset="0"/>
                <a:ea typeface="Calibri" pitchFamily="34" charset="-122"/>
                <a:cs typeface="Calibri" pitchFamily="34" charset="-120"/>
              </a:rPr>
              <a:t>27 synced apps · drift detection · 30-second self-heal</a:t>
            </a:r>
            <a:endParaRPr lang="en-US" sz="1300" dirty="0"/>
          </a:p>
        </p:txBody>
      </p:sp>
      <p:sp>
        <p:nvSpPr>
          <p:cNvPr id="9" name="Shape 6"/>
          <p:cNvSpPr/>
          <p:nvPr/>
        </p:nvSpPr>
        <p:spPr>
          <a:xfrm>
            <a:off x="3200400" y="4114800"/>
            <a:ext cx="2743200" cy="457200"/>
          </a:xfrm>
          <a:prstGeom prst="rect">
            <a:avLst/>
          </a:prstGeom>
          <a:solidFill>
            <a:srgbClr val="0EA5E9"/>
          </a:solidFill>
          <a:ln/>
          <a:effectLst>
            <a:outerShdw sx="100000" sy="100000" kx="0" ky="0" algn="bl" rotWithShape="0" blurRad="76200" dist="25400" dir="8100000">
              <a:srgbClr val="000000">
                <a:alpha val="35000"/>
              </a:srgbClr>
            </a:outerShdw>
          </a:effectLst>
        </p:spPr>
      </p:sp>
      <p:sp>
        <p:nvSpPr>
          <p:cNvPr id="10" name="Text 7"/>
          <p:cNvSpPr/>
          <p:nvPr/>
        </p:nvSpPr>
        <p:spPr>
          <a:xfrm>
            <a:off x="3200400" y="4114800"/>
            <a:ext cx="2743200" cy="457200"/>
          </a:xfrm>
          <a:prstGeom prst="rect">
            <a:avLst/>
          </a:prstGeom>
          <a:noFill/>
          <a:ln/>
        </p:spPr>
        <p:txBody>
          <a:bodyPr wrap="square" lIns="0" tIns="0" rIns="0" bIns="0" rtlCol="0" anchor="ctr"/>
          <a:lstStyle/>
          <a:p>
            <a:pPr algn="ctr" indent="0" marL="0">
              <a:buNone/>
            </a:pPr>
            <a:r>
              <a:rPr lang="en-US" sz="1600" dirty="0">
                <a:solidFill>
                  <a:srgbClr val="F8FAFC"/>
                </a:solidFill>
                <a:latin typeface="Arial Black" pitchFamily="34" charset="0"/>
                <a:ea typeface="Arial Black" pitchFamily="34" charset="-122"/>
                <a:cs typeface="Arial Black" pitchFamily="34" charset="-120"/>
              </a:rPr>
              <a:t>LIVE DEMO</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365760" y="4773168"/>
            <a:ext cx="4572000" cy="228600"/>
          </a:xfrm>
          <a:prstGeom prst="rect">
            <a:avLst/>
          </a:prstGeom>
          <a:noFill/>
          <a:ln/>
        </p:spPr>
        <p:txBody>
          <a:bodyPr wrap="square" rtlCol="0" anchor="ctr"/>
          <a:lstStyle/>
          <a:p>
            <a:pPr indent="0" marL="0">
              <a:buNone/>
            </a:pPr>
            <a:r>
              <a:rPr lang="en-US" sz="700" dirty="0">
                <a:solidFill>
                  <a:srgbClr val="64748B"/>
                </a:solidFill>
                <a:latin typeface="Calibri" pitchFamily="34" charset="0"/>
                <a:ea typeface="Calibri" pitchFamily="34" charset="-122"/>
                <a:cs typeface="Calibri" pitchFamily="34" charset="-120"/>
              </a:rPr>
              <a:t>KubeAuto AI Day Europe 2026</a:t>
            </a:r>
            <a:endParaRPr lang="en-US" sz="700" dirty="0"/>
          </a:p>
        </p:txBody>
      </p:sp>
      <p:sp>
        <p:nvSpPr>
          <p:cNvPr id="3" name="Text 1"/>
          <p:cNvSpPr/>
          <p:nvPr/>
        </p:nvSpPr>
        <p:spPr>
          <a:xfrm>
            <a:off x="7863840" y="4773168"/>
            <a:ext cx="914400" cy="228600"/>
          </a:xfrm>
          <a:prstGeom prst="rect">
            <a:avLst/>
          </a:prstGeom>
          <a:noFill/>
          <a:ln/>
        </p:spPr>
        <p:txBody>
          <a:bodyPr wrap="square" rtlCol="0" anchor="ctr"/>
          <a:lstStyle/>
          <a:p>
            <a:pPr algn="r" indent="0" marL="0">
              <a:buNone/>
            </a:pPr>
            <a:r>
              <a:rPr lang="en-US" sz="700" dirty="0">
                <a:solidFill>
                  <a:srgbClr val="64748B"/>
                </a:solidFill>
                <a:latin typeface="Calibri" pitchFamily="34" charset="0"/>
                <a:ea typeface="Calibri" pitchFamily="34" charset="-122"/>
                <a:cs typeface="Calibri" pitchFamily="34" charset="-120"/>
              </a:rPr>
              <a:t>9/21</a:t>
            </a:r>
            <a:endParaRPr lang="en-US" sz="700" dirty="0"/>
          </a:p>
        </p:txBody>
      </p:sp>
      <p:sp>
        <p:nvSpPr>
          <p:cNvPr id="4" name="Shape 2"/>
          <p:cNvSpPr/>
          <p:nvPr/>
        </p:nvSpPr>
        <p:spPr>
          <a:xfrm>
            <a:off x="1371600" y="731520"/>
            <a:ext cx="6400800" cy="3108960"/>
          </a:xfrm>
          <a:prstGeom prst="rect">
            <a:avLst/>
          </a:prstGeom>
          <a:solidFill>
            <a:srgbClr val="151E30"/>
          </a:solidFill>
          <a:ln/>
          <a:effectLst>
            <a:outerShdw sx="100000" sy="100000" kx="0" ky="0" algn="bl" rotWithShape="0" blurRad="76200" dist="25400" dir="8100000">
              <a:srgbClr val="000000">
                <a:alpha val="35000"/>
              </a:srgbClr>
            </a:outerShdw>
          </a:effectLst>
        </p:spPr>
      </p:sp>
      <p:sp>
        <p:nvSpPr>
          <p:cNvPr id="5" name="Shape 3"/>
          <p:cNvSpPr/>
          <p:nvPr/>
        </p:nvSpPr>
        <p:spPr>
          <a:xfrm>
            <a:off x="1371600" y="731520"/>
            <a:ext cx="6400800" cy="45720"/>
          </a:xfrm>
          <a:prstGeom prst="rect">
            <a:avLst/>
          </a:prstGeom>
          <a:solidFill>
            <a:srgbClr val="0EA5E9"/>
          </a:solidFill>
          <a:ln/>
        </p:spPr>
      </p:sp>
      <p:pic>
        <p:nvPicPr>
          <p:cNvPr id="6" name="Image 0" descr="preencoded.png">    </p:cNvPr>
          <p:cNvPicPr>
            <a:picLocks noChangeAspect="1"/>
          </p:cNvPicPr>
          <p:nvPr/>
        </p:nvPicPr>
        <p:blipFill>
          <a:blip r:embed="rId1"/>
          <a:stretch>
            <a:fillRect/>
          </a:stretch>
        </p:blipFill>
        <p:spPr>
          <a:xfrm>
            <a:off x="4114800" y="1051560"/>
            <a:ext cx="914400" cy="914400"/>
          </a:xfrm>
          <a:prstGeom prst="rect">
            <a:avLst/>
          </a:prstGeom>
        </p:spPr>
      </p:pic>
      <p:sp>
        <p:nvSpPr>
          <p:cNvPr id="7" name="Text 4"/>
          <p:cNvSpPr/>
          <p:nvPr/>
        </p:nvSpPr>
        <p:spPr>
          <a:xfrm>
            <a:off x="1371600" y="2011680"/>
            <a:ext cx="6400800" cy="640080"/>
          </a:xfrm>
          <a:prstGeom prst="rect">
            <a:avLst/>
          </a:prstGeom>
          <a:noFill/>
          <a:ln/>
        </p:spPr>
        <p:txBody>
          <a:bodyPr wrap="square" lIns="0" tIns="0" rIns="0" bIns="0" rtlCol="0" anchor="ctr"/>
          <a:lstStyle/>
          <a:p>
            <a:pPr algn="ctr" indent="0" marL="0">
              <a:buNone/>
            </a:pPr>
            <a:r>
              <a:rPr lang="en-US" sz="2800" dirty="0">
                <a:solidFill>
                  <a:srgbClr val="F8FAFC"/>
                </a:solidFill>
                <a:latin typeface="Arial Black" pitchFamily="34" charset="0"/>
                <a:ea typeface="Arial Black" pitchFamily="34" charset="-122"/>
                <a:cs typeface="Arial Black" pitchFamily="34" charset="-120"/>
              </a:rPr>
              <a:t>Security Stack</a:t>
            </a:r>
            <a:endParaRPr lang="en-US" sz="2800" dirty="0"/>
          </a:p>
        </p:txBody>
      </p:sp>
      <p:sp>
        <p:nvSpPr>
          <p:cNvPr id="8" name="Text 5"/>
          <p:cNvSpPr/>
          <p:nvPr/>
        </p:nvSpPr>
        <p:spPr>
          <a:xfrm>
            <a:off x="1828800" y="2697480"/>
            <a:ext cx="5486400" cy="548640"/>
          </a:xfrm>
          <a:prstGeom prst="rect">
            <a:avLst/>
          </a:prstGeom>
          <a:noFill/>
          <a:ln/>
        </p:spPr>
        <p:txBody>
          <a:bodyPr wrap="square" lIns="0" tIns="0" rIns="0" bIns="0" rtlCol="0" anchor="ctr"/>
          <a:lstStyle/>
          <a:p>
            <a:pPr algn="ctr" indent="0" marL="0">
              <a:buNone/>
            </a:pPr>
            <a:r>
              <a:rPr lang="en-US" sz="1300" dirty="0">
                <a:solidFill>
                  <a:srgbClr val="94A3B8"/>
                </a:solidFill>
                <a:latin typeface="Calibri" pitchFamily="34" charset="0"/>
                <a:ea typeface="Calibri" pitchFamily="34" charset="-122"/>
                <a:cs typeface="Calibri" pitchFamily="34" charset="-120"/>
              </a:rPr>
              <a:t>Kyverno blocks bad pods · Falco catches runtime threats · ESO syncs secrets</a:t>
            </a:r>
            <a:endParaRPr lang="en-US" sz="1300" dirty="0"/>
          </a:p>
        </p:txBody>
      </p:sp>
      <p:sp>
        <p:nvSpPr>
          <p:cNvPr id="9" name="Shape 6"/>
          <p:cNvSpPr/>
          <p:nvPr/>
        </p:nvSpPr>
        <p:spPr>
          <a:xfrm>
            <a:off x="3200400" y="4114800"/>
            <a:ext cx="2743200" cy="457200"/>
          </a:xfrm>
          <a:prstGeom prst="rect">
            <a:avLst/>
          </a:prstGeom>
          <a:solidFill>
            <a:srgbClr val="0EA5E9"/>
          </a:solidFill>
          <a:ln/>
          <a:effectLst>
            <a:outerShdw sx="100000" sy="100000" kx="0" ky="0" algn="bl" rotWithShape="0" blurRad="76200" dist="25400" dir="8100000">
              <a:srgbClr val="000000">
                <a:alpha val="35000"/>
              </a:srgbClr>
            </a:outerShdw>
          </a:effectLst>
        </p:spPr>
      </p:sp>
      <p:sp>
        <p:nvSpPr>
          <p:cNvPr id="10" name="Text 7"/>
          <p:cNvSpPr/>
          <p:nvPr/>
        </p:nvSpPr>
        <p:spPr>
          <a:xfrm>
            <a:off x="3200400" y="4114800"/>
            <a:ext cx="2743200" cy="457200"/>
          </a:xfrm>
          <a:prstGeom prst="rect">
            <a:avLst/>
          </a:prstGeom>
          <a:noFill/>
          <a:ln/>
        </p:spPr>
        <p:txBody>
          <a:bodyPr wrap="square" lIns="0" tIns="0" rIns="0" bIns="0" rtlCol="0" anchor="ctr"/>
          <a:lstStyle/>
          <a:p>
            <a:pPr algn="ctr" indent="0" marL="0">
              <a:buNone/>
            </a:pPr>
            <a:r>
              <a:rPr lang="en-US" sz="1600" dirty="0">
                <a:solidFill>
                  <a:srgbClr val="F8FAFC"/>
                </a:solidFill>
                <a:latin typeface="Arial Black" pitchFamily="34" charset="0"/>
                <a:ea typeface="Arial Black" pitchFamily="34" charset="-122"/>
                <a:cs typeface="Arial Black" pitchFamily="34" charset="-120"/>
              </a:rPr>
              <a:t>LIVE DEMO</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365760" y="4773168"/>
            <a:ext cx="4572000" cy="228600"/>
          </a:xfrm>
          <a:prstGeom prst="rect">
            <a:avLst/>
          </a:prstGeom>
          <a:noFill/>
          <a:ln/>
        </p:spPr>
        <p:txBody>
          <a:bodyPr wrap="square" rtlCol="0" anchor="ctr"/>
          <a:lstStyle/>
          <a:p>
            <a:pPr indent="0" marL="0">
              <a:buNone/>
            </a:pPr>
            <a:r>
              <a:rPr lang="en-US" sz="700" dirty="0">
                <a:solidFill>
                  <a:srgbClr val="64748B"/>
                </a:solidFill>
                <a:latin typeface="Calibri" pitchFamily="34" charset="0"/>
                <a:ea typeface="Calibri" pitchFamily="34" charset="-122"/>
                <a:cs typeface="Calibri" pitchFamily="34" charset="-120"/>
              </a:rPr>
              <a:t>KubeAuto AI Day Europe 2026</a:t>
            </a:r>
            <a:endParaRPr lang="en-US" sz="700" dirty="0"/>
          </a:p>
        </p:txBody>
      </p:sp>
      <p:sp>
        <p:nvSpPr>
          <p:cNvPr id="3" name="Text 1"/>
          <p:cNvSpPr/>
          <p:nvPr/>
        </p:nvSpPr>
        <p:spPr>
          <a:xfrm>
            <a:off x="7863840" y="4773168"/>
            <a:ext cx="914400" cy="228600"/>
          </a:xfrm>
          <a:prstGeom prst="rect">
            <a:avLst/>
          </a:prstGeom>
          <a:noFill/>
          <a:ln/>
        </p:spPr>
        <p:txBody>
          <a:bodyPr wrap="square" rtlCol="0" anchor="ctr"/>
          <a:lstStyle/>
          <a:p>
            <a:pPr algn="r" indent="0" marL="0">
              <a:buNone/>
            </a:pPr>
            <a:r>
              <a:rPr lang="en-US" sz="700" dirty="0">
                <a:solidFill>
                  <a:srgbClr val="64748B"/>
                </a:solidFill>
                <a:latin typeface="Calibri" pitchFamily="34" charset="0"/>
                <a:ea typeface="Calibri" pitchFamily="34" charset="-122"/>
                <a:cs typeface="Calibri" pitchFamily="34" charset="-120"/>
              </a:rPr>
              <a:t>10/21</a:t>
            </a:r>
            <a:endParaRPr lang="en-US" sz="700" dirty="0"/>
          </a:p>
        </p:txBody>
      </p:sp>
      <p:sp>
        <p:nvSpPr>
          <p:cNvPr id="4" name="Shape 2"/>
          <p:cNvSpPr/>
          <p:nvPr/>
        </p:nvSpPr>
        <p:spPr>
          <a:xfrm>
            <a:off x="1371600" y="731520"/>
            <a:ext cx="6400800" cy="3108960"/>
          </a:xfrm>
          <a:prstGeom prst="rect">
            <a:avLst/>
          </a:prstGeom>
          <a:solidFill>
            <a:srgbClr val="151E30"/>
          </a:solidFill>
          <a:ln/>
          <a:effectLst>
            <a:outerShdw sx="100000" sy="100000" kx="0" ky="0" algn="bl" rotWithShape="0" blurRad="76200" dist="25400" dir="8100000">
              <a:srgbClr val="000000">
                <a:alpha val="35000"/>
              </a:srgbClr>
            </a:outerShdw>
          </a:effectLst>
        </p:spPr>
      </p:sp>
      <p:sp>
        <p:nvSpPr>
          <p:cNvPr id="5" name="Shape 3"/>
          <p:cNvSpPr/>
          <p:nvPr/>
        </p:nvSpPr>
        <p:spPr>
          <a:xfrm>
            <a:off x="1371600" y="731520"/>
            <a:ext cx="6400800" cy="45720"/>
          </a:xfrm>
          <a:prstGeom prst="rect">
            <a:avLst/>
          </a:prstGeom>
          <a:solidFill>
            <a:srgbClr val="0EA5E9"/>
          </a:solidFill>
          <a:ln/>
        </p:spPr>
      </p:sp>
      <p:pic>
        <p:nvPicPr>
          <p:cNvPr id="6" name="Image 0" descr="preencoded.png">    </p:cNvPr>
          <p:cNvPicPr>
            <a:picLocks noChangeAspect="1"/>
          </p:cNvPicPr>
          <p:nvPr/>
        </p:nvPicPr>
        <p:blipFill>
          <a:blip r:embed="rId1"/>
          <a:stretch>
            <a:fillRect/>
          </a:stretch>
        </p:blipFill>
        <p:spPr>
          <a:xfrm>
            <a:off x="4114800" y="1051560"/>
            <a:ext cx="914400" cy="914400"/>
          </a:xfrm>
          <a:prstGeom prst="rect">
            <a:avLst/>
          </a:prstGeom>
        </p:spPr>
      </p:pic>
      <p:sp>
        <p:nvSpPr>
          <p:cNvPr id="7" name="Text 4"/>
          <p:cNvSpPr/>
          <p:nvPr/>
        </p:nvSpPr>
        <p:spPr>
          <a:xfrm>
            <a:off x="1371600" y="2011680"/>
            <a:ext cx="6400800" cy="640080"/>
          </a:xfrm>
          <a:prstGeom prst="rect">
            <a:avLst/>
          </a:prstGeom>
          <a:noFill/>
          <a:ln/>
        </p:spPr>
        <p:txBody>
          <a:bodyPr wrap="square" lIns="0" tIns="0" rIns="0" bIns="0" rtlCol="0" anchor="ctr"/>
          <a:lstStyle/>
          <a:p>
            <a:pPr algn="ctr" indent="0" marL="0">
              <a:buNone/>
            </a:pPr>
            <a:r>
              <a:rPr lang="en-US" sz="2800" dirty="0">
                <a:solidFill>
                  <a:srgbClr val="F8FAFC"/>
                </a:solidFill>
                <a:latin typeface="Arial Black" pitchFamily="34" charset="0"/>
                <a:ea typeface="Arial Black" pitchFamily="34" charset="-122"/>
                <a:cs typeface="Arial Black" pitchFamily="34" charset="-120"/>
              </a:rPr>
              <a:t>Developer Portal</a:t>
            </a:r>
            <a:endParaRPr lang="en-US" sz="2800" dirty="0"/>
          </a:p>
        </p:txBody>
      </p:sp>
      <p:sp>
        <p:nvSpPr>
          <p:cNvPr id="8" name="Text 5"/>
          <p:cNvSpPr/>
          <p:nvPr/>
        </p:nvSpPr>
        <p:spPr>
          <a:xfrm>
            <a:off x="1828800" y="2697480"/>
            <a:ext cx="5486400" cy="548640"/>
          </a:xfrm>
          <a:prstGeom prst="rect">
            <a:avLst/>
          </a:prstGeom>
          <a:noFill/>
          <a:ln/>
        </p:spPr>
        <p:txBody>
          <a:bodyPr wrap="square" lIns="0" tIns="0" rIns="0" bIns="0" rtlCol="0" anchor="ctr"/>
          <a:lstStyle/>
          <a:p>
            <a:pPr algn="ctr" indent="0" marL="0">
              <a:buNone/>
            </a:pPr>
            <a:r>
              <a:rPr lang="en-US" sz="1300" dirty="0">
                <a:solidFill>
                  <a:srgbClr val="94A3B8"/>
                </a:solidFill>
                <a:latin typeface="Calibri" pitchFamily="34" charset="0"/>
                <a:ea typeface="Calibri" pitchFamily="34" charset="-122"/>
                <a:cs typeface="Calibri" pitchFamily="34" charset="-120"/>
              </a:rPr>
              <a:t>Backstage catalog · deploy-service template · Kyverno-compliant output</a:t>
            </a:r>
            <a:endParaRPr lang="en-US" sz="1300" dirty="0"/>
          </a:p>
        </p:txBody>
      </p:sp>
      <p:sp>
        <p:nvSpPr>
          <p:cNvPr id="9" name="Shape 6"/>
          <p:cNvSpPr/>
          <p:nvPr/>
        </p:nvSpPr>
        <p:spPr>
          <a:xfrm>
            <a:off x="3200400" y="4114800"/>
            <a:ext cx="2743200" cy="457200"/>
          </a:xfrm>
          <a:prstGeom prst="rect">
            <a:avLst/>
          </a:prstGeom>
          <a:solidFill>
            <a:srgbClr val="0EA5E9"/>
          </a:solidFill>
          <a:ln/>
          <a:effectLst>
            <a:outerShdw sx="100000" sy="100000" kx="0" ky="0" algn="bl" rotWithShape="0" blurRad="76200" dist="25400" dir="8100000">
              <a:srgbClr val="000000">
                <a:alpha val="35000"/>
              </a:srgbClr>
            </a:outerShdw>
          </a:effectLst>
        </p:spPr>
      </p:sp>
      <p:sp>
        <p:nvSpPr>
          <p:cNvPr id="10" name="Text 7"/>
          <p:cNvSpPr/>
          <p:nvPr/>
        </p:nvSpPr>
        <p:spPr>
          <a:xfrm>
            <a:off x="3200400" y="4114800"/>
            <a:ext cx="2743200" cy="457200"/>
          </a:xfrm>
          <a:prstGeom prst="rect">
            <a:avLst/>
          </a:prstGeom>
          <a:noFill/>
          <a:ln/>
        </p:spPr>
        <p:txBody>
          <a:bodyPr wrap="square" lIns="0" tIns="0" rIns="0" bIns="0" rtlCol="0" anchor="ctr"/>
          <a:lstStyle/>
          <a:p>
            <a:pPr algn="ctr" indent="0" marL="0">
              <a:buNone/>
            </a:pPr>
            <a:r>
              <a:rPr lang="en-US" sz="1600" dirty="0">
                <a:solidFill>
                  <a:srgbClr val="F8FAFC"/>
                </a:solidFill>
                <a:latin typeface="Arial Black" pitchFamily="34" charset="0"/>
                <a:ea typeface="Arial Black" pitchFamily="34" charset="-122"/>
                <a:cs typeface="Arial Black" pitchFamily="34" charset="-120"/>
              </a:rPr>
              <a:t>LIVE DEMO</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22C55E"/>
          </a:solidFill>
          <a:ln/>
        </p:spPr>
      </p:sp>
      <p:sp>
        <p:nvSpPr>
          <p:cNvPr id="3" name="Text 1"/>
          <p:cNvSpPr/>
          <p:nvPr/>
        </p:nvSpPr>
        <p:spPr>
          <a:xfrm>
            <a:off x="365760" y="4773168"/>
            <a:ext cx="4572000" cy="228600"/>
          </a:xfrm>
          <a:prstGeom prst="rect">
            <a:avLst/>
          </a:prstGeom>
          <a:noFill/>
          <a:ln/>
        </p:spPr>
        <p:txBody>
          <a:bodyPr wrap="square" rtlCol="0" anchor="ctr"/>
          <a:lstStyle/>
          <a:p>
            <a:pPr indent="0" marL="0">
              <a:buNone/>
            </a:pPr>
            <a:r>
              <a:rPr lang="en-US" sz="700" dirty="0">
                <a:solidFill>
                  <a:srgbClr val="64748B"/>
                </a:solidFill>
                <a:latin typeface="Calibri" pitchFamily="34" charset="0"/>
                <a:ea typeface="Calibri" pitchFamily="34" charset="-122"/>
                <a:cs typeface="Calibri" pitchFamily="34" charset="-120"/>
              </a:rPr>
              <a:t>KubeAuto AI Day Europe 2026</a:t>
            </a:r>
            <a:endParaRPr lang="en-US" sz="700" dirty="0"/>
          </a:p>
        </p:txBody>
      </p:sp>
      <p:sp>
        <p:nvSpPr>
          <p:cNvPr id="4" name="Text 2"/>
          <p:cNvSpPr/>
          <p:nvPr/>
        </p:nvSpPr>
        <p:spPr>
          <a:xfrm>
            <a:off x="7863840" y="4773168"/>
            <a:ext cx="914400" cy="228600"/>
          </a:xfrm>
          <a:prstGeom prst="rect">
            <a:avLst/>
          </a:prstGeom>
          <a:noFill/>
          <a:ln/>
        </p:spPr>
        <p:txBody>
          <a:bodyPr wrap="square" rtlCol="0" anchor="ctr"/>
          <a:lstStyle/>
          <a:p>
            <a:pPr algn="r" indent="0" marL="0">
              <a:buNone/>
            </a:pPr>
            <a:r>
              <a:rPr lang="en-US" sz="700" dirty="0">
                <a:solidFill>
                  <a:srgbClr val="64748B"/>
                </a:solidFill>
                <a:latin typeface="Calibri" pitchFamily="34" charset="0"/>
                <a:ea typeface="Calibri" pitchFamily="34" charset="-122"/>
                <a:cs typeface="Calibri" pitchFamily="34" charset="-120"/>
              </a:rPr>
              <a:t>11/21</a:t>
            </a:r>
            <a:endParaRPr lang="en-US" sz="700" dirty="0"/>
          </a:p>
        </p:txBody>
      </p:sp>
      <p:sp>
        <p:nvSpPr>
          <p:cNvPr id="5" name="Text 3"/>
          <p:cNvSpPr/>
          <p:nvPr/>
        </p:nvSpPr>
        <p:spPr>
          <a:xfrm>
            <a:off x="457200" y="228600"/>
            <a:ext cx="8229600" cy="548640"/>
          </a:xfrm>
          <a:prstGeom prst="rect">
            <a:avLst/>
          </a:prstGeom>
          <a:noFill/>
          <a:ln/>
        </p:spPr>
        <p:txBody>
          <a:bodyPr wrap="square" lIns="0" tIns="0" rIns="0" bIns="0" rtlCol="0" anchor="ctr"/>
          <a:lstStyle/>
          <a:p>
            <a:pPr indent="0" marL="0">
              <a:buNone/>
            </a:pPr>
            <a:r>
              <a:rPr lang="en-US" sz="2600" dirty="0">
                <a:solidFill>
                  <a:srgbClr val="F8FAFC"/>
                </a:solidFill>
                <a:latin typeface="Arial Black" pitchFamily="34" charset="0"/>
                <a:ea typeface="Arial Black" pitchFamily="34" charset="-122"/>
                <a:cs typeface="Arial Black" pitchFamily="34" charset="-120"/>
              </a:rPr>
              <a:t>The METR Devs Guessed. I Measured.</a:t>
            </a:r>
            <a:endParaRPr lang="en-US" sz="2600" dirty="0"/>
          </a:p>
        </p:txBody>
      </p:sp>
      <p:sp>
        <p:nvSpPr>
          <p:cNvPr id="6" name="Shape 4"/>
          <p:cNvSpPr/>
          <p:nvPr/>
        </p:nvSpPr>
        <p:spPr>
          <a:xfrm>
            <a:off x="365760" y="1005840"/>
            <a:ext cx="3931920" cy="3291840"/>
          </a:xfrm>
          <a:prstGeom prst="rect">
            <a:avLst/>
          </a:prstGeom>
          <a:solidFill>
            <a:srgbClr val="151E30"/>
          </a:solidFill>
          <a:ln/>
          <a:effectLst>
            <a:outerShdw sx="100000" sy="100000" kx="0" ky="0" algn="bl" rotWithShape="0" blurRad="76200" dist="25400" dir="8100000">
              <a:srgbClr val="000000">
                <a:alpha val="35000"/>
              </a:srgbClr>
            </a:outerShdw>
          </a:effectLst>
        </p:spPr>
      </p:sp>
      <p:sp>
        <p:nvSpPr>
          <p:cNvPr id="7" name="Shape 5"/>
          <p:cNvSpPr/>
          <p:nvPr/>
        </p:nvSpPr>
        <p:spPr>
          <a:xfrm>
            <a:off x="365760" y="1005840"/>
            <a:ext cx="3931920" cy="45720"/>
          </a:xfrm>
          <a:prstGeom prst="rect">
            <a:avLst/>
          </a:prstGeom>
          <a:solidFill>
            <a:srgbClr val="EF4444"/>
          </a:solidFill>
          <a:ln/>
        </p:spPr>
      </p:sp>
      <p:sp>
        <p:nvSpPr>
          <p:cNvPr id="8" name="Text 6"/>
          <p:cNvSpPr/>
          <p:nvPr/>
        </p:nvSpPr>
        <p:spPr>
          <a:xfrm>
            <a:off x="548640" y="1143000"/>
            <a:ext cx="3657600" cy="365760"/>
          </a:xfrm>
          <a:prstGeom prst="rect">
            <a:avLst/>
          </a:prstGeom>
          <a:noFill/>
          <a:ln/>
        </p:spPr>
        <p:txBody>
          <a:bodyPr wrap="square" lIns="0" tIns="0" rIns="0" bIns="0" rtlCol="0" anchor="ctr"/>
          <a:lstStyle/>
          <a:p>
            <a:pPr indent="0" marL="0">
              <a:buNone/>
            </a:pPr>
            <a:r>
              <a:rPr lang="en-US" sz="1400" b="1" dirty="0">
                <a:solidFill>
                  <a:srgbClr val="EF4444"/>
                </a:solidFill>
                <a:latin typeface="Calibri" pitchFamily="34" charset="0"/>
                <a:ea typeface="Calibri" pitchFamily="34" charset="-122"/>
                <a:cs typeface="Calibri" pitchFamily="34" charset="-120"/>
              </a:rPr>
              <a:t>METR Study (early 2025)</a:t>
            </a:r>
            <a:endParaRPr lang="en-US" sz="1400" dirty="0"/>
          </a:p>
        </p:txBody>
      </p:sp>
      <p:sp>
        <p:nvSpPr>
          <p:cNvPr id="9" name="Text 7"/>
          <p:cNvSpPr/>
          <p:nvPr/>
        </p:nvSpPr>
        <p:spPr>
          <a:xfrm>
            <a:off x="548640" y="1600200"/>
            <a:ext cx="1371600" cy="274320"/>
          </a:xfrm>
          <a:prstGeom prst="rect">
            <a:avLst/>
          </a:prstGeom>
          <a:noFill/>
          <a:ln/>
        </p:spPr>
        <p:txBody>
          <a:bodyPr wrap="square" lIns="0" tIns="0" rIns="0" bIns="0" rtlCol="0" anchor="ctr"/>
          <a:lstStyle/>
          <a:p>
            <a:pPr indent="0" marL="0">
              <a:buNone/>
            </a:pPr>
            <a:r>
              <a:rPr lang="en-US" sz="1200" b="1" dirty="0">
                <a:solidFill>
                  <a:srgbClr val="CBD5E1"/>
                </a:solidFill>
                <a:latin typeface="Calibri" pitchFamily="34" charset="0"/>
                <a:ea typeface="Calibri" pitchFamily="34" charset="-122"/>
                <a:cs typeface="Calibri" pitchFamily="34" charset="-120"/>
              </a:rPr>
              <a:t>Believed:</a:t>
            </a:r>
            <a:endParaRPr lang="en-US" sz="1200" dirty="0"/>
          </a:p>
        </p:txBody>
      </p:sp>
      <p:sp>
        <p:nvSpPr>
          <p:cNvPr id="10" name="Text 8"/>
          <p:cNvSpPr/>
          <p:nvPr/>
        </p:nvSpPr>
        <p:spPr>
          <a:xfrm>
            <a:off x="1828800" y="1554480"/>
            <a:ext cx="2286000" cy="365760"/>
          </a:xfrm>
          <a:prstGeom prst="rect">
            <a:avLst/>
          </a:prstGeom>
          <a:noFill/>
          <a:ln/>
        </p:spPr>
        <p:txBody>
          <a:bodyPr wrap="square" lIns="0" tIns="0" rIns="0" bIns="0" rtlCol="0" anchor="ctr"/>
          <a:lstStyle/>
          <a:p>
            <a:pPr indent="0" marL="0">
              <a:buNone/>
            </a:pPr>
            <a:r>
              <a:rPr lang="en-US" sz="2000" dirty="0">
                <a:solidFill>
                  <a:srgbClr val="22C55E"/>
                </a:solidFill>
                <a:latin typeface="Arial Black" pitchFamily="34" charset="0"/>
                <a:ea typeface="Arial Black" pitchFamily="34" charset="-122"/>
                <a:cs typeface="Arial Black" pitchFamily="34" charset="-120"/>
              </a:rPr>
              <a:t>+20% faster</a:t>
            </a:r>
            <a:endParaRPr lang="en-US" sz="2000" dirty="0"/>
          </a:p>
        </p:txBody>
      </p:sp>
      <p:sp>
        <p:nvSpPr>
          <p:cNvPr id="11" name="Text 9"/>
          <p:cNvSpPr/>
          <p:nvPr/>
        </p:nvSpPr>
        <p:spPr>
          <a:xfrm>
            <a:off x="548640" y="2011680"/>
            <a:ext cx="1371600" cy="274320"/>
          </a:xfrm>
          <a:prstGeom prst="rect">
            <a:avLst/>
          </a:prstGeom>
          <a:noFill/>
          <a:ln/>
        </p:spPr>
        <p:txBody>
          <a:bodyPr wrap="square" lIns="0" tIns="0" rIns="0" bIns="0" rtlCol="0" anchor="ctr"/>
          <a:lstStyle/>
          <a:p>
            <a:pPr indent="0" marL="0">
              <a:buNone/>
            </a:pPr>
            <a:r>
              <a:rPr lang="en-US" sz="1200" b="1" dirty="0">
                <a:solidFill>
                  <a:srgbClr val="CBD5E1"/>
                </a:solidFill>
                <a:latin typeface="Calibri" pitchFamily="34" charset="0"/>
                <a:ea typeface="Calibri" pitchFamily="34" charset="-122"/>
                <a:cs typeface="Calibri" pitchFamily="34" charset="-120"/>
              </a:rPr>
              <a:t>Actual:</a:t>
            </a:r>
            <a:endParaRPr lang="en-US" sz="1200" dirty="0"/>
          </a:p>
        </p:txBody>
      </p:sp>
      <p:sp>
        <p:nvSpPr>
          <p:cNvPr id="12" name="Text 10"/>
          <p:cNvSpPr/>
          <p:nvPr/>
        </p:nvSpPr>
        <p:spPr>
          <a:xfrm>
            <a:off x="1828800" y="1965960"/>
            <a:ext cx="2286000" cy="365760"/>
          </a:xfrm>
          <a:prstGeom prst="rect">
            <a:avLst/>
          </a:prstGeom>
          <a:noFill/>
          <a:ln/>
        </p:spPr>
        <p:txBody>
          <a:bodyPr wrap="square" lIns="0" tIns="0" rIns="0" bIns="0" rtlCol="0" anchor="ctr"/>
          <a:lstStyle/>
          <a:p>
            <a:pPr indent="0" marL="0">
              <a:buNone/>
            </a:pPr>
            <a:r>
              <a:rPr lang="en-US" sz="2000" dirty="0">
                <a:solidFill>
                  <a:srgbClr val="EF4444"/>
                </a:solidFill>
                <a:latin typeface="Arial Black" pitchFamily="34" charset="0"/>
                <a:ea typeface="Arial Black" pitchFamily="34" charset="-122"/>
                <a:cs typeface="Arial Black" pitchFamily="34" charset="-120"/>
              </a:rPr>
              <a:t>19% slower</a:t>
            </a:r>
            <a:endParaRPr lang="en-US" sz="2000" dirty="0"/>
          </a:p>
        </p:txBody>
      </p:sp>
      <p:sp>
        <p:nvSpPr>
          <p:cNvPr id="13" name="Text 11"/>
          <p:cNvSpPr/>
          <p:nvPr/>
        </p:nvSpPr>
        <p:spPr>
          <a:xfrm>
            <a:off x="548640" y="2514600"/>
            <a:ext cx="1371600" cy="274320"/>
          </a:xfrm>
          <a:prstGeom prst="rect">
            <a:avLst/>
          </a:prstGeom>
          <a:noFill/>
          <a:ln/>
        </p:spPr>
        <p:txBody>
          <a:bodyPr wrap="square" lIns="0" tIns="0" rIns="0" bIns="0" rtlCol="0" anchor="ctr"/>
          <a:lstStyle/>
          <a:p>
            <a:pPr indent="0" marL="0">
              <a:buNone/>
            </a:pPr>
            <a:r>
              <a:rPr lang="en-US" sz="1200" b="1" dirty="0">
                <a:solidFill>
                  <a:srgbClr val="CBD5E1"/>
                </a:solidFill>
                <a:latin typeface="Calibri" pitchFamily="34" charset="0"/>
                <a:ea typeface="Calibri" pitchFamily="34" charset="-122"/>
                <a:cs typeface="Calibri" pitchFamily="34" charset="-120"/>
              </a:rPr>
              <a:t>Method:</a:t>
            </a:r>
            <a:endParaRPr lang="en-US" sz="1200" dirty="0"/>
          </a:p>
        </p:txBody>
      </p:sp>
      <p:sp>
        <p:nvSpPr>
          <p:cNvPr id="14" name="Text 12"/>
          <p:cNvSpPr/>
          <p:nvPr/>
        </p:nvSpPr>
        <p:spPr>
          <a:xfrm>
            <a:off x="1828800" y="2468880"/>
            <a:ext cx="2286000" cy="365760"/>
          </a:xfrm>
          <a:prstGeom prst="rect">
            <a:avLst/>
          </a:prstGeom>
          <a:noFill/>
          <a:ln/>
        </p:spPr>
        <p:txBody>
          <a:bodyPr wrap="square" lIns="0" tIns="0" rIns="0" bIns="0" rtlCol="0" anchor="ctr"/>
          <a:lstStyle/>
          <a:p>
            <a:pPr indent="0" marL="0">
              <a:buNone/>
            </a:pPr>
            <a:r>
              <a:rPr lang="en-US" sz="1400" dirty="0">
                <a:solidFill>
                  <a:srgbClr val="CBD5E1"/>
                </a:solidFill>
                <a:latin typeface="Calibri" pitchFamily="34" charset="0"/>
                <a:ea typeface="Calibri" pitchFamily="34" charset="-122"/>
                <a:cs typeface="Calibri" pitchFamily="34" charset="-120"/>
              </a:rPr>
              <a:t>Self-reported time</a:t>
            </a:r>
            <a:endParaRPr lang="en-US" sz="1400" dirty="0"/>
          </a:p>
        </p:txBody>
      </p:sp>
      <p:sp>
        <p:nvSpPr>
          <p:cNvPr id="15" name="Text 13"/>
          <p:cNvSpPr/>
          <p:nvPr/>
        </p:nvSpPr>
        <p:spPr>
          <a:xfrm>
            <a:off x="548640" y="2926080"/>
            <a:ext cx="1371600" cy="274320"/>
          </a:xfrm>
          <a:prstGeom prst="rect">
            <a:avLst/>
          </a:prstGeom>
          <a:noFill/>
          <a:ln/>
        </p:spPr>
        <p:txBody>
          <a:bodyPr wrap="square" lIns="0" tIns="0" rIns="0" bIns="0" rtlCol="0" anchor="ctr"/>
          <a:lstStyle/>
          <a:p>
            <a:pPr indent="0" marL="0">
              <a:buNone/>
            </a:pPr>
            <a:r>
              <a:rPr lang="en-US" sz="1200" b="1" dirty="0">
                <a:solidFill>
                  <a:srgbClr val="CBD5E1"/>
                </a:solidFill>
                <a:latin typeface="Calibri" pitchFamily="34" charset="0"/>
                <a:ea typeface="Calibri" pitchFamily="34" charset="-122"/>
                <a:cs typeface="Calibri" pitchFamily="34" charset="-120"/>
              </a:rPr>
              <a:t>Constraints:</a:t>
            </a:r>
            <a:endParaRPr lang="en-US" sz="1200" dirty="0"/>
          </a:p>
        </p:txBody>
      </p:sp>
      <p:sp>
        <p:nvSpPr>
          <p:cNvPr id="16" name="Text 14"/>
          <p:cNvSpPr/>
          <p:nvPr/>
        </p:nvSpPr>
        <p:spPr>
          <a:xfrm>
            <a:off x="1828800" y="2880360"/>
            <a:ext cx="2286000" cy="457200"/>
          </a:xfrm>
          <a:prstGeom prst="rect">
            <a:avLst/>
          </a:prstGeom>
          <a:noFill/>
          <a:ln/>
        </p:spPr>
        <p:txBody>
          <a:bodyPr wrap="square" lIns="0" tIns="0" rIns="0" bIns="0" rtlCol="0" anchor="ctr"/>
          <a:lstStyle/>
          <a:p>
            <a:pPr indent="0" marL="0">
              <a:buNone/>
            </a:pPr>
            <a:r>
              <a:rPr lang="en-US" sz="1400" dirty="0">
                <a:solidFill>
                  <a:srgbClr val="CBD5E1"/>
                </a:solidFill>
                <a:latin typeface="Calibri" pitchFamily="34" charset="0"/>
                <a:ea typeface="Calibri" pitchFamily="34" charset="-122"/>
                <a:cs typeface="Calibri" pitchFamily="34" charset="-120"/>
              </a:rPr>
              <a:t>None — use AI however</a:t>
            </a:r>
            <a:endParaRPr lang="en-US" sz="1400" dirty="0"/>
          </a:p>
          <a:p>
            <a:pPr indent="0" marL="0">
              <a:buNone/>
            </a:pPr>
            <a:r>
              <a:rPr lang="en-US" sz="1400" dirty="0">
                <a:solidFill>
                  <a:srgbClr val="CBD5E1"/>
                </a:solidFill>
                <a:latin typeface="Calibri" pitchFamily="34" charset="0"/>
                <a:ea typeface="Calibri" pitchFamily="34" charset="-122"/>
                <a:cs typeface="Calibri" pitchFamily="34" charset="-120"/>
              </a:rPr>
              <a:t>you want</a:t>
            </a:r>
            <a:endParaRPr lang="en-US" sz="1400" dirty="0"/>
          </a:p>
        </p:txBody>
      </p:sp>
      <p:sp>
        <p:nvSpPr>
          <p:cNvPr id="17" name="Text 15"/>
          <p:cNvSpPr/>
          <p:nvPr/>
        </p:nvSpPr>
        <p:spPr>
          <a:xfrm>
            <a:off x="548640" y="3520440"/>
            <a:ext cx="35661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AI used as autocomplete</a:t>
            </a:r>
            <a:endParaRPr lang="en-US" sz="1200" dirty="0"/>
          </a:p>
        </p:txBody>
      </p:sp>
      <p:sp>
        <p:nvSpPr>
          <p:cNvPr id="18" name="Shape 16"/>
          <p:cNvSpPr/>
          <p:nvPr/>
        </p:nvSpPr>
        <p:spPr>
          <a:xfrm>
            <a:off x="4846320" y="1005840"/>
            <a:ext cx="3931920" cy="3291840"/>
          </a:xfrm>
          <a:prstGeom prst="rect">
            <a:avLst/>
          </a:prstGeom>
          <a:solidFill>
            <a:srgbClr val="151E30"/>
          </a:solidFill>
          <a:ln/>
          <a:effectLst>
            <a:outerShdw sx="100000" sy="100000" kx="0" ky="0" algn="bl" rotWithShape="0" blurRad="76200" dist="25400" dir="8100000">
              <a:srgbClr val="000000">
                <a:alpha val="35000"/>
              </a:srgbClr>
            </a:outerShdw>
          </a:effectLst>
        </p:spPr>
      </p:sp>
      <p:sp>
        <p:nvSpPr>
          <p:cNvPr id="19" name="Shape 17"/>
          <p:cNvSpPr/>
          <p:nvPr/>
        </p:nvSpPr>
        <p:spPr>
          <a:xfrm>
            <a:off x="4846320" y="1005840"/>
            <a:ext cx="3931920" cy="45720"/>
          </a:xfrm>
          <a:prstGeom prst="rect">
            <a:avLst/>
          </a:prstGeom>
          <a:solidFill>
            <a:srgbClr val="22C55E"/>
          </a:solidFill>
          <a:ln/>
        </p:spPr>
      </p:sp>
      <p:sp>
        <p:nvSpPr>
          <p:cNvPr id="20" name="Text 18"/>
          <p:cNvSpPr/>
          <p:nvPr/>
        </p:nvSpPr>
        <p:spPr>
          <a:xfrm>
            <a:off x="5029200" y="1143000"/>
            <a:ext cx="3657600" cy="365760"/>
          </a:xfrm>
          <a:prstGeom prst="rect">
            <a:avLst/>
          </a:prstGeom>
          <a:noFill/>
          <a:ln/>
        </p:spPr>
        <p:txBody>
          <a:bodyPr wrap="square" lIns="0" tIns="0" rIns="0" bIns="0" rtlCol="0" anchor="ctr"/>
          <a:lstStyle/>
          <a:p>
            <a:pPr indent="0" marL="0">
              <a:buNone/>
            </a:pPr>
            <a:r>
              <a:rPr lang="en-US" sz="1400" b="1" dirty="0">
                <a:solidFill>
                  <a:srgbClr val="22C55E"/>
                </a:solidFill>
                <a:latin typeface="Calibri" pitchFamily="34" charset="0"/>
                <a:ea typeface="Calibri" pitchFamily="34" charset="-122"/>
                <a:cs typeface="Calibri" pitchFamily="34" charset="-120"/>
              </a:rPr>
              <a:t>This Experiment (2026)</a:t>
            </a:r>
            <a:endParaRPr lang="en-US" sz="1400" dirty="0"/>
          </a:p>
        </p:txBody>
      </p:sp>
      <p:sp>
        <p:nvSpPr>
          <p:cNvPr id="21" name="Text 19"/>
          <p:cNvSpPr/>
          <p:nvPr/>
        </p:nvSpPr>
        <p:spPr>
          <a:xfrm>
            <a:off x="5029200" y="1600200"/>
            <a:ext cx="1188720" cy="274320"/>
          </a:xfrm>
          <a:prstGeom prst="rect">
            <a:avLst/>
          </a:prstGeom>
          <a:noFill/>
          <a:ln/>
        </p:spPr>
        <p:txBody>
          <a:bodyPr wrap="square" lIns="0" tIns="0" rIns="0" bIns="0" rtlCol="0" anchor="ctr"/>
          <a:lstStyle/>
          <a:p>
            <a:pPr indent="0" marL="0">
              <a:buNone/>
            </a:pPr>
            <a:r>
              <a:rPr lang="en-US" sz="1200" b="1" dirty="0">
                <a:solidFill>
                  <a:srgbClr val="CBD5E1"/>
                </a:solidFill>
                <a:latin typeface="Calibri" pitchFamily="34" charset="0"/>
                <a:ea typeface="Calibri" pitchFamily="34" charset="-122"/>
                <a:cs typeface="Calibri" pitchFamily="34" charset="-120"/>
              </a:rPr>
              <a:t>Measured:</a:t>
            </a:r>
            <a:endParaRPr lang="en-US" sz="1200" dirty="0"/>
          </a:p>
        </p:txBody>
      </p:sp>
      <p:sp>
        <p:nvSpPr>
          <p:cNvPr id="22" name="Text 20"/>
          <p:cNvSpPr/>
          <p:nvPr/>
        </p:nvSpPr>
        <p:spPr>
          <a:xfrm>
            <a:off x="6217920" y="1463040"/>
            <a:ext cx="2377440" cy="548640"/>
          </a:xfrm>
          <a:prstGeom prst="rect">
            <a:avLst/>
          </a:prstGeom>
          <a:noFill/>
          <a:ln/>
        </p:spPr>
        <p:txBody>
          <a:bodyPr wrap="square" lIns="0" tIns="0" rIns="0" bIns="0" rtlCol="0" anchor="ctr"/>
          <a:lstStyle/>
          <a:p>
            <a:pPr indent="0" marL="0">
              <a:buNone/>
            </a:pPr>
            <a:r>
              <a:rPr lang="en-US" sz="2000" dirty="0">
                <a:solidFill>
                  <a:srgbClr val="22C55E"/>
                </a:solidFill>
                <a:latin typeface="Arial Black" pitchFamily="34" charset="0"/>
                <a:ea typeface="Arial Black" pitchFamily="34" charset="-122"/>
                <a:cs typeface="Arial Black" pitchFamily="34" charset="-120"/>
              </a:rPr>
              <a:t>73.8% toil</a:t>
            </a:r>
            <a:endParaRPr lang="en-US" sz="2000" dirty="0"/>
          </a:p>
          <a:p>
            <a:pPr indent="0" marL="0">
              <a:buNone/>
            </a:pPr>
            <a:r>
              <a:rPr lang="en-US" sz="2000" dirty="0">
                <a:solidFill>
                  <a:srgbClr val="22C55E"/>
                </a:solidFill>
                <a:latin typeface="Arial Black" pitchFamily="34" charset="0"/>
                <a:ea typeface="Arial Black" pitchFamily="34" charset="-122"/>
                <a:cs typeface="Arial Black" pitchFamily="34" charset="-120"/>
              </a:rPr>
              <a:t>reduction</a:t>
            </a:r>
            <a:endParaRPr lang="en-US" sz="2000" dirty="0"/>
          </a:p>
        </p:txBody>
      </p:sp>
      <p:sp>
        <p:nvSpPr>
          <p:cNvPr id="23" name="Text 21"/>
          <p:cNvSpPr/>
          <p:nvPr/>
        </p:nvSpPr>
        <p:spPr>
          <a:xfrm>
            <a:off x="5029200" y="2057400"/>
            <a:ext cx="1188720" cy="274320"/>
          </a:xfrm>
          <a:prstGeom prst="rect">
            <a:avLst/>
          </a:prstGeom>
          <a:noFill/>
          <a:ln/>
        </p:spPr>
        <p:txBody>
          <a:bodyPr wrap="square" lIns="0" tIns="0" rIns="0" bIns="0" rtlCol="0" anchor="ctr"/>
          <a:lstStyle/>
          <a:p>
            <a:pPr indent="0" marL="0">
              <a:buNone/>
            </a:pPr>
            <a:r>
              <a:rPr lang="en-US" sz="1200" b="1" dirty="0">
                <a:solidFill>
                  <a:srgbClr val="CBD5E1"/>
                </a:solidFill>
                <a:latin typeface="Calibri" pitchFamily="34" charset="0"/>
                <a:ea typeface="Calibri" pitchFamily="34" charset="-122"/>
                <a:cs typeface="Calibri" pitchFamily="34" charset="-120"/>
              </a:rPr>
              <a:t>Build:</a:t>
            </a:r>
            <a:endParaRPr lang="en-US" sz="1200" dirty="0"/>
          </a:p>
        </p:txBody>
      </p:sp>
      <p:sp>
        <p:nvSpPr>
          <p:cNvPr id="24" name="Text 22"/>
          <p:cNvSpPr/>
          <p:nvPr/>
        </p:nvSpPr>
        <p:spPr>
          <a:xfrm>
            <a:off x="6217920" y="2011680"/>
            <a:ext cx="2377440" cy="365760"/>
          </a:xfrm>
          <a:prstGeom prst="rect">
            <a:avLst/>
          </a:prstGeom>
          <a:noFill/>
          <a:ln/>
        </p:spPr>
        <p:txBody>
          <a:bodyPr wrap="square" lIns="0" tIns="0" rIns="0" bIns="0" rtlCol="0" anchor="ctr"/>
          <a:lstStyle/>
          <a:p>
            <a:pPr indent="0" marL="0">
              <a:buNone/>
            </a:pPr>
            <a:r>
              <a:rPr lang="en-US" sz="1400" dirty="0">
                <a:solidFill>
                  <a:srgbClr val="0EA5E9"/>
                </a:solidFill>
                <a:latin typeface="Arial Black" pitchFamily="34" charset="0"/>
                <a:ea typeface="Arial Black" pitchFamily="34" charset="-122"/>
                <a:cs typeface="Arial Black" pitchFamily="34" charset="-120"/>
              </a:rPr>
              <a:t>3:10 AI vs 12:08 manual</a:t>
            </a:r>
            <a:endParaRPr lang="en-US" sz="1400" dirty="0"/>
          </a:p>
        </p:txBody>
      </p:sp>
      <p:sp>
        <p:nvSpPr>
          <p:cNvPr id="25" name="Text 23"/>
          <p:cNvSpPr/>
          <p:nvPr/>
        </p:nvSpPr>
        <p:spPr>
          <a:xfrm>
            <a:off x="5029200" y="2514600"/>
            <a:ext cx="1188720" cy="274320"/>
          </a:xfrm>
          <a:prstGeom prst="rect">
            <a:avLst/>
          </a:prstGeom>
          <a:noFill/>
          <a:ln/>
        </p:spPr>
        <p:txBody>
          <a:bodyPr wrap="square" lIns="0" tIns="0" rIns="0" bIns="0" rtlCol="0" anchor="ctr"/>
          <a:lstStyle/>
          <a:p>
            <a:pPr indent="0" marL="0">
              <a:buNone/>
            </a:pPr>
            <a:r>
              <a:rPr lang="en-US" sz="1200" b="1" dirty="0">
                <a:solidFill>
                  <a:srgbClr val="CBD5E1"/>
                </a:solidFill>
                <a:latin typeface="Calibri" pitchFamily="34" charset="0"/>
                <a:ea typeface="Calibri" pitchFamily="34" charset="-122"/>
                <a:cs typeface="Calibri" pitchFamily="34" charset="-120"/>
              </a:rPr>
              <a:t>Method:</a:t>
            </a:r>
            <a:endParaRPr lang="en-US" sz="1200" dirty="0"/>
          </a:p>
        </p:txBody>
      </p:sp>
      <p:sp>
        <p:nvSpPr>
          <p:cNvPr id="26" name="Text 24"/>
          <p:cNvSpPr/>
          <p:nvPr/>
        </p:nvSpPr>
        <p:spPr>
          <a:xfrm>
            <a:off x="6217920" y="2468880"/>
            <a:ext cx="2377440" cy="457200"/>
          </a:xfrm>
          <a:prstGeom prst="rect">
            <a:avLst/>
          </a:prstGeom>
          <a:noFill/>
          <a:ln/>
        </p:spPr>
        <p:txBody>
          <a:bodyPr wrap="square" lIns="0" tIns="0" rIns="0" bIns="0" rtlCol="0" anchor="ctr"/>
          <a:lstStyle/>
          <a:p>
            <a:pPr indent="0" marL="0">
              <a:buNone/>
            </a:pPr>
            <a:r>
              <a:rPr lang="en-US" sz="1400" dirty="0">
                <a:solidFill>
                  <a:srgbClr val="CBD5E1"/>
                </a:solidFill>
                <a:latin typeface="Calibri" pitchFamily="34" charset="0"/>
                <a:ea typeface="Calibri" pitchFamily="34" charset="-122"/>
                <a:cs typeface="Calibri" pitchFamily="34" charset="-120"/>
              </a:rPr>
              <a:t>TDD + per-component</a:t>
            </a:r>
            <a:endParaRPr lang="en-US" sz="1400" dirty="0"/>
          </a:p>
          <a:p>
            <a:pPr indent="0" marL="0">
              <a:buNone/>
            </a:pPr>
            <a:r>
              <a:rPr lang="en-US" sz="1400" dirty="0">
                <a:solidFill>
                  <a:srgbClr val="CBD5E1"/>
                </a:solidFill>
                <a:latin typeface="Calibri" pitchFamily="34" charset="0"/>
                <a:ea typeface="Calibri" pitchFamily="34" charset="-122"/>
                <a:cs typeface="Calibri" pitchFamily="34" charset="-120"/>
              </a:rPr>
              <a:t>scorecard</a:t>
            </a:r>
            <a:endParaRPr lang="en-US" sz="1400" dirty="0"/>
          </a:p>
        </p:txBody>
      </p:sp>
      <p:sp>
        <p:nvSpPr>
          <p:cNvPr id="27" name="Text 25"/>
          <p:cNvSpPr/>
          <p:nvPr/>
        </p:nvSpPr>
        <p:spPr>
          <a:xfrm>
            <a:off x="5029200" y="2926080"/>
            <a:ext cx="1188720" cy="274320"/>
          </a:xfrm>
          <a:prstGeom prst="rect">
            <a:avLst/>
          </a:prstGeom>
          <a:noFill/>
          <a:ln/>
        </p:spPr>
        <p:txBody>
          <a:bodyPr wrap="square" lIns="0" tIns="0" rIns="0" bIns="0" rtlCol="0" anchor="ctr"/>
          <a:lstStyle/>
          <a:p>
            <a:pPr indent="0" marL="0">
              <a:buNone/>
            </a:pPr>
            <a:r>
              <a:rPr lang="en-US" sz="1200" b="1" dirty="0">
                <a:solidFill>
                  <a:srgbClr val="CBD5E1"/>
                </a:solidFill>
                <a:latin typeface="Calibri" pitchFamily="34" charset="0"/>
                <a:ea typeface="Calibri" pitchFamily="34" charset="-122"/>
                <a:cs typeface="Calibri" pitchFamily="34" charset="-120"/>
              </a:rPr>
              <a:t>Constraints:</a:t>
            </a:r>
            <a:endParaRPr lang="en-US" sz="1200" dirty="0"/>
          </a:p>
        </p:txBody>
      </p:sp>
      <p:sp>
        <p:nvSpPr>
          <p:cNvPr id="28" name="Text 26"/>
          <p:cNvSpPr/>
          <p:nvPr/>
        </p:nvSpPr>
        <p:spPr>
          <a:xfrm>
            <a:off x="6217920" y="2880360"/>
            <a:ext cx="2377440" cy="457200"/>
          </a:xfrm>
          <a:prstGeom prst="rect">
            <a:avLst/>
          </a:prstGeom>
          <a:noFill/>
          <a:ln/>
        </p:spPr>
        <p:txBody>
          <a:bodyPr wrap="square" lIns="0" tIns="0" rIns="0" bIns="0" rtlCol="0" anchor="ctr"/>
          <a:lstStyle/>
          <a:p>
            <a:pPr indent="0" marL="0">
              <a:buNone/>
            </a:pPr>
            <a:r>
              <a:rPr lang="en-US" sz="1400" dirty="0">
                <a:solidFill>
                  <a:srgbClr val="CBD5E1"/>
                </a:solidFill>
                <a:latin typeface="Calibri" pitchFamily="34" charset="0"/>
                <a:ea typeface="Calibri" pitchFamily="34" charset="-122"/>
                <a:cs typeface="Calibri" pitchFamily="34" charset="-120"/>
              </a:rPr>
              <a:t>Skill files + pinned versions</a:t>
            </a:r>
            <a:endParaRPr lang="en-US" sz="1400" dirty="0"/>
          </a:p>
          <a:p>
            <a:pPr indent="0" marL="0">
              <a:buNone/>
            </a:pPr>
            <a:r>
              <a:rPr lang="en-US" sz="1400" dirty="0">
                <a:solidFill>
                  <a:srgbClr val="CBD5E1"/>
                </a:solidFill>
                <a:latin typeface="Calibri" pitchFamily="34" charset="0"/>
                <a:ea typeface="Calibri" pitchFamily="34" charset="-122"/>
                <a:cs typeface="Calibri" pitchFamily="34" charset="-120"/>
              </a:rPr>
              <a:t>+ TDD + guardrails</a:t>
            </a:r>
            <a:endParaRPr lang="en-US" sz="1400" dirty="0"/>
          </a:p>
        </p:txBody>
      </p:sp>
      <p:sp>
        <p:nvSpPr>
          <p:cNvPr id="29" name="Text 27"/>
          <p:cNvSpPr/>
          <p:nvPr/>
        </p:nvSpPr>
        <p:spPr>
          <a:xfrm>
            <a:off x="5029200" y="3520440"/>
            <a:ext cx="3566160" cy="457200"/>
          </a:xfrm>
          <a:prstGeom prst="rect">
            <a:avLst/>
          </a:prstGeom>
          <a:noFill/>
          <a:ln/>
        </p:spPr>
        <p:txBody>
          <a:bodyPr wrap="square" lIns="0" tIns="0" rIns="0" bIns="0" rtlCol="0" anchor="ctr"/>
          <a:lstStyle/>
          <a:p>
            <a:pPr algn="ctr" indent="0" marL="0">
              <a:buNone/>
            </a:pPr>
            <a:r>
              <a:rPr lang="en-US" sz="1200" b="1" i="1" dirty="0">
                <a:solidFill>
                  <a:srgbClr val="0EA5E9"/>
                </a:solidFill>
                <a:latin typeface="Calibri" pitchFamily="34" charset="0"/>
                <a:ea typeface="Calibri" pitchFamily="34" charset="-122"/>
                <a:cs typeface="Calibri" pitchFamily="34" charset="-120"/>
              </a:rPr>
              <a:t>AI used as constrained agent</a:t>
            </a:r>
            <a:endParaRPr lang="en-US" sz="1200" dirty="0"/>
          </a:p>
        </p:txBody>
      </p:sp>
      <p:sp>
        <p:nvSpPr>
          <p:cNvPr id="30" name="Shape 28"/>
          <p:cNvSpPr/>
          <p:nvPr/>
        </p:nvSpPr>
        <p:spPr>
          <a:xfrm>
            <a:off x="365760" y="4434840"/>
            <a:ext cx="8412480" cy="411480"/>
          </a:xfrm>
          <a:prstGeom prst="rect">
            <a:avLst/>
          </a:prstGeom>
          <a:solidFill>
            <a:srgbClr val="0C2D1A"/>
          </a:solidFill>
          <a:ln/>
        </p:spPr>
      </p:sp>
      <p:sp>
        <p:nvSpPr>
          <p:cNvPr id="31" name="Text 29"/>
          <p:cNvSpPr/>
          <p:nvPr/>
        </p:nvSpPr>
        <p:spPr>
          <a:xfrm>
            <a:off x="365760" y="4434840"/>
            <a:ext cx="8412480" cy="411480"/>
          </a:xfrm>
          <a:prstGeom prst="rect">
            <a:avLst/>
          </a:prstGeom>
          <a:noFill/>
          <a:ln/>
        </p:spPr>
        <p:txBody>
          <a:bodyPr wrap="square" lIns="0" tIns="0" rIns="0" bIns="0" rtlCol="0" anchor="ctr"/>
          <a:lstStyle/>
          <a:p>
            <a:pPr algn="ctr" indent="0" marL="0">
              <a:buNone/>
            </a:pPr>
            <a:r>
              <a:rPr lang="en-US" sz="1600" b="1" i="1" dirty="0">
                <a:solidFill>
                  <a:srgbClr val="22C55E"/>
                </a:solidFill>
                <a:latin typeface="Calibri" pitchFamily="34" charset="0"/>
                <a:ea typeface="Calibri" pitchFamily="34" charset="-122"/>
                <a:cs typeface="Calibri" pitchFamily="34" charset="-120"/>
              </a:rPr>
              <a:t>The difference isn't the AI. It's the constraints.</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22C55E"/>
          </a:solidFill>
          <a:ln/>
        </p:spPr>
      </p:sp>
      <p:sp>
        <p:nvSpPr>
          <p:cNvPr id="3" name="Text 1"/>
          <p:cNvSpPr/>
          <p:nvPr/>
        </p:nvSpPr>
        <p:spPr>
          <a:xfrm>
            <a:off x="365760" y="4773168"/>
            <a:ext cx="4572000" cy="228600"/>
          </a:xfrm>
          <a:prstGeom prst="rect">
            <a:avLst/>
          </a:prstGeom>
          <a:noFill/>
          <a:ln/>
        </p:spPr>
        <p:txBody>
          <a:bodyPr wrap="square" rtlCol="0" anchor="ctr"/>
          <a:lstStyle/>
          <a:p>
            <a:pPr indent="0" marL="0">
              <a:buNone/>
            </a:pPr>
            <a:r>
              <a:rPr lang="en-US" sz="700" dirty="0">
                <a:solidFill>
                  <a:srgbClr val="64748B"/>
                </a:solidFill>
                <a:latin typeface="Calibri" pitchFamily="34" charset="0"/>
                <a:ea typeface="Calibri" pitchFamily="34" charset="-122"/>
                <a:cs typeface="Calibri" pitchFamily="34" charset="-120"/>
              </a:rPr>
              <a:t>KubeAuto AI Day Europe 2026</a:t>
            </a:r>
            <a:endParaRPr lang="en-US" sz="700" dirty="0"/>
          </a:p>
        </p:txBody>
      </p:sp>
      <p:sp>
        <p:nvSpPr>
          <p:cNvPr id="4" name="Text 2"/>
          <p:cNvSpPr/>
          <p:nvPr/>
        </p:nvSpPr>
        <p:spPr>
          <a:xfrm>
            <a:off x="7863840" y="4773168"/>
            <a:ext cx="914400" cy="228600"/>
          </a:xfrm>
          <a:prstGeom prst="rect">
            <a:avLst/>
          </a:prstGeom>
          <a:noFill/>
          <a:ln/>
        </p:spPr>
        <p:txBody>
          <a:bodyPr wrap="square" rtlCol="0" anchor="ctr"/>
          <a:lstStyle/>
          <a:p>
            <a:pPr algn="r" indent="0" marL="0">
              <a:buNone/>
            </a:pPr>
            <a:r>
              <a:rPr lang="en-US" sz="700" dirty="0">
                <a:solidFill>
                  <a:srgbClr val="64748B"/>
                </a:solidFill>
                <a:latin typeface="Calibri" pitchFamily="34" charset="0"/>
                <a:ea typeface="Calibri" pitchFamily="34" charset="-122"/>
                <a:cs typeface="Calibri" pitchFamily="34" charset="-120"/>
              </a:rPr>
              <a:t>12/21</a:t>
            </a:r>
            <a:endParaRPr lang="en-US" sz="700" dirty="0"/>
          </a:p>
        </p:txBody>
      </p:sp>
      <p:sp>
        <p:nvSpPr>
          <p:cNvPr id="5" name="Text 3"/>
          <p:cNvSpPr/>
          <p:nvPr/>
        </p:nvSpPr>
        <p:spPr>
          <a:xfrm>
            <a:off x="457200" y="228600"/>
            <a:ext cx="8229600" cy="548640"/>
          </a:xfrm>
          <a:prstGeom prst="rect">
            <a:avLst/>
          </a:prstGeom>
          <a:noFill/>
          <a:ln/>
        </p:spPr>
        <p:txBody>
          <a:bodyPr wrap="square" lIns="0" tIns="0" rIns="0" bIns="0" rtlCol="0" anchor="ctr"/>
          <a:lstStyle/>
          <a:p>
            <a:pPr indent="0" marL="0">
              <a:buNone/>
            </a:pPr>
            <a:r>
              <a:rPr lang="en-US" sz="2600" dirty="0">
                <a:solidFill>
                  <a:srgbClr val="F8FAFC"/>
                </a:solidFill>
                <a:latin typeface="Arial Black" pitchFamily="34" charset="0"/>
                <a:ea typeface="Arial Black" pitchFamily="34" charset="-122"/>
                <a:cs typeface="Arial Black" pitchFamily="34" charset="-120"/>
              </a:rPr>
              <a:t>Where It Worked. Where It Didn't.</a:t>
            </a:r>
            <a:endParaRPr lang="en-US" sz="2600" dirty="0"/>
          </a:p>
        </p:txBody>
      </p:sp>
      <p:sp>
        <p:nvSpPr>
          <p:cNvPr id="6" name="Text 4"/>
          <p:cNvSpPr/>
          <p:nvPr/>
        </p:nvSpPr>
        <p:spPr>
          <a:xfrm>
            <a:off x="365760" y="1005840"/>
            <a:ext cx="1645920" cy="640080"/>
          </a:xfrm>
          <a:prstGeom prst="rect">
            <a:avLst/>
          </a:prstGeom>
          <a:noFill/>
          <a:ln/>
        </p:spPr>
        <p:txBody>
          <a:bodyPr wrap="square" lIns="0" tIns="0" rIns="0" bIns="0" rtlCol="0" anchor="ctr"/>
          <a:lstStyle/>
          <a:p>
            <a:pPr algn="r" indent="0" marL="0">
              <a:buNone/>
            </a:pPr>
            <a:r>
              <a:rPr lang="en-US" sz="1300" dirty="0">
                <a:solidFill>
                  <a:srgbClr val="F1F5F9"/>
                </a:solidFill>
                <a:latin typeface="Calibri" pitchFamily="34" charset="0"/>
                <a:ea typeface="Calibri" pitchFamily="34" charset="-122"/>
                <a:cs typeface="Calibri" pitchFamily="34" charset="-120"/>
              </a:rPr>
              <a:t>0 corrections</a:t>
            </a:r>
            <a:endParaRPr lang="en-US" sz="1300" dirty="0"/>
          </a:p>
        </p:txBody>
      </p:sp>
      <p:sp>
        <p:nvSpPr>
          <p:cNvPr id="7" name="Shape 5"/>
          <p:cNvSpPr/>
          <p:nvPr/>
        </p:nvSpPr>
        <p:spPr>
          <a:xfrm>
            <a:off x="2194560" y="1115568"/>
            <a:ext cx="5029200" cy="420624"/>
          </a:xfrm>
          <a:prstGeom prst="rect">
            <a:avLst/>
          </a:prstGeom>
          <a:solidFill>
            <a:srgbClr val="151E30"/>
          </a:solidFill>
          <a:ln/>
        </p:spPr>
      </p:sp>
      <p:sp>
        <p:nvSpPr>
          <p:cNvPr id="8" name="Shape 6"/>
          <p:cNvSpPr/>
          <p:nvPr/>
        </p:nvSpPr>
        <p:spPr>
          <a:xfrm>
            <a:off x="2194560" y="1115568"/>
            <a:ext cx="5029200" cy="420624"/>
          </a:xfrm>
          <a:prstGeom prst="rect">
            <a:avLst/>
          </a:prstGeom>
          <a:solidFill>
            <a:srgbClr val="22C55E"/>
          </a:solidFill>
          <a:ln/>
        </p:spPr>
      </p:sp>
      <p:sp>
        <p:nvSpPr>
          <p:cNvPr id="9" name="Text 7"/>
          <p:cNvSpPr/>
          <p:nvPr/>
        </p:nvSpPr>
        <p:spPr>
          <a:xfrm>
            <a:off x="7360920" y="1005840"/>
            <a:ext cx="2286000" cy="640080"/>
          </a:xfrm>
          <a:prstGeom prst="rect">
            <a:avLst/>
          </a:prstGeom>
          <a:noFill/>
          <a:ln/>
        </p:spPr>
        <p:txBody>
          <a:bodyPr wrap="square" lIns="0" tIns="0" rIns="0" bIns="0" rtlCol="0" anchor="ctr"/>
          <a:lstStyle/>
          <a:p>
            <a:pPr indent="0" marL="0">
              <a:buNone/>
            </a:pPr>
            <a:r>
              <a:rPr lang="en-US" sz="1300" dirty="0">
                <a:solidFill>
                  <a:srgbClr val="CBD5E1"/>
                </a:solidFill>
                <a:latin typeface="Calibri" pitchFamily="34" charset="0"/>
                <a:ea typeface="Calibri" pitchFamily="34" charset="-122"/>
                <a:cs typeface="Calibri" pitchFamily="34" charset="-120"/>
              </a:rPr>
              <a:t>13 components (48%)</a:t>
            </a:r>
            <a:endParaRPr lang="en-US" sz="1300" dirty="0"/>
          </a:p>
        </p:txBody>
      </p:sp>
      <p:sp>
        <p:nvSpPr>
          <p:cNvPr id="10" name="Text 8"/>
          <p:cNvSpPr/>
          <p:nvPr/>
        </p:nvSpPr>
        <p:spPr>
          <a:xfrm>
            <a:off x="365760" y="1920240"/>
            <a:ext cx="1645920" cy="640080"/>
          </a:xfrm>
          <a:prstGeom prst="rect">
            <a:avLst/>
          </a:prstGeom>
          <a:noFill/>
          <a:ln/>
        </p:spPr>
        <p:txBody>
          <a:bodyPr wrap="square" lIns="0" tIns="0" rIns="0" bIns="0" rtlCol="0" anchor="ctr"/>
          <a:lstStyle/>
          <a:p>
            <a:pPr algn="r" indent="0" marL="0">
              <a:buNone/>
            </a:pPr>
            <a:r>
              <a:rPr lang="en-US" sz="1300" dirty="0">
                <a:solidFill>
                  <a:srgbClr val="F1F5F9"/>
                </a:solidFill>
                <a:latin typeface="Calibri" pitchFamily="34" charset="0"/>
                <a:ea typeface="Calibri" pitchFamily="34" charset="-122"/>
                <a:cs typeface="Calibri" pitchFamily="34" charset="-120"/>
              </a:rPr>
              <a:t>1 correction</a:t>
            </a:r>
            <a:endParaRPr lang="en-US" sz="1300" dirty="0"/>
          </a:p>
        </p:txBody>
      </p:sp>
      <p:sp>
        <p:nvSpPr>
          <p:cNvPr id="11" name="Shape 9"/>
          <p:cNvSpPr/>
          <p:nvPr/>
        </p:nvSpPr>
        <p:spPr>
          <a:xfrm>
            <a:off x="2194560" y="2029968"/>
            <a:ext cx="5029200" cy="420624"/>
          </a:xfrm>
          <a:prstGeom prst="rect">
            <a:avLst/>
          </a:prstGeom>
          <a:solidFill>
            <a:srgbClr val="151E30"/>
          </a:solidFill>
          <a:ln/>
        </p:spPr>
      </p:sp>
      <p:sp>
        <p:nvSpPr>
          <p:cNvPr id="12" name="Shape 10"/>
          <p:cNvSpPr/>
          <p:nvPr/>
        </p:nvSpPr>
        <p:spPr>
          <a:xfrm>
            <a:off x="2194560" y="2029968"/>
            <a:ext cx="3481754" cy="420624"/>
          </a:xfrm>
          <a:prstGeom prst="rect">
            <a:avLst/>
          </a:prstGeom>
          <a:solidFill>
            <a:srgbClr val="0EA5E9"/>
          </a:solidFill>
          <a:ln/>
        </p:spPr>
      </p:sp>
      <p:sp>
        <p:nvSpPr>
          <p:cNvPr id="13" name="Text 11"/>
          <p:cNvSpPr/>
          <p:nvPr/>
        </p:nvSpPr>
        <p:spPr>
          <a:xfrm>
            <a:off x="5813474" y="1920240"/>
            <a:ext cx="2286000" cy="640080"/>
          </a:xfrm>
          <a:prstGeom prst="rect">
            <a:avLst/>
          </a:prstGeom>
          <a:noFill/>
          <a:ln/>
        </p:spPr>
        <p:txBody>
          <a:bodyPr wrap="square" lIns="0" tIns="0" rIns="0" bIns="0" rtlCol="0" anchor="ctr"/>
          <a:lstStyle/>
          <a:p>
            <a:pPr indent="0" marL="0">
              <a:buNone/>
            </a:pPr>
            <a:r>
              <a:rPr lang="en-US" sz="1300" dirty="0">
                <a:solidFill>
                  <a:srgbClr val="CBD5E1"/>
                </a:solidFill>
                <a:latin typeface="Calibri" pitchFamily="34" charset="0"/>
                <a:ea typeface="Calibri" pitchFamily="34" charset="-122"/>
                <a:cs typeface="Calibri" pitchFamily="34" charset="-120"/>
              </a:rPr>
              <a:t>9 components (33%)</a:t>
            </a:r>
            <a:endParaRPr lang="en-US" sz="1300" dirty="0"/>
          </a:p>
        </p:txBody>
      </p:sp>
      <p:sp>
        <p:nvSpPr>
          <p:cNvPr id="14" name="Text 12"/>
          <p:cNvSpPr/>
          <p:nvPr/>
        </p:nvSpPr>
        <p:spPr>
          <a:xfrm>
            <a:off x="365760" y="2834640"/>
            <a:ext cx="1645920" cy="640080"/>
          </a:xfrm>
          <a:prstGeom prst="rect">
            <a:avLst/>
          </a:prstGeom>
          <a:noFill/>
          <a:ln/>
        </p:spPr>
        <p:txBody>
          <a:bodyPr wrap="square" lIns="0" tIns="0" rIns="0" bIns="0" rtlCol="0" anchor="ctr"/>
          <a:lstStyle/>
          <a:p>
            <a:pPr algn="r" indent="0" marL="0">
              <a:buNone/>
            </a:pPr>
            <a:r>
              <a:rPr lang="en-US" sz="1300" dirty="0">
                <a:solidFill>
                  <a:srgbClr val="F1F5F9"/>
                </a:solidFill>
                <a:latin typeface="Calibri" pitchFamily="34" charset="0"/>
                <a:ea typeface="Calibri" pitchFamily="34" charset="-122"/>
                <a:cs typeface="Calibri" pitchFamily="34" charset="-120"/>
              </a:rPr>
              <a:t>2 corrections</a:t>
            </a:r>
            <a:endParaRPr lang="en-US" sz="1300" dirty="0"/>
          </a:p>
        </p:txBody>
      </p:sp>
      <p:sp>
        <p:nvSpPr>
          <p:cNvPr id="15" name="Shape 13"/>
          <p:cNvSpPr/>
          <p:nvPr/>
        </p:nvSpPr>
        <p:spPr>
          <a:xfrm>
            <a:off x="2194560" y="2944368"/>
            <a:ext cx="5029200" cy="420624"/>
          </a:xfrm>
          <a:prstGeom prst="rect">
            <a:avLst/>
          </a:prstGeom>
          <a:solidFill>
            <a:srgbClr val="151E30"/>
          </a:solidFill>
          <a:ln/>
        </p:spPr>
      </p:sp>
      <p:sp>
        <p:nvSpPr>
          <p:cNvPr id="16" name="Shape 14"/>
          <p:cNvSpPr/>
          <p:nvPr/>
        </p:nvSpPr>
        <p:spPr>
          <a:xfrm>
            <a:off x="2194560" y="2944368"/>
            <a:ext cx="1160585" cy="420624"/>
          </a:xfrm>
          <a:prstGeom prst="rect">
            <a:avLst/>
          </a:prstGeom>
          <a:solidFill>
            <a:srgbClr val="F59E0B"/>
          </a:solidFill>
          <a:ln/>
        </p:spPr>
      </p:sp>
      <p:sp>
        <p:nvSpPr>
          <p:cNvPr id="17" name="Text 15"/>
          <p:cNvSpPr/>
          <p:nvPr/>
        </p:nvSpPr>
        <p:spPr>
          <a:xfrm>
            <a:off x="3492305" y="2834640"/>
            <a:ext cx="2286000" cy="640080"/>
          </a:xfrm>
          <a:prstGeom prst="rect">
            <a:avLst/>
          </a:prstGeom>
          <a:noFill/>
          <a:ln/>
        </p:spPr>
        <p:txBody>
          <a:bodyPr wrap="square" lIns="0" tIns="0" rIns="0" bIns="0" rtlCol="0" anchor="ctr"/>
          <a:lstStyle/>
          <a:p>
            <a:pPr indent="0" marL="0">
              <a:buNone/>
            </a:pPr>
            <a:r>
              <a:rPr lang="en-US" sz="1300" dirty="0">
                <a:solidFill>
                  <a:srgbClr val="CBD5E1"/>
                </a:solidFill>
                <a:latin typeface="Calibri" pitchFamily="34" charset="0"/>
                <a:ea typeface="Calibri" pitchFamily="34" charset="-122"/>
                <a:cs typeface="Calibri" pitchFamily="34" charset="-120"/>
              </a:rPr>
              <a:t>3 components (11%)</a:t>
            </a:r>
            <a:endParaRPr lang="en-US" sz="1300" dirty="0"/>
          </a:p>
        </p:txBody>
      </p:sp>
      <p:sp>
        <p:nvSpPr>
          <p:cNvPr id="18" name="Text 16"/>
          <p:cNvSpPr/>
          <p:nvPr/>
        </p:nvSpPr>
        <p:spPr>
          <a:xfrm>
            <a:off x="365760" y="3749040"/>
            <a:ext cx="1645920" cy="640080"/>
          </a:xfrm>
          <a:prstGeom prst="rect">
            <a:avLst/>
          </a:prstGeom>
          <a:noFill/>
          <a:ln/>
        </p:spPr>
        <p:txBody>
          <a:bodyPr wrap="square" lIns="0" tIns="0" rIns="0" bIns="0" rtlCol="0" anchor="ctr"/>
          <a:lstStyle/>
          <a:p>
            <a:pPr algn="r" indent="0" marL="0">
              <a:buNone/>
            </a:pPr>
            <a:r>
              <a:rPr lang="en-US" sz="1300" dirty="0">
                <a:solidFill>
                  <a:srgbClr val="F1F5F9"/>
                </a:solidFill>
                <a:latin typeface="Calibri" pitchFamily="34" charset="0"/>
                <a:ea typeface="Calibri" pitchFamily="34" charset="-122"/>
                <a:cs typeface="Calibri" pitchFamily="34" charset="-120"/>
              </a:rPr>
              <a:t>3 corrections</a:t>
            </a:r>
            <a:endParaRPr lang="en-US" sz="1300" dirty="0"/>
          </a:p>
        </p:txBody>
      </p:sp>
      <p:sp>
        <p:nvSpPr>
          <p:cNvPr id="19" name="Shape 17"/>
          <p:cNvSpPr/>
          <p:nvPr/>
        </p:nvSpPr>
        <p:spPr>
          <a:xfrm>
            <a:off x="2194560" y="3858768"/>
            <a:ext cx="5029200" cy="420624"/>
          </a:xfrm>
          <a:prstGeom prst="rect">
            <a:avLst/>
          </a:prstGeom>
          <a:solidFill>
            <a:srgbClr val="151E30"/>
          </a:solidFill>
          <a:ln/>
        </p:spPr>
      </p:sp>
      <p:sp>
        <p:nvSpPr>
          <p:cNvPr id="20" name="Shape 18"/>
          <p:cNvSpPr/>
          <p:nvPr/>
        </p:nvSpPr>
        <p:spPr>
          <a:xfrm>
            <a:off x="2194560" y="3858768"/>
            <a:ext cx="1160585" cy="420624"/>
          </a:xfrm>
          <a:prstGeom prst="rect">
            <a:avLst/>
          </a:prstGeom>
          <a:solidFill>
            <a:srgbClr val="EF4444"/>
          </a:solidFill>
          <a:ln/>
        </p:spPr>
      </p:sp>
      <p:sp>
        <p:nvSpPr>
          <p:cNvPr id="21" name="Text 19"/>
          <p:cNvSpPr/>
          <p:nvPr/>
        </p:nvSpPr>
        <p:spPr>
          <a:xfrm>
            <a:off x="3492305" y="3749040"/>
            <a:ext cx="2286000" cy="640080"/>
          </a:xfrm>
          <a:prstGeom prst="rect">
            <a:avLst/>
          </a:prstGeom>
          <a:noFill/>
          <a:ln/>
        </p:spPr>
        <p:txBody>
          <a:bodyPr wrap="square" lIns="0" tIns="0" rIns="0" bIns="0" rtlCol="0" anchor="ctr"/>
          <a:lstStyle/>
          <a:p>
            <a:pPr indent="0" marL="0">
              <a:buNone/>
            </a:pPr>
            <a:r>
              <a:rPr lang="en-US" sz="1300" dirty="0">
                <a:solidFill>
                  <a:srgbClr val="CBD5E1"/>
                </a:solidFill>
                <a:latin typeface="Calibri" pitchFamily="34" charset="0"/>
                <a:ea typeface="Calibri" pitchFamily="34" charset="-122"/>
                <a:cs typeface="Calibri" pitchFamily="34" charset="-120"/>
              </a:rPr>
              <a:t>3 components (11%)</a:t>
            </a:r>
            <a:endParaRPr lang="en-US" sz="1300" dirty="0"/>
          </a:p>
        </p:txBody>
      </p:sp>
      <p:sp>
        <p:nvSpPr>
          <p:cNvPr id="22" name="Shape 20"/>
          <p:cNvSpPr/>
          <p:nvPr/>
        </p:nvSpPr>
        <p:spPr>
          <a:xfrm>
            <a:off x="365760" y="4343400"/>
            <a:ext cx="8412480" cy="457200"/>
          </a:xfrm>
          <a:prstGeom prst="rect">
            <a:avLst/>
          </a:prstGeom>
          <a:solidFill>
            <a:srgbClr val="1E293B"/>
          </a:solidFill>
          <a:ln/>
        </p:spPr>
      </p:sp>
      <p:sp>
        <p:nvSpPr>
          <p:cNvPr id="23" name="Text 21"/>
          <p:cNvSpPr/>
          <p:nvPr/>
        </p:nvSpPr>
        <p:spPr>
          <a:xfrm>
            <a:off x="548640" y="4343400"/>
            <a:ext cx="8046720" cy="457200"/>
          </a:xfrm>
          <a:prstGeom prst="rect">
            <a:avLst/>
          </a:prstGeom>
          <a:noFill/>
          <a:ln/>
        </p:spPr>
        <p:txBody>
          <a:bodyPr wrap="square" lIns="0" tIns="0" rIns="0" bIns="0" rtlCol="0" anchor="ctr"/>
          <a:lstStyle/>
          <a:p>
            <a:pPr algn="ctr" indent="0" marL="0">
              <a:buNone/>
            </a:pPr>
            <a:r>
              <a:rPr lang="en-US" sz="1300" dirty="0">
                <a:solidFill>
                  <a:srgbClr val="CBD5E1"/>
                </a:solidFill>
                <a:latin typeface="Calibri" pitchFamily="34" charset="0"/>
                <a:ea typeface="Calibri" pitchFamily="34" charset="-122"/>
                <a:cs typeface="Calibri" pitchFamily="34" charset="-120"/>
              </a:rPr>
              <a:t>81% worked in 0–1 cycles. The 3-cycle outliers tell the real story.</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59E0B"/>
          </a:solidFill>
          <a:ln/>
        </p:spPr>
      </p:sp>
      <p:sp>
        <p:nvSpPr>
          <p:cNvPr id="3" name="Text 1"/>
          <p:cNvSpPr/>
          <p:nvPr/>
        </p:nvSpPr>
        <p:spPr>
          <a:xfrm>
            <a:off x="365760" y="4773168"/>
            <a:ext cx="4572000" cy="228600"/>
          </a:xfrm>
          <a:prstGeom prst="rect">
            <a:avLst/>
          </a:prstGeom>
          <a:noFill/>
          <a:ln/>
        </p:spPr>
        <p:txBody>
          <a:bodyPr wrap="square" rtlCol="0" anchor="ctr"/>
          <a:lstStyle/>
          <a:p>
            <a:pPr indent="0" marL="0">
              <a:buNone/>
            </a:pPr>
            <a:r>
              <a:rPr lang="en-US" sz="700" dirty="0">
                <a:solidFill>
                  <a:srgbClr val="64748B"/>
                </a:solidFill>
                <a:latin typeface="Calibri" pitchFamily="34" charset="0"/>
                <a:ea typeface="Calibri" pitchFamily="34" charset="-122"/>
                <a:cs typeface="Calibri" pitchFamily="34" charset="-120"/>
              </a:rPr>
              <a:t>KubeAuto AI Day Europe 2026</a:t>
            </a:r>
            <a:endParaRPr lang="en-US" sz="700" dirty="0"/>
          </a:p>
        </p:txBody>
      </p:sp>
      <p:sp>
        <p:nvSpPr>
          <p:cNvPr id="4" name="Text 2"/>
          <p:cNvSpPr/>
          <p:nvPr/>
        </p:nvSpPr>
        <p:spPr>
          <a:xfrm>
            <a:off x="7863840" y="4773168"/>
            <a:ext cx="914400" cy="228600"/>
          </a:xfrm>
          <a:prstGeom prst="rect">
            <a:avLst/>
          </a:prstGeom>
          <a:noFill/>
          <a:ln/>
        </p:spPr>
        <p:txBody>
          <a:bodyPr wrap="square" rtlCol="0" anchor="ctr"/>
          <a:lstStyle/>
          <a:p>
            <a:pPr algn="r" indent="0" marL="0">
              <a:buNone/>
            </a:pPr>
            <a:r>
              <a:rPr lang="en-US" sz="700" dirty="0">
                <a:solidFill>
                  <a:srgbClr val="64748B"/>
                </a:solidFill>
                <a:latin typeface="Calibri" pitchFamily="34" charset="0"/>
                <a:ea typeface="Calibri" pitchFamily="34" charset="-122"/>
                <a:cs typeface="Calibri" pitchFamily="34" charset="-120"/>
              </a:rPr>
              <a:t>13/21</a:t>
            </a:r>
            <a:endParaRPr lang="en-US" sz="700" dirty="0"/>
          </a:p>
        </p:txBody>
      </p:sp>
      <p:sp>
        <p:nvSpPr>
          <p:cNvPr id="5" name="Text 3"/>
          <p:cNvSpPr/>
          <p:nvPr/>
        </p:nvSpPr>
        <p:spPr>
          <a:xfrm>
            <a:off x="457200" y="228600"/>
            <a:ext cx="8229600" cy="548640"/>
          </a:xfrm>
          <a:prstGeom prst="rect">
            <a:avLst/>
          </a:prstGeom>
          <a:noFill/>
          <a:ln/>
        </p:spPr>
        <p:txBody>
          <a:bodyPr wrap="square" lIns="0" tIns="0" rIns="0" bIns="0" rtlCol="0" anchor="ctr"/>
          <a:lstStyle/>
          <a:p>
            <a:pPr indent="0" marL="0">
              <a:buNone/>
            </a:pPr>
            <a:r>
              <a:rPr lang="en-US" sz="2600" dirty="0">
                <a:solidFill>
                  <a:srgbClr val="F8FAFC"/>
                </a:solidFill>
                <a:latin typeface="Arial Black" pitchFamily="34" charset="0"/>
                <a:ea typeface="Arial Black" pitchFamily="34" charset="-122"/>
                <a:cs typeface="Arial Black" pitchFamily="34" charset="-120"/>
              </a:rPr>
              <a:t>Same Root Cause. Every Time.</a:t>
            </a:r>
            <a:endParaRPr lang="en-US" sz="2600" dirty="0"/>
          </a:p>
        </p:txBody>
      </p:sp>
      <p:sp>
        <p:nvSpPr>
          <p:cNvPr id="6" name="Shape 4"/>
          <p:cNvSpPr/>
          <p:nvPr/>
        </p:nvSpPr>
        <p:spPr>
          <a:xfrm>
            <a:off x="365760" y="960120"/>
            <a:ext cx="8412480" cy="694944"/>
          </a:xfrm>
          <a:prstGeom prst="rect">
            <a:avLst/>
          </a:prstGeom>
          <a:solidFill>
            <a:srgbClr val="151E30"/>
          </a:solidFill>
          <a:ln/>
          <a:effectLst>
            <a:outerShdw sx="100000" sy="100000" kx="0" ky="0" algn="bl" rotWithShape="0" blurRad="76200" dist="25400" dir="8100000">
              <a:srgbClr val="000000">
                <a:alpha val="35000"/>
              </a:srgbClr>
            </a:outerShdw>
          </a:effectLst>
        </p:spPr>
      </p:sp>
      <p:pic>
        <p:nvPicPr>
          <p:cNvPr id="7" name="Image 0" descr="preencoded.png">    </p:cNvPr>
          <p:cNvPicPr>
            <a:picLocks noChangeAspect="1"/>
          </p:cNvPicPr>
          <p:nvPr/>
        </p:nvPicPr>
        <p:blipFill>
          <a:blip r:embed="rId1"/>
          <a:stretch>
            <a:fillRect/>
          </a:stretch>
        </p:blipFill>
        <p:spPr>
          <a:xfrm>
            <a:off x="548640" y="1124712"/>
            <a:ext cx="320040" cy="320040"/>
          </a:xfrm>
          <a:prstGeom prst="rect">
            <a:avLst/>
          </a:prstGeom>
        </p:spPr>
      </p:pic>
      <p:sp>
        <p:nvSpPr>
          <p:cNvPr id="8" name="Text 5"/>
          <p:cNvSpPr/>
          <p:nvPr/>
        </p:nvSpPr>
        <p:spPr>
          <a:xfrm>
            <a:off x="1051560" y="978408"/>
            <a:ext cx="2286000" cy="32004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EKS Cluster</a:t>
            </a:r>
            <a:endParaRPr lang="en-US" sz="1400" dirty="0"/>
          </a:p>
        </p:txBody>
      </p:sp>
      <p:sp>
        <p:nvSpPr>
          <p:cNvPr id="9" name="Text 6"/>
          <p:cNvSpPr/>
          <p:nvPr/>
        </p:nvSpPr>
        <p:spPr>
          <a:xfrm>
            <a:off x="3383280" y="978408"/>
            <a:ext cx="914400" cy="320040"/>
          </a:xfrm>
          <a:prstGeom prst="rect">
            <a:avLst/>
          </a:prstGeom>
          <a:noFill/>
          <a:ln/>
        </p:spPr>
        <p:txBody>
          <a:bodyPr wrap="square" lIns="0" tIns="0" rIns="0" bIns="0" rtlCol="0" anchor="ctr"/>
          <a:lstStyle/>
          <a:p>
            <a:pPr indent="0" marL="0">
              <a:buNone/>
            </a:pPr>
            <a:r>
              <a:rPr lang="en-US" sz="1200" dirty="0">
                <a:solidFill>
                  <a:srgbClr val="EF4444"/>
                </a:solidFill>
                <a:latin typeface="Consolas" pitchFamily="34" charset="0"/>
                <a:ea typeface="Consolas" pitchFamily="34" charset="-122"/>
                <a:cs typeface="Consolas" pitchFamily="34" charset="-120"/>
              </a:rPr>
              <a:t>3 cycles</a:t>
            </a:r>
            <a:endParaRPr lang="en-US" sz="1200" dirty="0"/>
          </a:p>
        </p:txBody>
      </p:sp>
      <p:sp>
        <p:nvSpPr>
          <p:cNvPr id="10" name="Text 7"/>
          <p:cNvSpPr/>
          <p:nvPr/>
        </p:nvSpPr>
        <p:spPr>
          <a:xfrm>
            <a:off x="1051560" y="1307592"/>
            <a:ext cx="7498080" cy="292608"/>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Terraform module v21 renamed variables. AI used old names from training data.</a:t>
            </a:r>
            <a:endParaRPr lang="en-US" sz="1100" dirty="0"/>
          </a:p>
        </p:txBody>
      </p:sp>
      <p:sp>
        <p:nvSpPr>
          <p:cNvPr id="11" name="Shape 8"/>
          <p:cNvSpPr/>
          <p:nvPr/>
        </p:nvSpPr>
        <p:spPr>
          <a:xfrm>
            <a:off x="365760" y="1764792"/>
            <a:ext cx="8412480" cy="694944"/>
          </a:xfrm>
          <a:prstGeom prst="rect">
            <a:avLst/>
          </a:prstGeom>
          <a:solidFill>
            <a:srgbClr val="151E30"/>
          </a:solidFill>
          <a:ln/>
          <a:effectLst>
            <a:outerShdw sx="100000" sy="100000" kx="0" ky="0" algn="bl" rotWithShape="0" blurRad="76200" dist="25400" dir="8100000">
              <a:srgbClr val="000000">
                <a:alpha val="35000"/>
              </a:srgbClr>
            </a:outerShdw>
          </a:effectLst>
        </p:spPr>
      </p:sp>
      <p:pic>
        <p:nvPicPr>
          <p:cNvPr id="12" name="Image 1" descr="preencoded.png">    </p:cNvPr>
          <p:cNvPicPr>
            <a:picLocks noChangeAspect="1"/>
          </p:cNvPicPr>
          <p:nvPr/>
        </p:nvPicPr>
        <p:blipFill>
          <a:blip r:embed="rId2"/>
          <a:stretch>
            <a:fillRect/>
          </a:stretch>
        </p:blipFill>
        <p:spPr>
          <a:xfrm>
            <a:off x="548640" y="1929384"/>
            <a:ext cx="320040" cy="320040"/>
          </a:xfrm>
          <a:prstGeom prst="rect">
            <a:avLst/>
          </a:prstGeom>
        </p:spPr>
      </p:pic>
      <p:sp>
        <p:nvSpPr>
          <p:cNvPr id="13" name="Text 9"/>
          <p:cNvSpPr/>
          <p:nvPr/>
        </p:nvSpPr>
        <p:spPr>
          <a:xfrm>
            <a:off x="1051560" y="1783080"/>
            <a:ext cx="2286000" cy="32004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Kyverno</a:t>
            </a:r>
            <a:endParaRPr lang="en-US" sz="1400" dirty="0"/>
          </a:p>
        </p:txBody>
      </p:sp>
      <p:sp>
        <p:nvSpPr>
          <p:cNvPr id="14" name="Text 10"/>
          <p:cNvSpPr/>
          <p:nvPr/>
        </p:nvSpPr>
        <p:spPr>
          <a:xfrm>
            <a:off x="3383280" y="1783080"/>
            <a:ext cx="914400" cy="320040"/>
          </a:xfrm>
          <a:prstGeom prst="rect">
            <a:avLst/>
          </a:prstGeom>
          <a:noFill/>
          <a:ln/>
        </p:spPr>
        <p:txBody>
          <a:bodyPr wrap="square" lIns="0" tIns="0" rIns="0" bIns="0" rtlCol="0" anchor="ctr"/>
          <a:lstStyle/>
          <a:p>
            <a:pPr indent="0" marL="0">
              <a:buNone/>
            </a:pPr>
            <a:r>
              <a:rPr lang="en-US" sz="1200" dirty="0">
                <a:solidFill>
                  <a:srgbClr val="EF4444"/>
                </a:solidFill>
                <a:latin typeface="Consolas" pitchFamily="34" charset="0"/>
                <a:ea typeface="Consolas" pitchFamily="34" charset="-122"/>
                <a:cs typeface="Consolas" pitchFamily="34" charset="-120"/>
              </a:rPr>
              <a:t>3 cycles</a:t>
            </a:r>
            <a:endParaRPr lang="en-US" sz="1200" dirty="0"/>
          </a:p>
        </p:txBody>
      </p:sp>
      <p:sp>
        <p:nvSpPr>
          <p:cNvPr id="15" name="Text 11"/>
          <p:cNvSpPr/>
          <p:nvPr/>
        </p:nvSpPr>
        <p:spPr>
          <a:xfrm>
            <a:off x="1051560" y="2112264"/>
            <a:ext cx="7498080" cy="292608"/>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Webhook config changed between chart versions. CRDs too large for client-side apply.</a:t>
            </a:r>
            <a:endParaRPr lang="en-US" sz="1100" dirty="0"/>
          </a:p>
        </p:txBody>
      </p:sp>
      <p:sp>
        <p:nvSpPr>
          <p:cNvPr id="16" name="Shape 12"/>
          <p:cNvSpPr/>
          <p:nvPr/>
        </p:nvSpPr>
        <p:spPr>
          <a:xfrm>
            <a:off x="365760" y="2569464"/>
            <a:ext cx="8412480" cy="694944"/>
          </a:xfrm>
          <a:prstGeom prst="rect">
            <a:avLst/>
          </a:prstGeom>
          <a:solidFill>
            <a:srgbClr val="151E30"/>
          </a:solidFill>
          <a:ln/>
          <a:effectLst>
            <a:outerShdw sx="100000" sy="100000" kx="0" ky="0" algn="bl" rotWithShape="0" blurRad="76200" dist="25400" dir="8100000">
              <a:srgbClr val="000000">
                <a:alpha val="35000"/>
              </a:srgbClr>
            </a:outerShdw>
          </a:effectLst>
        </p:spPr>
      </p:sp>
      <p:pic>
        <p:nvPicPr>
          <p:cNvPr id="17" name="Image 2" descr="preencoded.png">    </p:cNvPr>
          <p:cNvPicPr>
            <a:picLocks noChangeAspect="1"/>
          </p:cNvPicPr>
          <p:nvPr/>
        </p:nvPicPr>
        <p:blipFill>
          <a:blip r:embed="rId3"/>
          <a:stretch>
            <a:fillRect/>
          </a:stretch>
        </p:blipFill>
        <p:spPr>
          <a:xfrm>
            <a:off x="548640" y="2734056"/>
            <a:ext cx="320040" cy="320040"/>
          </a:xfrm>
          <a:prstGeom prst="rect">
            <a:avLst/>
          </a:prstGeom>
        </p:spPr>
      </p:pic>
      <p:sp>
        <p:nvSpPr>
          <p:cNvPr id="18" name="Text 13"/>
          <p:cNvSpPr/>
          <p:nvPr/>
        </p:nvSpPr>
        <p:spPr>
          <a:xfrm>
            <a:off x="1051560" y="2587752"/>
            <a:ext cx="2286000" cy="32004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OTel Collector</a:t>
            </a:r>
            <a:endParaRPr lang="en-US" sz="1400" dirty="0"/>
          </a:p>
        </p:txBody>
      </p:sp>
      <p:sp>
        <p:nvSpPr>
          <p:cNvPr id="19" name="Text 14"/>
          <p:cNvSpPr/>
          <p:nvPr/>
        </p:nvSpPr>
        <p:spPr>
          <a:xfrm>
            <a:off x="3383280" y="2587752"/>
            <a:ext cx="914400" cy="320040"/>
          </a:xfrm>
          <a:prstGeom prst="rect">
            <a:avLst/>
          </a:prstGeom>
          <a:noFill/>
          <a:ln/>
        </p:spPr>
        <p:txBody>
          <a:bodyPr wrap="square" lIns="0" tIns="0" rIns="0" bIns="0" rtlCol="0" anchor="ctr"/>
          <a:lstStyle/>
          <a:p>
            <a:pPr indent="0" marL="0">
              <a:buNone/>
            </a:pPr>
            <a:r>
              <a:rPr lang="en-US" sz="1200" dirty="0">
                <a:solidFill>
                  <a:srgbClr val="EF4444"/>
                </a:solidFill>
                <a:latin typeface="Consolas" pitchFamily="34" charset="0"/>
                <a:ea typeface="Consolas" pitchFamily="34" charset="-122"/>
                <a:cs typeface="Consolas" pitchFamily="34" charset="-120"/>
              </a:rPr>
              <a:t>3 cycles</a:t>
            </a:r>
            <a:endParaRPr lang="en-US" sz="1200" dirty="0"/>
          </a:p>
        </p:txBody>
      </p:sp>
      <p:sp>
        <p:nvSpPr>
          <p:cNvPr id="20" name="Text 15"/>
          <p:cNvSpPr/>
          <p:nvPr/>
        </p:nvSpPr>
        <p:spPr>
          <a:xfrm>
            <a:off x="1051560" y="2916936"/>
            <a:ext cx="7498080" cy="292608"/>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Chart 0.145 requires explicit image.repository. Wrong image variant (k8s vs contrib).</a:t>
            </a:r>
            <a:endParaRPr lang="en-US" sz="1100" dirty="0"/>
          </a:p>
        </p:txBody>
      </p:sp>
      <p:sp>
        <p:nvSpPr>
          <p:cNvPr id="21" name="Shape 16"/>
          <p:cNvSpPr/>
          <p:nvPr/>
        </p:nvSpPr>
        <p:spPr>
          <a:xfrm>
            <a:off x="365760" y="3374136"/>
            <a:ext cx="8412480" cy="694944"/>
          </a:xfrm>
          <a:prstGeom prst="rect">
            <a:avLst/>
          </a:prstGeom>
          <a:solidFill>
            <a:srgbClr val="151E30"/>
          </a:solidFill>
          <a:ln/>
          <a:effectLst>
            <a:outerShdw sx="100000" sy="100000" kx="0" ky="0" algn="bl" rotWithShape="0" blurRad="76200" dist="25400" dir="8100000">
              <a:srgbClr val="000000">
                <a:alpha val="35000"/>
              </a:srgbClr>
            </a:outerShdw>
          </a:effectLst>
        </p:spPr>
      </p:sp>
      <p:pic>
        <p:nvPicPr>
          <p:cNvPr id="22" name="Image 3" descr="preencoded.png">    </p:cNvPr>
          <p:cNvPicPr>
            <a:picLocks noChangeAspect="1"/>
          </p:cNvPicPr>
          <p:nvPr/>
        </p:nvPicPr>
        <p:blipFill>
          <a:blip r:embed="rId4"/>
          <a:stretch>
            <a:fillRect/>
          </a:stretch>
        </p:blipFill>
        <p:spPr>
          <a:xfrm>
            <a:off x="548640" y="3538728"/>
            <a:ext cx="320040" cy="320040"/>
          </a:xfrm>
          <a:prstGeom prst="rect">
            <a:avLst/>
          </a:prstGeom>
        </p:spPr>
      </p:pic>
      <p:sp>
        <p:nvSpPr>
          <p:cNvPr id="23" name="Text 17"/>
          <p:cNvSpPr/>
          <p:nvPr/>
        </p:nvSpPr>
        <p:spPr>
          <a:xfrm>
            <a:off x="1051560" y="3392424"/>
            <a:ext cx="2286000" cy="32004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ESO</a:t>
            </a:r>
            <a:endParaRPr lang="en-US" sz="1400" dirty="0"/>
          </a:p>
        </p:txBody>
      </p:sp>
      <p:sp>
        <p:nvSpPr>
          <p:cNvPr id="24" name="Text 18"/>
          <p:cNvSpPr/>
          <p:nvPr/>
        </p:nvSpPr>
        <p:spPr>
          <a:xfrm>
            <a:off x="3383280" y="3392424"/>
            <a:ext cx="914400" cy="320040"/>
          </a:xfrm>
          <a:prstGeom prst="rect">
            <a:avLst/>
          </a:prstGeom>
          <a:noFill/>
          <a:ln/>
        </p:spPr>
        <p:txBody>
          <a:bodyPr wrap="square" lIns="0" tIns="0" rIns="0" bIns="0" rtlCol="0" anchor="ctr"/>
          <a:lstStyle/>
          <a:p>
            <a:pPr indent="0" marL="0">
              <a:buNone/>
            </a:pPr>
            <a:r>
              <a:rPr lang="en-US" sz="1200" dirty="0">
                <a:solidFill>
                  <a:srgbClr val="EF4444"/>
                </a:solidFill>
                <a:latin typeface="Consolas" pitchFamily="34" charset="0"/>
                <a:ea typeface="Consolas" pitchFamily="34" charset="-122"/>
                <a:cs typeface="Consolas" pitchFamily="34" charset="-120"/>
              </a:rPr>
              <a:t>2 cycles</a:t>
            </a:r>
            <a:endParaRPr lang="en-US" sz="1200" dirty="0"/>
          </a:p>
        </p:txBody>
      </p:sp>
      <p:sp>
        <p:nvSpPr>
          <p:cNvPr id="25" name="Text 19"/>
          <p:cNvSpPr/>
          <p:nvPr/>
        </p:nvSpPr>
        <p:spPr>
          <a:xfrm>
            <a:off x="1051560" y="3721608"/>
            <a:ext cx="7498080" cy="292608"/>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API version v1 not v1beta1. ArgoCD cache stale after fix.</a:t>
            </a:r>
            <a:endParaRPr lang="en-US" sz="1100" dirty="0"/>
          </a:p>
        </p:txBody>
      </p:sp>
      <p:sp>
        <p:nvSpPr>
          <p:cNvPr id="26" name="Shape 20"/>
          <p:cNvSpPr/>
          <p:nvPr/>
        </p:nvSpPr>
        <p:spPr>
          <a:xfrm>
            <a:off x="365760" y="4251960"/>
            <a:ext cx="8412480" cy="548640"/>
          </a:xfrm>
          <a:prstGeom prst="rect">
            <a:avLst/>
          </a:prstGeom>
          <a:solidFill>
            <a:srgbClr val="3B1818"/>
          </a:solidFill>
          <a:ln/>
        </p:spPr>
      </p:sp>
      <p:sp>
        <p:nvSpPr>
          <p:cNvPr id="27" name="Text 21"/>
          <p:cNvSpPr/>
          <p:nvPr/>
        </p:nvSpPr>
        <p:spPr>
          <a:xfrm>
            <a:off x="548640" y="4251960"/>
            <a:ext cx="8046720" cy="548640"/>
          </a:xfrm>
          <a:prstGeom prst="rect">
            <a:avLst/>
          </a:prstGeom>
          <a:noFill/>
          <a:ln/>
        </p:spPr>
        <p:txBody>
          <a:bodyPr wrap="square" lIns="0" tIns="0" rIns="0" bIns="0" rtlCol="0" anchor="ctr"/>
          <a:lstStyle/>
          <a:p>
            <a:pPr algn="ctr" indent="0" marL="0">
              <a:buNone/>
            </a:pPr>
            <a:r>
              <a:rPr lang="en-US" sz="1400" i="1" dirty="0">
                <a:solidFill>
                  <a:srgbClr val="F59E0B"/>
                </a:solidFill>
                <a:latin typeface="Calibri" pitchFamily="34" charset="0"/>
                <a:ea typeface="Calibri" pitchFamily="34" charset="-122"/>
                <a:cs typeface="Calibri" pitchFamily="34" charset="-120"/>
              </a:rPr>
              <a:t>Version currency. Syntactically correct YAML for the wrong version of the software.</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365760" y="4773168"/>
            <a:ext cx="4572000" cy="228600"/>
          </a:xfrm>
          <a:prstGeom prst="rect">
            <a:avLst/>
          </a:prstGeom>
          <a:noFill/>
          <a:ln/>
        </p:spPr>
        <p:txBody>
          <a:bodyPr wrap="square" rtlCol="0" anchor="ctr"/>
          <a:lstStyle/>
          <a:p>
            <a:pPr indent="0" marL="0">
              <a:buNone/>
            </a:pPr>
            <a:r>
              <a:rPr lang="en-US" sz="700" dirty="0">
                <a:solidFill>
                  <a:srgbClr val="64748B"/>
                </a:solidFill>
                <a:latin typeface="Calibri" pitchFamily="34" charset="0"/>
                <a:ea typeface="Calibri" pitchFamily="34" charset="-122"/>
                <a:cs typeface="Calibri" pitchFamily="34" charset="-120"/>
              </a:rPr>
              <a:t>KubeAuto AI Day Europe 2026</a:t>
            </a:r>
            <a:endParaRPr lang="en-US" sz="700" dirty="0"/>
          </a:p>
        </p:txBody>
      </p:sp>
      <p:sp>
        <p:nvSpPr>
          <p:cNvPr id="3" name="Text 1"/>
          <p:cNvSpPr/>
          <p:nvPr/>
        </p:nvSpPr>
        <p:spPr>
          <a:xfrm>
            <a:off x="7863840" y="4773168"/>
            <a:ext cx="914400" cy="228600"/>
          </a:xfrm>
          <a:prstGeom prst="rect">
            <a:avLst/>
          </a:prstGeom>
          <a:noFill/>
          <a:ln/>
        </p:spPr>
        <p:txBody>
          <a:bodyPr wrap="square" rtlCol="0" anchor="ctr"/>
          <a:lstStyle/>
          <a:p>
            <a:pPr algn="r" indent="0" marL="0">
              <a:buNone/>
            </a:pPr>
            <a:r>
              <a:rPr lang="en-US" sz="700" dirty="0">
                <a:solidFill>
                  <a:srgbClr val="64748B"/>
                </a:solidFill>
                <a:latin typeface="Calibri" pitchFamily="34" charset="0"/>
                <a:ea typeface="Calibri" pitchFamily="34" charset="-122"/>
                <a:cs typeface="Calibri" pitchFamily="34" charset="-120"/>
              </a:rPr>
              <a:t>14/21</a:t>
            </a:r>
            <a:endParaRPr lang="en-US" sz="700" dirty="0"/>
          </a:p>
        </p:txBody>
      </p:sp>
      <p:sp>
        <p:nvSpPr>
          <p:cNvPr id="4" name="Text 2"/>
          <p:cNvSpPr/>
          <p:nvPr/>
        </p:nvSpPr>
        <p:spPr>
          <a:xfrm>
            <a:off x="731520" y="548640"/>
            <a:ext cx="7680960" cy="640080"/>
          </a:xfrm>
          <a:prstGeom prst="rect">
            <a:avLst/>
          </a:prstGeom>
          <a:noFill/>
          <a:ln/>
        </p:spPr>
        <p:txBody>
          <a:bodyPr wrap="square" lIns="0" tIns="0" rIns="0" bIns="0" rtlCol="0" anchor="ctr"/>
          <a:lstStyle/>
          <a:p>
            <a:pPr indent="0" marL="0">
              <a:buNone/>
            </a:pPr>
            <a:r>
              <a:rPr lang="en-US" sz="2800" dirty="0">
                <a:solidFill>
                  <a:srgbClr val="64748B"/>
                </a:solidFill>
                <a:latin typeface="Arial Black" pitchFamily="34" charset="0"/>
                <a:ea typeface="Arial Black" pitchFamily="34" charset="-122"/>
                <a:cs typeface="Arial Black" pitchFamily="34" charset="-120"/>
              </a:rPr>
              <a:t>AI didn't make me 19% slower.</a:t>
            </a:r>
            <a:endParaRPr lang="en-US" sz="2800" dirty="0"/>
          </a:p>
        </p:txBody>
      </p:sp>
      <p:sp>
        <p:nvSpPr>
          <p:cNvPr id="5" name="Text 3"/>
          <p:cNvSpPr/>
          <p:nvPr/>
        </p:nvSpPr>
        <p:spPr>
          <a:xfrm>
            <a:off x="731520" y="1188720"/>
            <a:ext cx="7680960" cy="731520"/>
          </a:xfrm>
          <a:prstGeom prst="rect">
            <a:avLst/>
          </a:prstGeom>
          <a:noFill/>
          <a:ln/>
        </p:spPr>
        <p:txBody>
          <a:bodyPr wrap="square" lIns="0" tIns="0" rIns="0" bIns="0" rtlCol="0" anchor="ctr"/>
          <a:lstStyle/>
          <a:p>
            <a:pPr indent="0" marL="0">
              <a:buNone/>
            </a:pPr>
            <a:r>
              <a:rPr lang="en-US" sz="3600" dirty="0">
                <a:solidFill>
                  <a:srgbClr val="22C55E"/>
                </a:solidFill>
                <a:latin typeface="Arial Black" pitchFamily="34" charset="0"/>
                <a:ea typeface="Arial Black" pitchFamily="34" charset="-122"/>
                <a:cs typeface="Arial Black" pitchFamily="34" charset="-120"/>
              </a:rPr>
              <a:t>AI made me 73.8% faster.</a:t>
            </a:r>
            <a:endParaRPr lang="en-US" sz="3600" dirty="0"/>
          </a:p>
        </p:txBody>
      </p:sp>
      <p:sp>
        <p:nvSpPr>
          <p:cNvPr id="6" name="Shape 4"/>
          <p:cNvSpPr/>
          <p:nvPr/>
        </p:nvSpPr>
        <p:spPr>
          <a:xfrm>
            <a:off x="731520" y="2103120"/>
            <a:ext cx="3657600" cy="36576"/>
          </a:xfrm>
          <a:prstGeom prst="rect">
            <a:avLst/>
          </a:prstGeom>
          <a:solidFill>
            <a:srgbClr val="0EA5E9"/>
          </a:solidFill>
          <a:ln/>
        </p:spPr>
      </p:sp>
      <p:sp>
        <p:nvSpPr>
          <p:cNvPr id="7" name="Text 5"/>
          <p:cNvSpPr/>
          <p:nvPr/>
        </p:nvSpPr>
        <p:spPr>
          <a:xfrm>
            <a:off x="731520" y="2377440"/>
            <a:ext cx="7680960" cy="457200"/>
          </a:xfrm>
          <a:prstGeom prst="rect">
            <a:avLst/>
          </a:prstGeom>
          <a:noFill/>
          <a:ln/>
        </p:spPr>
        <p:txBody>
          <a:bodyPr wrap="square" lIns="0" tIns="0" rIns="0" bIns="0" rtlCol="0" anchor="ctr"/>
          <a:lstStyle/>
          <a:p>
            <a:pPr indent="0" marL="0">
              <a:buNone/>
            </a:pPr>
            <a:r>
              <a:rPr lang="en-US" sz="2000" dirty="0">
                <a:solidFill>
                  <a:srgbClr val="F1F5F9"/>
                </a:solidFill>
                <a:latin typeface="Calibri" pitchFamily="34" charset="0"/>
                <a:ea typeface="Calibri" pitchFamily="34" charset="-122"/>
                <a:cs typeface="Calibri" pitchFamily="34" charset="-120"/>
              </a:rPr>
              <a:t>The difference is four constraints:</a:t>
            </a:r>
            <a:endParaRPr lang="en-US" sz="2000" dirty="0"/>
          </a:p>
        </p:txBody>
      </p:sp>
      <p:sp>
        <p:nvSpPr>
          <p:cNvPr id="8" name="Shape 6"/>
          <p:cNvSpPr/>
          <p:nvPr/>
        </p:nvSpPr>
        <p:spPr>
          <a:xfrm>
            <a:off x="731520" y="2743200"/>
            <a:ext cx="384048" cy="365760"/>
          </a:xfrm>
          <a:prstGeom prst="rect">
            <a:avLst/>
          </a:prstGeom>
          <a:solidFill>
            <a:srgbClr val="0EA5E9"/>
          </a:solidFill>
          <a:ln/>
        </p:spPr>
      </p:sp>
      <p:sp>
        <p:nvSpPr>
          <p:cNvPr id="9" name="Text 7"/>
          <p:cNvSpPr/>
          <p:nvPr/>
        </p:nvSpPr>
        <p:spPr>
          <a:xfrm>
            <a:off x="731520" y="2743200"/>
            <a:ext cx="384048" cy="365760"/>
          </a:xfrm>
          <a:prstGeom prst="rect">
            <a:avLst/>
          </a:prstGeom>
          <a:noFill/>
          <a:ln/>
        </p:spPr>
        <p:txBody>
          <a:bodyPr wrap="square" lIns="0" tIns="0" rIns="0" bIns="0" rtlCol="0" anchor="ctr"/>
          <a:lstStyle/>
          <a:p>
            <a:pPr algn="ctr" indent="0" marL="0">
              <a:buNone/>
            </a:pPr>
            <a:r>
              <a:rPr lang="en-US" sz="1600" dirty="0">
                <a:solidFill>
                  <a:srgbClr val="F8FAFC"/>
                </a:solidFill>
                <a:latin typeface="Arial Black" pitchFamily="34" charset="0"/>
                <a:ea typeface="Arial Black" pitchFamily="34" charset="-122"/>
                <a:cs typeface="Arial Black" pitchFamily="34" charset="-120"/>
              </a:rPr>
              <a:t>1</a:t>
            </a:r>
            <a:endParaRPr lang="en-US" sz="1600" dirty="0"/>
          </a:p>
        </p:txBody>
      </p:sp>
      <p:sp>
        <p:nvSpPr>
          <p:cNvPr id="10" name="Text 8"/>
          <p:cNvSpPr/>
          <p:nvPr/>
        </p:nvSpPr>
        <p:spPr>
          <a:xfrm>
            <a:off x="1280160" y="2743200"/>
            <a:ext cx="2286000" cy="365760"/>
          </a:xfrm>
          <a:prstGeom prst="rect">
            <a:avLst/>
          </a:prstGeom>
          <a:noFill/>
          <a:ln/>
        </p:spPr>
        <p:txBody>
          <a:bodyPr wrap="square" lIns="0" tIns="0" rIns="0" bIns="0" rtlCol="0" anchor="ctr"/>
          <a:lstStyle/>
          <a:p>
            <a:pPr indent="0" marL="0">
              <a:buNone/>
            </a:pPr>
            <a:r>
              <a:rPr lang="en-US" sz="1300" b="1" dirty="0">
                <a:solidFill>
                  <a:srgbClr val="F1F5F9"/>
                </a:solidFill>
                <a:latin typeface="Calibri" pitchFamily="34" charset="0"/>
                <a:ea typeface="Calibri" pitchFamily="34" charset="-122"/>
                <a:cs typeface="Calibri" pitchFamily="34" charset="-120"/>
              </a:rPr>
              <a:t>Skill files</a:t>
            </a:r>
            <a:endParaRPr lang="en-US" sz="1300" dirty="0"/>
          </a:p>
        </p:txBody>
      </p:sp>
      <p:sp>
        <p:nvSpPr>
          <p:cNvPr id="11" name="Text 9"/>
          <p:cNvSpPr/>
          <p:nvPr/>
        </p:nvSpPr>
        <p:spPr>
          <a:xfrm>
            <a:off x="3566160" y="2743200"/>
            <a:ext cx="5120640" cy="36576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Pinned versions, known pitfalls, correct API shapes</a:t>
            </a:r>
            <a:endParaRPr lang="en-US" sz="1100" dirty="0"/>
          </a:p>
        </p:txBody>
      </p:sp>
      <p:sp>
        <p:nvSpPr>
          <p:cNvPr id="12" name="Shape 10"/>
          <p:cNvSpPr/>
          <p:nvPr/>
        </p:nvSpPr>
        <p:spPr>
          <a:xfrm>
            <a:off x="731520" y="3182112"/>
            <a:ext cx="384048" cy="365760"/>
          </a:xfrm>
          <a:prstGeom prst="rect">
            <a:avLst/>
          </a:prstGeom>
          <a:solidFill>
            <a:srgbClr val="0EA5E9"/>
          </a:solidFill>
          <a:ln/>
        </p:spPr>
      </p:sp>
      <p:sp>
        <p:nvSpPr>
          <p:cNvPr id="13" name="Text 11"/>
          <p:cNvSpPr/>
          <p:nvPr/>
        </p:nvSpPr>
        <p:spPr>
          <a:xfrm>
            <a:off x="731520" y="3182112"/>
            <a:ext cx="384048" cy="365760"/>
          </a:xfrm>
          <a:prstGeom prst="rect">
            <a:avLst/>
          </a:prstGeom>
          <a:noFill/>
          <a:ln/>
        </p:spPr>
        <p:txBody>
          <a:bodyPr wrap="square" lIns="0" tIns="0" rIns="0" bIns="0" rtlCol="0" anchor="ctr"/>
          <a:lstStyle/>
          <a:p>
            <a:pPr algn="ctr" indent="0" marL="0">
              <a:buNone/>
            </a:pPr>
            <a:r>
              <a:rPr lang="en-US" sz="1600" dirty="0">
                <a:solidFill>
                  <a:srgbClr val="F8FAFC"/>
                </a:solidFill>
                <a:latin typeface="Arial Black" pitchFamily="34" charset="0"/>
                <a:ea typeface="Arial Black" pitchFamily="34" charset="-122"/>
                <a:cs typeface="Arial Black" pitchFamily="34" charset="-120"/>
              </a:rPr>
              <a:t>2</a:t>
            </a:r>
            <a:endParaRPr lang="en-US" sz="1600" dirty="0"/>
          </a:p>
        </p:txBody>
      </p:sp>
      <p:sp>
        <p:nvSpPr>
          <p:cNvPr id="14" name="Text 12"/>
          <p:cNvSpPr/>
          <p:nvPr/>
        </p:nvSpPr>
        <p:spPr>
          <a:xfrm>
            <a:off x="1280160" y="3182112"/>
            <a:ext cx="2286000" cy="365760"/>
          </a:xfrm>
          <a:prstGeom prst="rect">
            <a:avLst/>
          </a:prstGeom>
          <a:noFill/>
          <a:ln/>
        </p:spPr>
        <p:txBody>
          <a:bodyPr wrap="square" lIns="0" tIns="0" rIns="0" bIns="0" rtlCol="0" anchor="ctr"/>
          <a:lstStyle/>
          <a:p>
            <a:pPr indent="0" marL="0">
              <a:buNone/>
            </a:pPr>
            <a:r>
              <a:rPr lang="en-US" sz="1300" b="1" dirty="0">
                <a:solidFill>
                  <a:srgbClr val="F1F5F9"/>
                </a:solidFill>
                <a:latin typeface="Calibri" pitchFamily="34" charset="0"/>
                <a:ea typeface="Calibri" pitchFamily="34" charset="-122"/>
                <a:cs typeface="Calibri" pitchFamily="34" charset="-120"/>
              </a:rPr>
              <a:t>TDD</a:t>
            </a:r>
            <a:endParaRPr lang="en-US" sz="1300" dirty="0"/>
          </a:p>
        </p:txBody>
      </p:sp>
      <p:sp>
        <p:nvSpPr>
          <p:cNvPr id="15" name="Text 13"/>
          <p:cNvSpPr/>
          <p:nvPr/>
        </p:nvSpPr>
        <p:spPr>
          <a:xfrm>
            <a:off x="3566160" y="3182112"/>
            <a:ext cx="5120640" cy="36576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Failing test first = immediate signal when AI is wrong</a:t>
            </a:r>
            <a:endParaRPr lang="en-US" sz="1100" dirty="0"/>
          </a:p>
        </p:txBody>
      </p:sp>
      <p:sp>
        <p:nvSpPr>
          <p:cNvPr id="16" name="Shape 14"/>
          <p:cNvSpPr/>
          <p:nvPr/>
        </p:nvSpPr>
        <p:spPr>
          <a:xfrm>
            <a:off x="731520" y="3621024"/>
            <a:ext cx="384048" cy="365760"/>
          </a:xfrm>
          <a:prstGeom prst="rect">
            <a:avLst/>
          </a:prstGeom>
          <a:solidFill>
            <a:srgbClr val="0EA5E9"/>
          </a:solidFill>
          <a:ln/>
        </p:spPr>
      </p:sp>
      <p:sp>
        <p:nvSpPr>
          <p:cNvPr id="17" name="Text 15"/>
          <p:cNvSpPr/>
          <p:nvPr/>
        </p:nvSpPr>
        <p:spPr>
          <a:xfrm>
            <a:off x="731520" y="3621024"/>
            <a:ext cx="384048" cy="365760"/>
          </a:xfrm>
          <a:prstGeom prst="rect">
            <a:avLst/>
          </a:prstGeom>
          <a:noFill/>
          <a:ln/>
        </p:spPr>
        <p:txBody>
          <a:bodyPr wrap="square" lIns="0" tIns="0" rIns="0" bIns="0" rtlCol="0" anchor="ctr"/>
          <a:lstStyle/>
          <a:p>
            <a:pPr algn="ctr" indent="0" marL="0">
              <a:buNone/>
            </a:pPr>
            <a:r>
              <a:rPr lang="en-US" sz="1600" dirty="0">
                <a:solidFill>
                  <a:srgbClr val="F8FAFC"/>
                </a:solidFill>
                <a:latin typeface="Arial Black" pitchFamily="34" charset="0"/>
                <a:ea typeface="Arial Black" pitchFamily="34" charset="-122"/>
                <a:cs typeface="Arial Black" pitchFamily="34" charset="-120"/>
              </a:rPr>
              <a:t>3</a:t>
            </a:r>
            <a:endParaRPr lang="en-US" sz="1600" dirty="0"/>
          </a:p>
        </p:txBody>
      </p:sp>
      <p:sp>
        <p:nvSpPr>
          <p:cNvPr id="18" name="Text 16"/>
          <p:cNvSpPr/>
          <p:nvPr/>
        </p:nvSpPr>
        <p:spPr>
          <a:xfrm>
            <a:off x="1280160" y="3621024"/>
            <a:ext cx="2286000" cy="365760"/>
          </a:xfrm>
          <a:prstGeom prst="rect">
            <a:avLst/>
          </a:prstGeom>
          <a:noFill/>
          <a:ln/>
        </p:spPr>
        <p:txBody>
          <a:bodyPr wrap="square" lIns="0" tIns="0" rIns="0" bIns="0" rtlCol="0" anchor="ctr"/>
          <a:lstStyle/>
          <a:p>
            <a:pPr indent="0" marL="0">
              <a:buNone/>
            </a:pPr>
            <a:r>
              <a:rPr lang="en-US" sz="1300" b="1" dirty="0">
                <a:solidFill>
                  <a:srgbClr val="F1F5F9"/>
                </a:solidFill>
                <a:latin typeface="Calibri" pitchFamily="34" charset="0"/>
                <a:ea typeface="Calibri" pitchFamily="34" charset="-122"/>
                <a:cs typeface="Calibri" pitchFamily="34" charset="-120"/>
              </a:rPr>
              <a:t>Guardrails</a:t>
            </a:r>
            <a:endParaRPr lang="en-US" sz="1300" dirty="0"/>
          </a:p>
        </p:txBody>
      </p:sp>
      <p:sp>
        <p:nvSpPr>
          <p:cNvPr id="19" name="Text 17"/>
          <p:cNvSpPr/>
          <p:nvPr/>
        </p:nvSpPr>
        <p:spPr>
          <a:xfrm>
            <a:off x="3566160" y="3621024"/>
            <a:ext cx="5120640" cy="36576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Three layers preventing AI from touching what it shouldn't</a:t>
            </a:r>
            <a:endParaRPr lang="en-US" sz="1100" dirty="0"/>
          </a:p>
        </p:txBody>
      </p:sp>
      <p:sp>
        <p:nvSpPr>
          <p:cNvPr id="20" name="Shape 18"/>
          <p:cNvSpPr/>
          <p:nvPr/>
        </p:nvSpPr>
        <p:spPr>
          <a:xfrm>
            <a:off x="731520" y="4059936"/>
            <a:ext cx="384048" cy="365760"/>
          </a:xfrm>
          <a:prstGeom prst="rect">
            <a:avLst/>
          </a:prstGeom>
          <a:solidFill>
            <a:srgbClr val="0EA5E9"/>
          </a:solidFill>
          <a:ln/>
        </p:spPr>
      </p:sp>
      <p:sp>
        <p:nvSpPr>
          <p:cNvPr id="21" name="Text 19"/>
          <p:cNvSpPr/>
          <p:nvPr/>
        </p:nvSpPr>
        <p:spPr>
          <a:xfrm>
            <a:off x="731520" y="4059936"/>
            <a:ext cx="384048" cy="365760"/>
          </a:xfrm>
          <a:prstGeom prst="rect">
            <a:avLst/>
          </a:prstGeom>
          <a:noFill/>
          <a:ln/>
        </p:spPr>
        <p:txBody>
          <a:bodyPr wrap="square" lIns="0" tIns="0" rIns="0" bIns="0" rtlCol="0" anchor="ctr"/>
          <a:lstStyle/>
          <a:p>
            <a:pPr algn="ctr" indent="0" marL="0">
              <a:buNone/>
            </a:pPr>
            <a:r>
              <a:rPr lang="en-US" sz="1600" dirty="0">
                <a:solidFill>
                  <a:srgbClr val="F8FAFC"/>
                </a:solidFill>
                <a:latin typeface="Arial Black" pitchFamily="34" charset="0"/>
                <a:ea typeface="Arial Black" pitchFamily="34" charset="-122"/>
                <a:cs typeface="Arial Black" pitchFamily="34" charset="-120"/>
              </a:rPr>
              <a:t>4</a:t>
            </a:r>
            <a:endParaRPr lang="en-US" sz="1600" dirty="0"/>
          </a:p>
        </p:txBody>
      </p:sp>
      <p:sp>
        <p:nvSpPr>
          <p:cNvPr id="22" name="Text 20"/>
          <p:cNvSpPr/>
          <p:nvPr/>
        </p:nvSpPr>
        <p:spPr>
          <a:xfrm>
            <a:off x="1280160" y="4059936"/>
            <a:ext cx="2286000" cy="365760"/>
          </a:xfrm>
          <a:prstGeom prst="rect">
            <a:avLst/>
          </a:prstGeom>
          <a:noFill/>
          <a:ln/>
        </p:spPr>
        <p:txBody>
          <a:bodyPr wrap="square" lIns="0" tIns="0" rIns="0" bIns="0" rtlCol="0" anchor="ctr"/>
          <a:lstStyle/>
          <a:p>
            <a:pPr indent="0" marL="0">
              <a:buNone/>
            </a:pPr>
            <a:r>
              <a:rPr lang="en-US" sz="1300" b="1" dirty="0">
                <a:solidFill>
                  <a:srgbClr val="F1F5F9"/>
                </a:solidFill>
                <a:latin typeface="Calibri" pitchFamily="34" charset="0"/>
                <a:ea typeface="Calibri" pitchFamily="34" charset="-122"/>
                <a:cs typeface="Calibri" pitchFamily="34" charset="-120"/>
              </a:rPr>
              <a:t>Human review</a:t>
            </a:r>
            <a:endParaRPr lang="en-US" sz="1300" dirty="0"/>
          </a:p>
        </p:txBody>
      </p:sp>
      <p:sp>
        <p:nvSpPr>
          <p:cNvPr id="23" name="Text 21"/>
          <p:cNvSpPr/>
          <p:nvPr/>
        </p:nvSpPr>
        <p:spPr>
          <a:xfrm>
            <a:off x="3566160" y="4059936"/>
            <a:ext cx="5120640" cy="36576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Every output scored. Every correction documented.</a:t>
            </a:r>
            <a:endParaRPr lang="en-US" sz="1100" dirty="0"/>
          </a:p>
        </p:txBody>
      </p:sp>
      <p:sp>
        <p:nvSpPr>
          <p:cNvPr id="24" name="Shape 22"/>
          <p:cNvSpPr/>
          <p:nvPr/>
        </p:nvSpPr>
        <p:spPr>
          <a:xfrm>
            <a:off x="365760" y="4572000"/>
            <a:ext cx="8412480" cy="411480"/>
          </a:xfrm>
          <a:prstGeom prst="rect">
            <a:avLst/>
          </a:prstGeom>
          <a:solidFill>
            <a:srgbClr val="0C2D1A"/>
          </a:solidFill>
          <a:ln/>
        </p:spPr>
      </p:sp>
      <p:sp>
        <p:nvSpPr>
          <p:cNvPr id="25" name="Text 23"/>
          <p:cNvSpPr/>
          <p:nvPr/>
        </p:nvSpPr>
        <p:spPr>
          <a:xfrm>
            <a:off x="365760" y="4572000"/>
            <a:ext cx="8412480" cy="411480"/>
          </a:xfrm>
          <a:prstGeom prst="rect">
            <a:avLst/>
          </a:prstGeom>
          <a:noFill/>
          <a:ln/>
        </p:spPr>
        <p:txBody>
          <a:bodyPr wrap="square" lIns="0" tIns="0" rIns="0" bIns="0" rtlCol="0" anchor="ctr"/>
          <a:lstStyle/>
          <a:p>
            <a:pPr algn="ctr" indent="0" marL="0">
              <a:buNone/>
            </a:pPr>
            <a:r>
              <a:rPr lang="en-US" sz="1400" b="1" i="1" dirty="0">
                <a:solidFill>
                  <a:srgbClr val="22C55E"/>
                </a:solidFill>
                <a:latin typeface="Calibri" pitchFamily="34" charset="0"/>
                <a:ea typeface="Calibri" pitchFamily="34" charset="-122"/>
                <a:cs typeface="Calibri" pitchFamily="34" charset="-120"/>
              </a:rPr>
              <a:t>AI is phenomenal at boring. Infrastructure should be boring. That's the point.</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59E0B"/>
          </a:solidFill>
          <a:ln/>
        </p:spPr>
      </p:sp>
      <p:sp>
        <p:nvSpPr>
          <p:cNvPr id="3" name="Text 1"/>
          <p:cNvSpPr/>
          <p:nvPr/>
        </p:nvSpPr>
        <p:spPr>
          <a:xfrm>
            <a:off x="365760" y="4773168"/>
            <a:ext cx="4572000" cy="228600"/>
          </a:xfrm>
          <a:prstGeom prst="rect">
            <a:avLst/>
          </a:prstGeom>
          <a:noFill/>
          <a:ln/>
        </p:spPr>
        <p:txBody>
          <a:bodyPr wrap="square" rtlCol="0" anchor="ctr"/>
          <a:lstStyle/>
          <a:p>
            <a:pPr indent="0" marL="0">
              <a:buNone/>
            </a:pPr>
            <a:r>
              <a:rPr lang="en-US" sz="700" dirty="0">
                <a:solidFill>
                  <a:srgbClr val="64748B"/>
                </a:solidFill>
                <a:latin typeface="Calibri" pitchFamily="34" charset="0"/>
                <a:ea typeface="Calibri" pitchFamily="34" charset="-122"/>
                <a:cs typeface="Calibri" pitchFamily="34" charset="-120"/>
              </a:rPr>
              <a:t>KubeAuto AI Day Europe 2026</a:t>
            </a:r>
            <a:endParaRPr lang="en-US" sz="700" dirty="0"/>
          </a:p>
        </p:txBody>
      </p:sp>
      <p:sp>
        <p:nvSpPr>
          <p:cNvPr id="4" name="Text 2"/>
          <p:cNvSpPr/>
          <p:nvPr/>
        </p:nvSpPr>
        <p:spPr>
          <a:xfrm>
            <a:off x="7863840" y="4773168"/>
            <a:ext cx="914400" cy="228600"/>
          </a:xfrm>
          <a:prstGeom prst="rect">
            <a:avLst/>
          </a:prstGeom>
          <a:noFill/>
          <a:ln/>
        </p:spPr>
        <p:txBody>
          <a:bodyPr wrap="square" rtlCol="0" anchor="ctr"/>
          <a:lstStyle/>
          <a:p>
            <a:pPr algn="r" indent="0" marL="0">
              <a:buNone/>
            </a:pPr>
            <a:r>
              <a:rPr lang="en-US" sz="700" dirty="0">
                <a:solidFill>
                  <a:srgbClr val="64748B"/>
                </a:solidFill>
                <a:latin typeface="Calibri" pitchFamily="34" charset="0"/>
                <a:ea typeface="Calibri" pitchFamily="34" charset="-122"/>
                <a:cs typeface="Calibri" pitchFamily="34" charset="-120"/>
              </a:rPr>
              <a:t>15/21</a:t>
            </a:r>
            <a:endParaRPr lang="en-US" sz="700" dirty="0"/>
          </a:p>
        </p:txBody>
      </p:sp>
      <p:sp>
        <p:nvSpPr>
          <p:cNvPr id="5" name="Text 3"/>
          <p:cNvSpPr/>
          <p:nvPr/>
        </p:nvSpPr>
        <p:spPr>
          <a:xfrm>
            <a:off x="457200" y="228600"/>
            <a:ext cx="8229600" cy="548640"/>
          </a:xfrm>
          <a:prstGeom prst="rect">
            <a:avLst/>
          </a:prstGeom>
          <a:noFill/>
          <a:ln/>
        </p:spPr>
        <p:txBody>
          <a:bodyPr wrap="square" lIns="0" tIns="0" rIns="0" bIns="0" rtlCol="0" anchor="ctr"/>
          <a:lstStyle/>
          <a:p>
            <a:pPr indent="0" marL="0">
              <a:buNone/>
            </a:pPr>
            <a:r>
              <a:rPr lang="en-US" sz="2800" dirty="0">
                <a:solidFill>
                  <a:srgbClr val="F8FAFC"/>
                </a:solidFill>
                <a:latin typeface="Arial Black" pitchFamily="34" charset="0"/>
                <a:ea typeface="Arial Black" pitchFamily="34" charset="-122"/>
                <a:cs typeface="Arial Black" pitchFamily="34" charset="-120"/>
              </a:rPr>
              <a:t>What 73.8% Doesn't Tell You.</a:t>
            </a:r>
            <a:endParaRPr lang="en-US" sz="2800" dirty="0"/>
          </a:p>
        </p:txBody>
      </p:sp>
      <p:sp>
        <p:nvSpPr>
          <p:cNvPr id="6" name="Shape 4"/>
          <p:cNvSpPr/>
          <p:nvPr/>
        </p:nvSpPr>
        <p:spPr>
          <a:xfrm>
            <a:off x="365760" y="914400"/>
            <a:ext cx="8412480" cy="1143000"/>
          </a:xfrm>
          <a:prstGeom prst="rect">
            <a:avLst/>
          </a:prstGeom>
          <a:solidFill>
            <a:srgbClr val="151E30"/>
          </a:solidFill>
          <a:ln/>
          <a:effectLst>
            <a:outerShdw sx="100000" sy="100000" kx="0" ky="0" algn="bl" rotWithShape="0" blurRad="76200" dist="25400" dir="8100000">
              <a:srgbClr val="000000">
                <a:alpha val="35000"/>
              </a:srgbClr>
            </a:outerShdw>
          </a:effectLst>
        </p:spPr>
      </p:sp>
      <p:sp>
        <p:nvSpPr>
          <p:cNvPr id="7" name="Shape 5"/>
          <p:cNvSpPr/>
          <p:nvPr/>
        </p:nvSpPr>
        <p:spPr>
          <a:xfrm>
            <a:off x="365760" y="914400"/>
            <a:ext cx="54864" cy="1143000"/>
          </a:xfrm>
          <a:prstGeom prst="rect">
            <a:avLst/>
          </a:prstGeom>
          <a:solidFill>
            <a:srgbClr val="F59E0B"/>
          </a:solidFill>
          <a:ln/>
        </p:spPr>
      </p:sp>
      <p:sp>
        <p:nvSpPr>
          <p:cNvPr id="8" name="Text 6"/>
          <p:cNvSpPr/>
          <p:nvPr/>
        </p:nvSpPr>
        <p:spPr>
          <a:xfrm>
            <a:off x="548640" y="960120"/>
            <a:ext cx="1097280" cy="548640"/>
          </a:xfrm>
          <a:prstGeom prst="rect">
            <a:avLst/>
          </a:prstGeom>
          <a:noFill/>
          <a:ln/>
        </p:spPr>
        <p:txBody>
          <a:bodyPr wrap="square" lIns="0" tIns="0" rIns="0" bIns="0" rtlCol="0" anchor="ctr"/>
          <a:lstStyle/>
          <a:p>
            <a:pPr algn="ctr" indent="0" marL="0">
              <a:buNone/>
            </a:pPr>
            <a:r>
              <a:rPr lang="en-US" sz="3400" dirty="0">
                <a:solidFill>
                  <a:srgbClr val="F59E0B"/>
                </a:solidFill>
                <a:latin typeface="Arial Black" pitchFamily="34" charset="0"/>
                <a:ea typeface="Arial Black" pitchFamily="34" charset="-122"/>
                <a:cs typeface="Arial Black" pitchFamily="34" charset="-120"/>
              </a:rPr>
              <a:t>60+</a:t>
            </a:r>
            <a:endParaRPr lang="en-US" sz="3400" dirty="0"/>
          </a:p>
        </p:txBody>
      </p:sp>
      <p:sp>
        <p:nvSpPr>
          <p:cNvPr id="9" name="Text 7"/>
          <p:cNvSpPr/>
          <p:nvPr/>
        </p:nvSpPr>
        <p:spPr>
          <a:xfrm>
            <a:off x="548640" y="1508760"/>
            <a:ext cx="1097280" cy="274320"/>
          </a:xfrm>
          <a:prstGeom prst="rect">
            <a:avLst/>
          </a:prstGeom>
          <a:noFill/>
          <a:ln/>
        </p:spPr>
        <p:txBody>
          <a:bodyPr wrap="square" lIns="0" tIns="0" rIns="0" bIns="0" rtlCol="0" anchor="ctr"/>
          <a:lstStyle/>
          <a:p>
            <a:pPr algn="ctr" indent="0" marL="0">
              <a:buNone/>
            </a:pPr>
            <a:r>
              <a:rPr lang="en-US" sz="1100" dirty="0">
                <a:solidFill>
                  <a:srgbClr val="F59E0B"/>
                </a:solidFill>
                <a:latin typeface="Calibri" pitchFamily="34" charset="0"/>
                <a:ea typeface="Calibri" pitchFamily="34" charset="-122"/>
                <a:cs typeface="Calibri" pitchFamily="34" charset="-120"/>
              </a:rPr>
              <a:t>hours</a:t>
            </a:r>
            <a:endParaRPr lang="en-US" sz="1100" dirty="0"/>
          </a:p>
        </p:txBody>
      </p:sp>
      <p:sp>
        <p:nvSpPr>
          <p:cNvPr id="10" name="Text 8"/>
          <p:cNvSpPr/>
          <p:nvPr/>
        </p:nvSpPr>
        <p:spPr>
          <a:xfrm>
            <a:off x="1828800" y="960120"/>
            <a:ext cx="6583680" cy="320040"/>
          </a:xfrm>
          <a:prstGeom prst="rect">
            <a:avLst/>
          </a:prstGeom>
          <a:noFill/>
          <a:ln/>
        </p:spPr>
        <p:txBody>
          <a:bodyPr wrap="square" lIns="0" tIns="0" rIns="0" bIns="0" rtlCol="0" anchor="ctr"/>
          <a:lstStyle/>
          <a:p>
            <a:pPr indent="0" marL="0">
              <a:buNone/>
            </a:pPr>
            <a:r>
              <a:rPr lang="en-US" sz="1500" b="1" dirty="0">
                <a:solidFill>
                  <a:srgbClr val="F1F5F9"/>
                </a:solidFill>
                <a:latin typeface="Calibri" pitchFamily="34" charset="0"/>
                <a:ea typeface="Calibri" pitchFamily="34" charset="-122"/>
                <a:cs typeface="Calibri" pitchFamily="34" charset="-120"/>
              </a:rPr>
              <a:t>of invisible investment came first</a:t>
            </a:r>
            <a:endParaRPr lang="en-US" sz="1500" dirty="0"/>
          </a:p>
        </p:txBody>
      </p:sp>
      <p:sp>
        <p:nvSpPr>
          <p:cNvPr id="11" name="Text 9"/>
          <p:cNvSpPr/>
          <p:nvPr/>
        </p:nvSpPr>
        <p:spPr>
          <a:xfrm>
            <a:off x="1828800" y="1298448"/>
            <a:ext cx="6766560" cy="68580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Skill files. Stop hooks. Pre-tool and post-tool hooks. State persistence files for context rot. Cloud.md front matter. CI/CD pipelines. Two dedicated repos for LLM coding workflows. 10 hours studying how the 4.x series handles hallucinations and context windows. The 10-hour clock started after all of that was in place.</a:t>
            </a:r>
            <a:endParaRPr lang="en-US" sz="1100" dirty="0"/>
          </a:p>
        </p:txBody>
      </p:sp>
      <p:sp>
        <p:nvSpPr>
          <p:cNvPr id="12" name="Shape 10"/>
          <p:cNvSpPr/>
          <p:nvPr/>
        </p:nvSpPr>
        <p:spPr>
          <a:xfrm>
            <a:off x="365760" y="2212848"/>
            <a:ext cx="8412480" cy="1143000"/>
          </a:xfrm>
          <a:prstGeom prst="rect">
            <a:avLst/>
          </a:prstGeom>
          <a:solidFill>
            <a:srgbClr val="151E30"/>
          </a:solidFill>
          <a:ln/>
          <a:effectLst>
            <a:outerShdw sx="100000" sy="100000" kx="0" ky="0" algn="bl" rotWithShape="0" blurRad="76200" dist="25400" dir="8100000">
              <a:srgbClr val="000000">
                <a:alpha val="35000"/>
              </a:srgbClr>
            </a:outerShdw>
          </a:effectLst>
        </p:spPr>
      </p:sp>
      <p:sp>
        <p:nvSpPr>
          <p:cNvPr id="13" name="Shape 11"/>
          <p:cNvSpPr/>
          <p:nvPr/>
        </p:nvSpPr>
        <p:spPr>
          <a:xfrm>
            <a:off x="365760" y="2212848"/>
            <a:ext cx="54864" cy="1143000"/>
          </a:xfrm>
          <a:prstGeom prst="rect">
            <a:avLst/>
          </a:prstGeom>
          <a:solidFill>
            <a:srgbClr val="F43F5E"/>
          </a:solidFill>
          <a:ln/>
        </p:spPr>
      </p:sp>
      <p:sp>
        <p:nvSpPr>
          <p:cNvPr id="14" name="Text 12"/>
          <p:cNvSpPr/>
          <p:nvPr/>
        </p:nvSpPr>
        <p:spPr>
          <a:xfrm>
            <a:off x="548640" y="2258568"/>
            <a:ext cx="1097280" cy="548640"/>
          </a:xfrm>
          <a:prstGeom prst="rect">
            <a:avLst/>
          </a:prstGeom>
          <a:noFill/>
          <a:ln/>
        </p:spPr>
        <p:txBody>
          <a:bodyPr wrap="square" lIns="0" tIns="0" rIns="0" bIns="0" rtlCol="0" anchor="ctr"/>
          <a:lstStyle/>
          <a:p>
            <a:pPr algn="ctr" indent="0" marL="0">
              <a:buNone/>
            </a:pPr>
            <a:r>
              <a:rPr lang="en-US" sz="3400" dirty="0">
                <a:solidFill>
                  <a:srgbClr val="F43F5E"/>
                </a:solidFill>
                <a:latin typeface="Arial Black" pitchFamily="34" charset="0"/>
                <a:ea typeface="Arial Black" pitchFamily="34" charset="-122"/>
                <a:cs typeface="Arial Black" pitchFamily="34" charset="-120"/>
              </a:rPr>
              <a:t>30</a:t>
            </a:r>
            <a:endParaRPr lang="en-US" sz="3400" dirty="0"/>
          </a:p>
        </p:txBody>
      </p:sp>
      <p:sp>
        <p:nvSpPr>
          <p:cNvPr id="15" name="Text 13"/>
          <p:cNvSpPr/>
          <p:nvPr/>
        </p:nvSpPr>
        <p:spPr>
          <a:xfrm>
            <a:off x="548640" y="2807208"/>
            <a:ext cx="1097280" cy="274320"/>
          </a:xfrm>
          <a:prstGeom prst="rect">
            <a:avLst/>
          </a:prstGeom>
          <a:noFill/>
          <a:ln/>
        </p:spPr>
        <p:txBody>
          <a:bodyPr wrap="square" lIns="0" tIns="0" rIns="0" bIns="0" rtlCol="0" anchor="ctr"/>
          <a:lstStyle/>
          <a:p>
            <a:pPr algn="ctr" indent="0" marL="0">
              <a:buNone/>
            </a:pPr>
            <a:r>
              <a:rPr lang="en-US" sz="1100" dirty="0">
                <a:solidFill>
                  <a:srgbClr val="F43F5E"/>
                </a:solidFill>
                <a:latin typeface="Calibri" pitchFamily="34" charset="0"/>
                <a:ea typeface="Calibri" pitchFamily="34" charset="-122"/>
                <a:cs typeface="Calibri" pitchFamily="34" charset="-120"/>
              </a:rPr>
              <a:t>years</a:t>
            </a:r>
            <a:endParaRPr lang="en-US" sz="1100" dirty="0"/>
          </a:p>
        </p:txBody>
      </p:sp>
      <p:sp>
        <p:nvSpPr>
          <p:cNvPr id="16" name="Text 14"/>
          <p:cNvSpPr/>
          <p:nvPr/>
        </p:nvSpPr>
        <p:spPr>
          <a:xfrm>
            <a:off x="1828800" y="2258568"/>
            <a:ext cx="6583680" cy="320040"/>
          </a:xfrm>
          <a:prstGeom prst="rect">
            <a:avLst/>
          </a:prstGeom>
          <a:noFill/>
          <a:ln/>
        </p:spPr>
        <p:txBody>
          <a:bodyPr wrap="square" lIns="0" tIns="0" rIns="0" bIns="0" rtlCol="0" anchor="ctr"/>
          <a:lstStyle/>
          <a:p>
            <a:pPr indent="0" marL="0">
              <a:buNone/>
            </a:pPr>
            <a:r>
              <a:rPr lang="en-US" sz="1500" b="1" dirty="0">
                <a:solidFill>
                  <a:srgbClr val="F1F5F9"/>
                </a:solidFill>
                <a:latin typeface="Calibri" pitchFamily="34" charset="0"/>
                <a:ea typeface="Calibri" pitchFamily="34" charset="-122"/>
                <a:cs typeface="Calibri" pitchFamily="34" charset="-120"/>
              </a:rPr>
              <a:t>of experience caught the errors</a:t>
            </a:r>
            <a:endParaRPr lang="en-US" sz="1500" dirty="0"/>
          </a:p>
        </p:txBody>
      </p:sp>
      <p:sp>
        <p:nvSpPr>
          <p:cNvPr id="17" name="Text 15"/>
          <p:cNvSpPr/>
          <p:nvPr/>
        </p:nvSpPr>
        <p:spPr>
          <a:xfrm>
            <a:off x="1828800" y="2596896"/>
            <a:ext cx="6766560" cy="68580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When the AI wrote Terraform for module v20 instead of v21, I caught it in seconds. A junior engineer might not catch it for days. The scorecard measures AI output quality — but the review layer depends entirely on the human's expertise. My 73.8% is partly my knowledge, not just the AI's speed.</a:t>
            </a:r>
            <a:endParaRPr lang="en-US" sz="1100" dirty="0"/>
          </a:p>
        </p:txBody>
      </p:sp>
      <p:sp>
        <p:nvSpPr>
          <p:cNvPr id="18" name="Shape 16"/>
          <p:cNvSpPr/>
          <p:nvPr/>
        </p:nvSpPr>
        <p:spPr>
          <a:xfrm>
            <a:off x="365760" y="3511296"/>
            <a:ext cx="8412480" cy="1143000"/>
          </a:xfrm>
          <a:prstGeom prst="rect">
            <a:avLst/>
          </a:prstGeom>
          <a:solidFill>
            <a:srgbClr val="151E30"/>
          </a:solidFill>
          <a:ln/>
          <a:effectLst>
            <a:outerShdw sx="100000" sy="100000" kx="0" ky="0" algn="bl" rotWithShape="0" blurRad="76200" dist="25400" dir="8100000">
              <a:srgbClr val="000000">
                <a:alpha val="35000"/>
              </a:srgbClr>
            </a:outerShdw>
          </a:effectLst>
        </p:spPr>
      </p:sp>
      <p:sp>
        <p:nvSpPr>
          <p:cNvPr id="19" name="Shape 17"/>
          <p:cNvSpPr/>
          <p:nvPr/>
        </p:nvSpPr>
        <p:spPr>
          <a:xfrm>
            <a:off x="365760" y="3511296"/>
            <a:ext cx="54864" cy="1143000"/>
          </a:xfrm>
          <a:prstGeom prst="rect">
            <a:avLst/>
          </a:prstGeom>
          <a:solidFill>
            <a:srgbClr val="0EA5E9"/>
          </a:solidFill>
          <a:ln/>
        </p:spPr>
      </p:sp>
      <p:sp>
        <p:nvSpPr>
          <p:cNvPr id="20" name="Text 18"/>
          <p:cNvSpPr/>
          <p:nvPr/>
        </p:nvSpPr>
        <p:spPr>
          <a:xfrm>
            <a:off x="548640" y="3557016"/>
            <a:ext cx="1097280" cy="548640"/>
          </a:xfrm>
          <a:prstGeom prst="rect">
            <a:avLst/>
          </a:prstGeom>
          <a:noFill/>
          <a:ln/>
        </p:spPr>
        <p:txBody>
          <a:bodyPr wrap="square" lIns="0" tIns="0" rIns="0" bIns="0" rtlCol="0" anchor="ctr"/>
          <a:lstStyle/>
          <a:p>
            <a:pPr algn="ctr" indent="0" marL="0">
              <a:buNone/>
            </a:pPr>
            <a:r>
              <a:rPr lang="en-US" sz="3400" dirty="0">
                <a:solidFill>
                  <a:srgbClr val="0EA5E9"/>
                </a:solidFill>
                <a:latin typeface="Arial Black" pitchFamily="34" charset="0"/>
                <a:ea typeface="Arial Black" pitchFamily="34" charset="-122"/>
                <a:cs typeface="Arial Black" pitchFamily="34" charset="-120"/>
              </a:rPr>
              <a:t>1</a:t>
            </a:r>
            <a:endParaRPr lang="en-US" sz="3400" dirty="0"/>
          </a:p>
        </p:txBody>
      </p:sp>
      <p:sp>
        <p:nvSpPr>
          <p:cNvPr id="21" name="Text 19"/>
          <p:cNvSpPr/>
          <p:nvPr/>
        </p:nvSpPr>
        <p:spPr>
          <a:xfrm>
            <a:off x="548640" y="4105656"/>
            <a:ext cx="1097280" cy="274320"/>
          </a:xfrm>
          <a:prstGeom prst="rect">
            <a:avLst/>
          </a:prstGeom>
          <a:noFill/>
          <a:ln/>
        </p:spPr>
        <p:txBody>
          <a:bodyPr wrap="square" lIns="0" tIns="0" rIns="0" bIns="0" rtlCol="0" anchor="ctr"/>
          <a:lstStyle/>
          <a:p>
            <a:pPr algn="ctr" indent="0" marL="0">
              <a:buNone/>
            </a:pPr>
            <a:r>
              <a:rPr lang="en-US" sz="1100" dirty="0">
                <a:solidFill>
                  <a:srgbClr val="0EA5E9"/>
                </a:solidFill>
                <a:latin typeface="Calibri" pitchFamily="34" charset="0"/>
                <a:ea typeface="Calibri" pitchFamily="34" charset="-122"/>
                <a:cs typeface="Calibri" pitchFamily="34" charset="-120"/>
              </a:rPr>
              <a:t>data point</a:t>
            </a:r>
            <a:endParaRPr lang="en-US" sz="1100" dirty="0"/>
          </a:p>
        </p:txBody>
      </p:sp>
      <p:sp>
        <p:nvSpPr>
          <p:cNvPr id="22" name="Text 20"/>
          <p:cNvSpPr/>
          <p:nvPr/>
        </p:nvSpPr>
        <p:spPr>
          <a:xfrm>
            <a:off x="1828800" y="3557016"/>
            <a:ext cx="6583680" cy="320040"/>
          </a:xfrm>
          <a:prstGeom prst="rect">
            <a:avLst/>
          </a:prstGeom>
          <a:noFill/>
          <a:ln/>
        </p:spPr>
        <p:txBody>
          <a:bodyPr wrap="square" lIns="0" tIns="0" rIns="0" bIns="0" rtlCol="0" anchor="ctr"/>
          <a:lstStyle/>
          <a:p>
            <a:pPr indent="0" marL="0">
              <a:buNone/>
            </a:pPr>
            <a:r>
              <a:rPr lang="en-US" sz="1500" b="1" dirty="0">
                <a:solidFill>
                  <a:srgbClr val="F1F5F9"/>
                </a:solidFill>
                <a:latin typeface="Calibri" pitchFamily="34" charset="0"/>
                <a:ea typeface="Calibri" pitchFamily="34" charset="-122"/>
                <a:cs typeface="Calibri" pitchFamily="34" charset="-120"/>
              </a:rPr>
              <a:t>against their sixteen</a:t>
            </a:r>
            <a:endParaRPr lang="en-US" sz="1500" dirty="0"/>
          </a:p>
        </p:txBody>
      </p:sp>
      <p:sp>
        <p:nvSpPr>
          <p:cNvPr id="23" name="Text 21"/>
          <p:cNvSpPr/>
          <p:nvPr/>
        </p:nvSpPr>
        <p:spPr>
          <a:xfrm>
            <a:off x="1828800" y="3895344"/>
            <a:ext cx="6766560" cy="68580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One developer. One platform. One experiment. METR had 16 developers and 246 tasks. My measurement is more rigorous per-component, but the sample size is tiny. This is evidence, not proof.</a:t>
            </a:r>
            <a:endParaRPr lang="en-US" sz="1100" dirty="0"/>
          </a:p>
        </p:txBody>
      </p:sp>
      <p:sp>
        <p:nvSpPr>
          <p:cNvPr id="24" name="Shape 22"/>
          <p:cNvSpPr/>
          <p:nvPr/>
        </p:nvSpPr>
        <p:spPr>
          <a:xfrm>
            <a:off x="365760" y="4572000"/>
            <a:ext cx="8412480" cy="347472"/>
          </a:xfrm>
          <a:prstGeom prst="rect">
            <a:avLst/>
          </a:prstGeom>
          <a:solidFill>
            <a:srgbClr val="2D1F0C"/>
          </a:solidFill>
          <a:ln/>
        </p:spPr>
      </p:sp>
      <p:sp>
        <p:nvSpPr>
          <p:cNvPr id="25" name="Text 23"/>
          <p:cNvSpPr/>
          <p:nvPr/>
        </p:nvSpPr>
        <p:spPr>
          <a:xfrm>
            <a:off x="365760" y="4572000"/>
            <a:ext cx="8412480" cy="347472"/>
          </a:xfrm>
          <a:prstGeom prst="rect">
            <a:avLst/>
          </a:prstGeom>
          <a:noFill/>
          <a:ln/>
        </p:spPr>
        <p:txBody>
          <a:bodyPr wrap="square" lIns="0" tIns="0" rIns="0" bIns="0" rtlCol="0" anchor="ctr"/>
          <a:lstStyle/>
          <a:p>
            <a:pPr algn="ctr" indent="0" marL="0">
              <a:buNone/>
            </a:pPr>
            <a:r>
              <a:rPr lang="en-US" sz="1300" i="1" dirty="0">
                <a:solidFill>
                  <a:srgbClr val="F59E0B"/>
                </a:solidFill>
                <a:latin typeface="Calibri" pitchFamily="34" charset="0"/>
                <a:ea typeface="Calibri" pitchFamily="34" charset="-122"/>
                <a:cs typeface="Calibri" pitchFamily="34" charset="-120"/>
              </a:rPr>
              <a:t>Every impressive number has a denominator. Now you know mine.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8B5CF6"/>
          </a:solidFill>
          <a:ln/>
        </p:spPr>
      </p:sp>
      <p:sp>
        <p:nvSpPr>
          <p:cNvPr id="3" name="Text 1"/>
          <p:cNvSpPr/>
          <p:nvPr/>
        </p:nvSpPr>
        <p:spPr>
          <a:xfrm>
            <a:off x="365760" y="4773168"/>
            <a:ext cx="4572000" cy="228600"/>
          </a:xfrm>
          <a:prstGeom prst="rect">
            <a:avLst/>
          </a:prstGeom>
          <a:noFill/>
          <a:ln/>
        </p:spPr>
        <p:txBody>
          <a:bodyPr wrap="square" rtlCol="0" anchor="ctr"/>
          <a:lstStyle/>
          <a:p>
            <a:pPr indent="0" marL="0">
              <a:buNone/>
            </a:pPr>
            <a:r>
              <a:rPr lang="en-US" sz="700" dirty="0">
                <a:solidFill>
                  <a:srgbClr val="64748B"/>
                </a:solidFill>
                <a:latin typeface="Calibri" pitchFamily="34" charset="0"/>
                <a:ea typeface="Calibri" pitchFamily="34" charset="-122"/>
                <a:cs typeface="Calibri" pitchFamily="34" charset="-120"/>
              </a:rPr>
              <a:t>KubeAuto AI Day Europe 2026</a:t>
            </a:r>
            <a:endParaRPr lang="en-US" sz="700" dirty="0"/>
          </a:p>
        </p:txBody>
      </p:sp>
      <p:sp>
        <p:nvSpPr>
          <p:cNvPr id="4" name="Text 2"/>
          <p:cNvSpPr/>
          <p:nvPr/>
        </p:nvSpPr>
        <p:spPr>
          <a:xfrm>
            <a:off x="7863840" y="4773168"/>
            <a:ext cx="914400" cy="228600"/>
          </a:xfrm>
          <a:prstGeom prst="rect">
            <a:avLst/>
          </a:prstGeom>
          <a:noFill/>
          <a:ln/>
        </p:spPr>
        <p:txBody>
          <a:bodyPr wrap="square" rtlCol="0" anchor="ctr"/>
          <a:lstStyle/>
          <a:p>
            <a:pPr algn="r" indent="0" marL="0">
              <a:buNone/>
            </a:pPr>
            <a:r>
              <a:rPr lang="en-US" sz="700" dirty="0">
                <a:solidFill>
                  <a:srgbClr val="64748B"/>
                </a:solidFill>
                <a:latin typeface="Calibri" pitchFamily="34" charset="0"/>
                <a:ea typeface="Calibri" pitchFamily="34" charset="-122"/>
                <a:cs typeface="Calibri" pitchFamily="34" charset="-120"/>
              </a:rPr>
              <a:t>16/21</a:t>
            </a:r>
            <a:endParaRPr lang="en-US" sz="700" dirty="0"/>
          </a:p>
        </p:txBody>
      </p:sp>
      <p:sp>
        <p:nvSpPr>
          <p:cNvPr id="5" name="Text 3"/>
          <p:cNvSpPr/>
          <p:nvPr/>
        </p:nvSpPr>
        <p:spPr>
          <a:xfrm>
            <a:off x="457200" y="228600"/>
            <a:ext cx="8229600" cy="548640"/>
          </a:xfrm>
          <a:prstGeom prst="rect">
            <a:avLst/>
          </a:prstGeom>
          <a:noFill/>
          <a:ln/>
        </p:spPr>
        <p:txBody>
          <a:bodyPr wrap="square" lIns="0" tIns="0" rIns="0" bIns="0" rtlCol="0" anchor="ctr"/>
          <a:lstStyle/>
          <a:p>
            <a:pPr indent="0" marL="0">
              <a:buNone/>
            </a:pPr>
            <a:r>
              <a:rPr lang="en-US" sz="2800" dirty="0">
                <a:solidFill>
                  <a:srgbClr val="F8FAFC"/>
                </a:solidFill>
                <a:latin typeface="Arial Black" pitchFamily="34" charset="0"/>
                <a:ea typeface="Arial Black" pitchFamily="34" charset="-122"/>
                <a:cs typeface="Arial Black" pitchFamily="34" charset="-120"/>
              </a:rPr>
              <a:t>Three-Layer Guardrails</a:t>
            </a:r>
            <a:endParaRPr lang="en-US" sz="2800" dirty="0"/>
          </a:p>
        </p:txBody>
      </p:sp>
      <p:sp>
        <p:nvSpPr>
          <p:cNvPr id="6" name="Text 4"/>
          <p:cNvSpPr/>
          <p:nvPr/>
        </p:nvSpPr>
        <p:spPr>
          <a:xfrm>
            <a:off x="457200" y="685800"/>
            <a:ext cx="8229600" cy="274320"/>
          </a:xfrm>
          <a:prstGeom prst="rect">
            <a:avLst/>
          </a:prstGeom>
          <a:noFill/>
          <a:ln/>
        </p:spPr>
        <p:txBody>
          <a:bodyPr wrap="square" lIns="0" tIns="0" rIns="0" bIns="0" rtlCol="0" anchor="ctr"/>
          <a:lstStyle/>
          <a:p>
            <a:pPr indent="0" marL="0">
              <a:buNone/>
            </a:pPr>
            <a:r>
              <a:rPr lang="en-US" sz="1300" i="1" dirty="0">
                <a:solidFill>
                  <a:srgbClr val="94A3B8"/>
                </a:solidFill>
                <a:latin typeface="Calibri" pitchFamily="34" charset="0"/>
                <a:ea typeface="Calibri" pitchFamily="34" charset="-122"/>
                <a:cs typeface="Calibri" pitchFamily="34" charset="-120"/>
              </a:rPr>
              <a:t>Catch problems at the cheapest possible point.</a:t>
            </a:r>
            <a:endParaRPr lang="en-US" sz="1300" dirty="0"/>
          </a:p>
        </p:txBody>
      </p:sp>
      <p:sp>
        <p:nvSpPr>
          <p:cNvPr id="7" name="Shape 5"/>
          <p:cNvSpPr/>
          <p:nvPr/>
        </p:nvSpPr>
        <p:spPr>
          <a:xfrm>
            <a:off x="365760" y="1188720"/>
            <a:ext cx="8412480" cy="1051560"/>
          </a:xfrm>
          <a:prstGeom prst="rect">
            <a:avLst/>
          </a:prstGeom>
          <a:solidFill>
            <a:srgbClr val="151E30"/>
          </a:solidFill>
          <a:ln/>
          <a:effectLst>
            <a:outerShdw sx="100000" sy="100000" kx="0" ky="0" algn="bl" rotWithShape="0" blurRad="76200" dist="25400" dir="8100000">
              <a:srgbClr val="000000">
                <a:alpha val="35000"/>
              </a:srgbClr>
            </a:outerShdw>
          </a:effectLst>
        </p:spPr>
      </p:sp>
      <p:sp>
        <p:nvSpPr>
          <p:cNvPr id="8" name="Shape 6"/>
          <p:cNvSpPr/>
          <p:nvPr/>
        </p:nvSpPr>
        <p:spPr>
          <a:xfrm>
            <a:off x="365760" y="1188720"/>
            <a:ext cx="73152" cy="1051560"/>
          </a:xfrm>
          <a:prstGeom prst="rect">
            <a:avLst/>
          </a:prstGeom>
          <a:solidFill>
            <a:srgbClr val="22C55E"/>
          </a:solidFill>
          <a:ln/>
        </p:spPr>
      </p:sp>
      <p:sp>
        <p:nvSpPr>
          <p:cNvPr id="9" name="Text 7"/>
          <p:cNvSpPr/>
          <p:nvPr/>
        </p:nvSpPr>
        <p:spPr>
          <a:xfrm>
            <a:off x="640080" y="1234440"/>
            <a:ext cx="3200400" cy="365760"/>
          </a:xfrm>
          <a:prstGeom prst="rect">
            <a:avLst/>
          </a:prstGeom>
          <a:noFill/>
          <a:ln/>
        </p:spPr>
        <p:txBody>
          <a:bodyPr wrap="square" lIns="0" tIns="0" rIns="0" bIns="0" rtlCol="0" anchor="ctr"/>
          <a:lstStyle/>
          <a:p>
            <a:pPr indent="0" marL="0">
              <a:buNone/>
            </a:pPr>
            <a:r>
              <a:rPr lang="en-US" sz="1600" b="1" dirty="0">
                <a:solidFill>
                  <a:srgbClr val="F1F5F9"/>
                </a:solidFill>
                <a:latin typeface="Calibri" pitchFamily="34" charset="0"/>
                <a:ea typeface="Calibri" pitchFamily="34" charset="-122"/>
                <a:cs typeface="Calibri" pitchFamily="34" charset="-120"/>
              </a:rPr>
              <a:t>Layer 1: Git Hooks</a:t>
            </a:r>
            <a:endParaRPr lang="en-US" sz="1600" dirty="0"/>
          </a:p>
        </p:txBody>
      </p:sp>
      <p:sp>
        <p:nvSpPr>
          <p:cNvPr id="10" name="Text 8"/>
          <p:cNvSpPr/>
          <p:nvPr/>
        </p:nvSpPr>
        <p:spPr>
          <a:xfrm>
            <a:off x="4114800" y="1234440"/>
            <a:ext cx="4572000" cy="365760"/>
          </a:xfrm>
          <a:prstGeom prst="rect">
            <a:avLst/>
          </a:prstGeom>
          <a:noFill/>
          <a:ln/>
        </p:spPr>
        <p:txBody>
          <a:bodyPr wrap="square" lIns="0" tIns="0" rIns="0" bIns="0" rtlCol="0" anchor="ctr"/>
          <a:lstStyle/>
          <a:p>
            <a:pPr algn="r" indent="0" marL="0">
              <a:buNone/>
            </a:pPr>
            <a:r>
              <a:rPr lang="en-US" sz="1100" dirty="0">
                <a:solidFill>
                  <a:srgbClr val="22C55E"/>
                </a:solidFill>
                <a:latin typeface="Consolas" pitchFamily="34" charset="0"/>
                <a:ea typeface="Consolas" pitchFamily="34" charset="-122"/>
                <a:cs typeface="Consolas" pitchFamily="34" charset="-120"/>
              </a:rPr>
              <a:t>Determinism: 100%    Latency: &lt;1s    Bypass: None</a:t>
            </a:r>
            <a:endParaRPr lang="en-US" sz="1100" dirty="0"/>
          </a:p>
        </p:txBody>
      </p:sp>
      <p:sp>
        <p:nvSpPr>
          <p:cNvPr id="11" name="Text 9"/>
          <p:cNvSpPr/>
          <p:nvPr/>
        </p:nvSpPr>
        <p:spPr>
          <a:xfrm>
            <a:off x="640080" y="1691640"/>
            <a:ext cx="7863840" cy="45720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gitleaks · yamllint · kubeconform · terraform · helm · trivy · image-allowlist · namespace-scope</a:t>
            </a:r>
            <a:endParaRPr lang="en-US" sz="1100" dirty="0"/>
          </a:p>
        </p:txBody>
      </p:sp>
      <p:sp>
        <p:nvSpPr>
          <p:cNvPr id="12" name="Shape 10"/>
          <p:cNvSpPr/>
          <p:nvPr/>
        </p:nvSpPr>
        <p:spPr>
          <a:xfrm>
            <a:off x="365760" y="2423160"/>
            <a:ext cx="8412480" cy="1051560"/>
          </a:xfrm>
          <a:prstGeom prst="rect">
            <a:avLst/>
          </a:prstGeom>
          <a:solidFill>
            <a:srgbClr val="151E30"/>
          </a:solidFill>
          <a:ln/>
          <a:effectLst>
            <a:outerShdw sx="100000" sy="100000" kx="0" ky="0" algn="bl" rotWithShape="0" blurRad="76200" dist="25400" dir="8100000">
              <a:srgbClr val="000000">
                <a:alpha val="35000"/>
              </a:srgbClr>
            </a:outerShdw>
          </a:effectLst>
        </p:spPr>
      </p:sp>
      <p:sp>
        <p:nvSpPr>
          <p:cNvPr id="13" name="Shape 11"/>
          <p:cNvSpPr/>
          <p:nvPr/>
        </p:nvSpPr>
        <p:spPr>
          <a:xfrm>
            <a:off x="365760" y="2423160"/>
            <a:ext cx="73152" cy="1051560"/>
          </a:xfrm>
          <a:prstGeom prst="rect">
            <a:avLst/>
          </a:prstGeom>
          <a:solidFill>
            <a:srgbClr val="F59E0B"/>
          </a:solidFill>
          <a:ln/>
        </p:spPr>
      </p:sp>
      <p:sp>
        <p:nvSpPr>
          <p:cNvPr id="14" name="Text 12"/>
          <p:cNvSpPr/>
          <p:nvPr/>
        </p:nvSpPr>
        <p:spPr>
          <a:xfrm>
            <a:off x="640080" y="2468880"/>
            <a:ext cx="3200400" cy="365760"/>
          </a:xfrm>
          <a:prstGeom prst="rect">
            <a:avLst/>
          </a:prstGeom>
          <a:noFill/>
          <a:ln/>
        </p:spPr>
        <p:txBody>
          <a:bodyPr wrap="square" lIns="0" tIns="0" rIns="0" bIns="0" rtlCol="0" anchor="ctr"/>
          <a:lstStyle/>
          <a:p>
            <a:pPr indent="0" marL="0">
              <a:buNone/>
            </a:pPr>
            <a:r>
              <a:rPr lang="en-US" sz="1600" b="1" dirty="0">
                <a:solidFill>
                  <a:srgbClr val="F1F5F9"/>
                </a:solidFill>
                <a:latin typeface="Calibri" pitchFamily="34" charset="0"/>
                <a:ea typeface="Calibri" pitchFamily="34" charset="-122"/>
                <a:cs typeface="Calibri" pitchFamily="34" charset="-120"/>
              </a:rPr>
              <a:t>Layer 2: Claude Code Hooks</a:t>
            </a:r>
            <a:endParaRPr lang="en-US" sz="1600" dirty="0"/>
          </a:p>
        </p:txBody>
      </p:sp>
      <p:sp>
        <p:nvSpPr>
          <p:cNvPr id="15" name="Text 13"/>
          <p:cNvSpPr/>
          <p:nvPr/>
        </p:nvSpPr>
        <p:spPr>
          <a:xfrm>
            <a:off x="4114800" y="2468880"/>
            <a:ext cx="4572000" cy="365760"/>
          </a:xfrm>
          <a:prstGeom prst="rect">
            <a:avLst/>
          </a:prstGeom>
          <a:noFill/>
          <a:ln/>
        </p:spPr>
        <p:txBody>
          <a:bodyPr wrap="square" lIns="0" tIns="0" rIns="0" bIns="0" rtlCol="0" anchor="ctr"/>
          <a:lstStyle/>
          <a:p>
            <a:pPr algn="r" indent="0" marL="0">
              <a:buNone/>
            </a:pPr>
            <a:r>
              <a:rPr lang="en-US" sz="1100" dirty="0">
                <a:solidFill>
                  <a:srgbClr val="F59E0B"/>
                </a:solidFill>
                <a:latin typeface="Consolas" pitchFamily="34" charset="0"/>
                <a:ea typeface="Consolas" pitchFamily="34" charset="-122"/>
                <a:cs typeface="Consolas" pitchFamily="34" charset="-120"/>
              </a:rPr>
              <a:t>Determinism: ~80%    Latency: 1-30s    Bypass: Low</a:t>
            </a:r>
            <a:endParaRPr lang="en-US" sz="1100" dirty="0"/>
          </a:p>
        </p:txBody>
      </p:sp>
      <p:sp>
        <p:nvSpPr>
          <p:cNvPr id="16" name="Text 14"/>
          <p:cNvSpPr/>
          <p:nvPr/>
        </p:nvSpPr>
        <p:spPr>
          <a:xfrm>
            <a:off x="640080" y="2926080"/>
            <a:ext cx="7863840" cy="45720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PreToolUse blocks dangerous cmds · PostToolUse audit · Stop hook · SessionStart context</a:t>
            </a:r>
            <a:endParaRPr lang="en-US" sz="1100" dirty="0"/>
          </a:p>
        </p:txBody>
      </p:sp>
      <p:sp>
        <p:nvSpPr>
          <p:cNvPr id="17" name="Shape 15"/>
          <p:cNvSpPr/>
          <p:nvPr/>
        </p:nvSpPr>
        <p:spPr>
          <a:xfrm>
            <a:off x="365760" y="3657600"/>
            <a:ext cx="8412480" cy="1051560"/>
          </a:xfrm>
          <a:prstGeom prst="rect">
            <a:avLst/>
          </a:prstGeom>
          <a:solidFill>
            <a:srgbClr val="151E30"/>
          </a:solidFill>
          <a:ln/>
          <a:effectLst>
            <a:outerShdw sx="100000" sy="100000" kx="0" ky="0" algn="bl" rotWithShape="0" blurRad="76200" dist="25400" dir="8100000">
              <a:srgbClr val="000000">
                <a:alpha val="35000"/>
              </a:srgbClr>
            </a:outerShdw>
          </a:effectLst>
        </p:spPr>
      </p:sp>
      <p:sp>
        <p:nvSpPr>
          <p:cNvPr id="18" name="Shape 16"/>
          <p:cNvSpPr/>
          <p:nvPr/>
        </p:nvSpPr>
        <p:spPr>
          <a:xfrm>
            <a:off x="365760" y="3657600"/>
            <a:ext cx="73152" cy="1051560"/>
          </a:xfrm>
          <a:prstGeom prst="rect">
            <a:avLst/>
          </a:prstGeom>
          <a:solidFill>
            <a:srgbClr val="EF4444"/>
          </a:solidFill>
          <a:ln/>
        </p:spPr>
      </p:sp>
      <p:sp>
        <p:nvSpPr>
          <p:cNvPr id="19" name="Text 17"/>
          <p:cNvSpPr/>
          <p:nvPr/>
        </p:nvSpPr>
        <p:spPr>
          <a:xfrm>
            <a:off x="640080" y="3703320"/>
            <a:ext cx="3200400" cy="365760"/>
          </a:xfrm>
          <a:prstGeom prst="rect">
            <a:avLst/>
          </a:prstGeom>
          <a:noFill/>
          <a:ln/>
        </p:spPr>
        <p:txBody>
          <a:bodyPr wrap="square" lIns="0" tIns="0" rIns="0" bIns="0" rtlCol="0" anchor="ctr"/>
          <a:lstStyle/>
          <a:p>
            <a:pPr indent="0" marL="0">
              <a:buNone/>
            </a:pPr>
            <a:r>
              <a:rPr lang="en-US" sz="1600" b="1" dirty="0">
                <a:solidFill>
                  <a:srgbClr val="F1F5F9"/>
                </a:solidFill>
                <a:latin typeface="Calibri" pitchFamily="34" charset="0"/>
                <a:ea typeface="Calibri" pitchFamily="34" charset="-122"/>
                <a:cs typeface="Calibri" pitchFamily="34" charset="-120"/>
              </a:rPr>
              <a:t>Layer 3: Kubernetes</a:t>
            </a:r>
            <a:endParaRPr lang="en-US" sz="1600" dirty="0"/>
          </a:p>
        </p:txBody>
      </p:sp>
      <p:sp>
        <p:nvSpPr>
          <p:cNvPr id="20" name="Text 18"/>
          <p:cNvSpPr/>
          <p:nvPr/>
        </p:nvSpPr>
        <p:spPr>
          <a:xfrm>
            <a:off x="4114800" y="3703320"/>
            <a:ext cx="4572000" cy="365760"/>
          </a:xfrm>
          <a:prstGeom prst="rect">
            <a:avLst/>
          </a:prstGeom>
          <a:noFill/>
          <a:ln/>
        </p:spPr>
        <p:txBody>
          <a:bodyPr wrap="square" lIns="0" tIns="0" rIns="0" bIns="0" rtlCol="0" anchor="ctr"/>
          <a:lstStyle/>
          <a:p>
            <a:pPr algn="r" indent="0" marL="0">
              <a:buNone/>
            </a:pPr>
            <a:r>
              <a:rPr lang="en-US" sz="1100" dirty="0">
                <a:solidFill>
                  <a:srgbClr val="EF4444"/>
                </a:solidFill>
                <a:latin typeface="Consolas" pitchFamily="34" charset="0"/>
                <a:ea typeface="Consolas" pitchFamily="34" charset="-122"/>
                <a:cs typeface="Consolas" pitchFamily="34" charset="-120"/>
              </a:rPr>
              <a:t>Determinism: 100%    Latency: 1-5s    Bypass: None</a:t>
            </a:r>
            <a:endParaRPr lang="en-US" sz="1100" dirty="0"/>
          </a:p>
        </p:txBody>
      </p:sp>
      <p:sp>
        <p:nvSpPr>
          <p:cNvPr id="21" name="Text 19"/>
          <p:cNvSpPr/>
          <p:nvPr/>
        </p:nvSpPr>
        <p:spPr>
          <a:xfrm>
            <a:off x="640080" y="4160520"/>
            <a:ext cx="7863840" cy="45720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Kyverno admission · Falco runtime · RBAC · NetworkPolicy · ResourceQuota · ArgoCD GitOps</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8B5CF6"/>
          </a:solidFill>
          <a:ln/>
        </p:spPr>
      </p:sp>
      <p:sp>
        <p:nvSpPr>
          <p:cNvPr id="3" name="Text 1"/>
          <p:cNvSpPr/>
          <p:nvPr/>
        </p:nvSpPr>
        <p:spPr>
          <a:xfrm>
            <a:off x="365760" y="4773168"/>
            <a:ext cx="4572000" cy="228600"/>
          </a:xfrm>
          <a:prstGeom prst="rect">
            <a:avLst/>
          </a:prstGeom>
          <a:noFill/>
          <a:ln/>
        </p:spPr>
        <p:txBody>
          <a:bodyPr wrap="square" rtlCol="0" anchor="ctr"/>
          <a:lstStyle/>
          <a:p>
            <a:pPr indent="0" marL="0">
              <a:buNone/>
            </a:pPr>
            <a:r>
              <a:rPr lang="en-US" sz="700" dirty="0">
                <a:solidFill>
                  <a:srgbClr val="64748B"/>
                </a:solidFill>
                <a:latin typeface="Calibri" pitchFamily="34" charset="0"/>
                <a:ea typeface="Calibri" pitchFamily="34" charset="-122"/>
                <a:cs typeface="Calibri" pitchFamily="34" charset="-120"/>
              </a:rPr>
              <a:t>KubeAuto AI Day Europe 2026</a:t>
            </a:r>
            <a:endParaRPr lang="en-US" sz="700" dirty="0"/>
          </a:p>
        </p:txBody>
      </p:sp>
      <p:sp>
        <p:nvSpPr>
          <p:cNvPr id="4" name="Text 2"/>
          <p:cNvSpPr/>
          <p:nvPr/>
        </p:nvSpPr>
        <p:spPr>
          <a:xfrm>
            <a:off x="7863840" y="4773168"/>
            <a:ext cx="914400" cy="228600"/>
          </a:xfrm>
          <a:prstGeom prst="rect">
            <a:avLst/>
          </a:prstGeom>
          <a:noFill/>
          <a:ln/>
        </p:spPr>
        <p:txBody>
          <a:bodyPr wrap="square" rtlCol="0" anchor="ctr"/>
          <a:lstStyle/>
          <a:p>
            <a:pPr algn="r" indent="0" marL="0">
              <a:buNone/>
            </a:pPr>
            <a:r>
              <a:rPr lang="en-US" sz="700" dirty="0">
                <a:solidFill>
                  <a:srgbClr val="64748B"/>
                </a:solidFill>
                <a:latin typeface="Calibri" pitchFamily="34" charset="0"/>
                <a:ea typeface="Calibri" pitchFamily="34" charset="-122"/>
                <a:cs typeface="Calibri" pitchFamily="34" charset="-120"/>
              </a:rPr>
              <a:t>17/21</a:t>
            </a:r>
            <a:endParaRPr lang="en-US" sz="700" dirty="0"/>
          </a:p>
        </p:txBody>
      </p:sp>
      <p:sp>
        <p:nvSpPr>
          <p:cNvPr id="5" name="Text 3"/>
          <p:cNvSpPr/>
          <p:nvPr/>
        </p:nvSpPr>
        <p:spPr>
          <a:xfrm>
            <a:off x="457200" y="228600"/>
            <a:ext cx="8229600" cy="548640"/>
          </a:xfrm>
          <a:prstGeom prst="rect">
            <a:avLst/>
          </a:prstGeom>
          <a:noFill/>
          <a:ln/>
        </p:spPr>
        <p:txBody>
          <a:bodyPr wrap="square" lIns="0" tIns="0" rIns="0" bIns="0" rtlCol="0" anchor="ctr"/>
          <a:lstStyle/>
          <a:p>
            <a:pPr indent="0" marL="0">
              <a:buNone/>
            </a:pPr>
            <a:r>
              <a:rPr lang="en-US" sz="2800" dirty="0">
                <a:solidFill>
                  <a:srgbClr val="F8FAFC"/>
                </a:solidFill>
                <a:latin typeface="Arial Black" pitchFamily="34" charset="0"/>
                <a:ea typeface="Arial Black" pitchFamily="34" charset="-122"/>
                <a:cs typeface="Arial Black" pitchFamily="34" charset="-120"/>
              </a:rPr>
              <a:t>The Eight Guardrails</a:t>
            </a:r>
            <a:endParaRPr lang="en-US" sz="2800" dirty="0"/>
          </a:p>
        </p:txBody>
      </p:sp>
      <p:sp>
        <p:nvSpPr>
          <p:cNvPr id="6" name="Shape 4"/>
          <p:cNvSpPr/>
          <p:nvPr/>
        </p:nvSpPr>
        <p:spPr>
          <a:xfrm>
            <a:off x="365760" y="914400"/>
            <a:ext cx="4114800" cy="868680"/>
          </a:xfrm>
          <a:prstGeom prst="rect">
            <a:avLst/>
          </a:prstGeom>
          <a:solidFill>
            <a:srgbClr val="151E30"/>
          </a:solidFill>
          <a:ln/>
          <a:effectLst>
            <a:outerShdw sx="100000" sy="100000" kx="0" ky="0" algn="bl" rotWithShape="0" blurRad="76200" dist="25400" dir="8100000">
              <a:srgbClr val="000000">
                <a:alpha val="35000"/>
              </a:srgbClr>
            </a:outerShdw>
          </a:effectLst>
        </p:spPr>
      </p:sp>
      <p:sp>
        <p:nvSpPr>
          <p:cNvPr id="7" name="Shape 5"/>
          <p:cNvSpPr/>
          <p:nvPr/>
        </p:nvSpPr>
        <p:spPr>
          <a:xfrm>
            <a:off x="365760" y="914400"/>
            <a:ext cx="457200" cy="868680"/>
          </a:xfrm>
          <a:prstGeom prst="rect">
            <a:avLst/>
          </a:prstGeom>
          <a:solidFill>
            <a:srgbClr val="0EA5E9"/>
          </a:solidFill>
          <a:ln/>
        </p:spPr>
      </p:sp>
      <p:sp>
        <p:nvSpPr>
          <p:cNvPr id="8" name="Text 6"/>
          <p:cNvSpPr/>
          <p:nvPr/>
        </p:nvSpPr>
        <p:spPr>
          <a:xfrm>
            <a:off x="365760" y="914400"/>
            <a:ext cx="457200" cy="868680"/>
          </a:xfrm>
          <a:prstGeom prst="rect">
            <a:avLst/>
          </a:prstGeom>
          <a:noFill/>
          <a:ln/>
        </p:spPr>
        <p:txBody>
          <a:bodyPr wrap="square" lIns="0" tIns="0" rIns="0" bIns="0" rtlCol="0" anchor="ctr"/>
          <a:lstStyle/>
          <a:p>
            <a:pPr algn="ctr" indent="0" marL="0">
              <a:buNone/>
            </a:pPr>
            <a:r>
              <a:rPr lang="en-US" sz="2000" dirty="0">
                <a:solidFill>
                  <a:srgbClr val="F8FAFC"/>
                </a:solidFill>
                <a:latin typeface="Arial Black" pitchFamily="34" charset="0"/>
                <a:ea typeface="Arial Black" pitchFamily="34" charset="-122"/>
                <a:cs typeface="Arial Black" pitchFamily="34" charset="-120"/>
              </a:rPr>
              <a:t>1</a:t>
            </a:r>
            <a:endParaRPr lang="en-US" sz="2000" dirty="0"/>
          </a:p>
        </p:txBody>
      </p:sp>
      <p:sp>
        <p:nvSpPr>
          <p:cNvPr id="9" name="Text 7"/>
          <p:cNvSpPr/>
          <p:nvPr/>
        </p:nvSpPr>
        <p:spPr>
          <a:xfrm>
            <a:off x="960120" y="960120"/>
            <a:ext cx="3291840" cy="300000"/>
          </a:xfrm>
          <a:prstGeom prst="rect">
            <a:avLst/>
          </a:prstGeom>
          <a:noFill/>
          <a:ln/>
        </p:spPr>
        <p:txBody>
          <a:bodyPr wrap="square" lIns="0" tIns="0" rIns="0" bIns="0" rtlCol="0" anchor="ctr"/>
          <a:lstStyle/>
          <a:p>
            <a:pPr indent="0" marL="0">
              <a:buNone/>
            </a:pPr>
            <a:r>
              <a:rPr lang="en-US" sz="1300" b="1" dirty="0">
                <a:solidFill>
                  <a:srgbClr val="F1F5F9"/>
                </a:solidFill>
                <a:latin typeface="Calibri" pitchFamily="34" charset="0"/>
                <a:ea typeface="Calibri" pitchFamily="34" charset="-122"/>
                <a:cs typeface="Calibri" pitchFamily="34" charset="-120"/>
              </a:rPr>
              <a:t>Propose-Approve-Execute</a:t>
            </a:r>
            <a:endParaRPr lang="en-US" sz="1300" dirty="0"/>
          </a:p>
        </p:txBody>
      </p:sp>
      <p:sp>
        <p:nvSpPr>
          <p:cNvPr id="10" name="Text 8"/>
          <p:cNvSpPr/>
          <p:nvPr/>
        </p:nvSpPr>
        <p:spPr>
          <a:xfrm>
            <a:off x="960120" y="1291600"/>
            <a:ext cx="3291840" cy="520000"/>
          </a:xfrm>
          <a:prstGeom prst="rect">
            <a:avLst/>
          </a:prstGeom>
          <a:noFill/>
          <a:ln/>
        </p:spPr>
        <p:txBody>
          <a:bodyPr wrap="square" lIns="0" tIns="0" rIns="0" bIns="0" rtlCol="0" anchor="ctr"/>
          <a:lstStyle/>
          <a:p>
            <a:pPr indent="0" marL="0">
              <a:buNone/>
            </a:pPr>
            <a:r>
              <a:rPr sz="1000">
                <a:solidFill>
                  <a:srgbClr val="94A3B8"/>
                </a:solidFill>
                <a:latin typeface="Calibri"/>
              </a:rPr>
              <a:t>ArgoCD GitOps</a:t>
            </a:r>
            <a:endParaRPr lang="en-US" sz="1100" dirty="0"/>
          </a:p>
          <a:p>
            <a:r>
              <a:rPr sz="800" i="1">
                <a:solidFill>
                  <a:srgbClr val="F5A623"/>
                </a:solidFill>
                <a:latin typeface="Calibri"/>
              </a:rPr>
              <a:t>Prevents: DataTalks.Club terraform destroy (1.94M rows)</a:t>
            </a:r>
          </a:p>
        </p:txBody>
      </p:sp>
      <p:sp>
        <p:nvSpPr>
          <p:cNvPr id="11" name="Shape 9"/>
          <p:cNvSpPr/>
          <p:nvPr/>
        </p:nvSpPr>
        <p:spPr>
          <a:xfrm>
            <a:off x="365760" y="1920240"/>
            <a:ext cx="4114800" cy="868680"/>
          </a:xfrm>
          <a:prstGeom prst="rect">
            <a:avLst/>
          </a:prstGeom>
          <a:solidFill>
            <a:srgbClr val="151E30"/>
          </a:solidFill>
          <a:ln/>
          <a:effectLst>
            <a:outerShdw sx="100000" sy="100000" kx="0" ky="0" algn="bl" rotWithShape="0" blurRad="76200" dist="25400" dir="8100000">
              <a:srgbClr val="000000">
                <a:alpha val="35000"/>
              </a:srgbClr>
            </a:outerShdw>
          </a:effectLst>
        </p:spPr>
      </p:sp>
      <p:sp>
        <p:nvSpPr>
          <p:cNvPr id="12" name="Shape 10"/>
          <p:cNvSpPr/>
          <p:nvPr/>
        </p:nvSpPr>
        <p:spPr>
          <a:xfrm>
            <a:off x="365760" y="1920240"/>
            <a:ext cx="457200" cy="868680"/>
          </a:xfrm>
          <a:prstGeom prst="rect">
            <a:avLst/>
          </a:prstGeom>
          <a:solidFill>
            <a:srgbClr val="0EA5E9"/>
          </a:solidFill>
          <a:ln/>
        </p:spPr>
      </p:sp>
      <p:sp>
        <p:nvSpPr>
          <p:cNvPr id="13" name="Text 11"/>
          <p:cNvSpPr/>
          <p:nvPr/>
        </p:nvSpPr>
        <p:spPr>
          <a:xfrm>
            <a:off x="365760" y="1920240"/>
            <a:ext cx="457200" cy="868680"/>
          </a:xfrm>
          <a:prstGeom prst="rect">
            <a:avLst/>
          </a:prstGeom>
          <a:noFill/>
          <a:ln/>
        </p:spPr>
        <p:txBody>
          <a:bodyPr wrap="square" lIns="0" tIns="0" rIns="0" bIns="0" rtlCol="0" anchor="ctr"/>
          <a:lstStyle/>
          <a:p>
            <a:pPr algn="ctr" indent="0" marL="0">
              <a:buNone/>
            </a:pPr>
            <a:r>
              <a:rPr lang="en-US" sz="2000" dirty="0">
                <a:solidFill>
                  <a:srgbClr val="F8FAFC"/>
                </a:solidFill>
                <a:latin typeface="Arial Black" pitchFamily="34" charset="0"/>
                <a:ea typeface="Arial Black" pitchFamily="34" charset="-122"/>
                <a:cs typeface="Arial Black" pitchFamily="34" charset="-120"/>
              </a:rPr>
              <a:t>2</a:t>
            </a:r>
            <a:endParaRPr lang="en-US" sz="2000" dirty="0"/>
          </a:p>
        </p:txBody>
      </p:sp>
      <p:sp>
        <p:nvSpPr>
          <p:cNvPr id="14" name="Text 12"/>
          <p:cNvSpPr/>
          <p:nvPr/>
        </p:nvSpPr>
        <p:spPr>
          <a:xfrm>
            <a:off x="960120" y="1965960"/>
            <a:ext cx="3291840" cy="300000"/>
          </a:xfrm>
          <a:prstGeom prst="rect">
            <a:avLst/>
          </a:prstGeom>
          <a:noFill/>
          <a:ln/>
        </p:spPr>
        <p:txBody>
          <a:bodyPr wrap="square" lIns="0" tIns="0" rIns="0" bIns="0" rtlCol="0" anchor="ctr"/>
          <a:lstStyle/>
          <a:p>
            <a:pPr indent="0" marL="0">
              <a:buNone/>
            </a:pPr>
            <a:r>
              <a:rPr lang="en-US" sz="1300" b="1" dirty="0">
                <a:solidFill>
                  <a:srgbClr val="F1F5F9"/>
                </a:solidFill>
                <a:latin typeface="Calibri" pitchFamily="34" charset="0"/>
                <a:ea typeface="Calibri" pitchFamily="34" charset="-122"/>
                <a:cs typeface="Calibri" pitchFamily="34" charset="-120"/>
              </a:rPr>
              <a:t>Blast Radius Limits</a:t>
            </a:r>
            <a:endParaRPr lang="en-US" sz="1300" dirty="0"/>
          </a:p>
        </p:txBody>
      </p:sp>
      <p:sp>
        <p:nvSpPr>
          <p:cNvPr id="15" name="Text 13"/>
          <p:cNvSpPr/>
          <p:nvPr/>
        </p:nvSpPr>
        <p:spPr>
          <a:xfrm>
            <a:off x="960120" y="2297440"/>
            <a:ext cx="3291840" cy="520000"/>
          </a:xfrm>
          <a:prstGeom prst="rect">
            <a:avLst/>
          </a:prstGeom>
          <a:noFill/>
          <a:ln/>
        </p:spPr>
        <p:txBody>
          <a:bodyPr wrap="square" lIns="0" tIns="0" rIns="0" bIns="0" rtlCol="0" anchor="ctr"/>
          <a:lstStyle/>
          <a:p>
            <a:pPr indent="0" marL="0">
              <a:buNone/>
            </a:pPr>
            <a:r>
              <a:rPr sz="1000">
                <a:solidFill>
                  <a:srgbClr val="94A3B8"/>
                </a:solidFill>
                <a:latin typeface="Calibri"/>
              </a:rPr>
              <a:t>RBAC + Quotas + NetworkPolicies</a:t>
            </a:r>
            <a:endParaRPr lang="en-US" sz="1100" dirty="0"/>
          </a:p>
          <a:p>
            <a:r>
              <a:rPr sz="800" i="1">
                <a:solidFill>
                  <a:srgbClr val="F5A623"/>
                </a:solidFill>
                <a:latin typeface="Calibri"/>
              </a:rPr>
              <a:t>Prevents: Kiro/AWS 13-hour outage (inherited permissions)</a:t>
            </a:r>
          </a:p>
        </p:txBody>
      </p:sp>
      <p:sp>
        <p:nvSpPr>
          <p:cNvPr id="16" name="Shape 14"/>
          <p:cNvSpPr/>
          <p:nvPr/>
        </p:nvSpPr>
        <p:spPr>
          <a:xfrm>
            <a:off x="365760" y="2926080"/>
            <a:ext cx="4114800" cy="868680"/>
          </a:xfrm>
          <a:prstGeom prst="rect">
            <a:avLst/>
          </a:prstGeom>
          <a:solidFill>
            <a:srgbClr val="151E30"/>
          </a:solidFill>
          <a:ln/>
          <a:effectLst>
            <a:outerShdw sx="100000" sy="100000" kx="0" ky="0" algn="bl" rotWithShape="0" blurRad="76200" dist="25400" dir="8100000">
              <a:srgbClr val="000000">
                <a:alpha val="35000"/>
              </a:srgbClr>
            </a:outerShdw>
          </a:effectLst>
        </p:spPr>
      </p:sp>
      <p:sp>
        <p:nvSpPr>
          <p:cNvPr id="17" name="Shape 15"/>
          <p:cNvSpPr/>
          <p:nvPr/>
        </p:nvSpPr>
        <p:spPr>
          <a:xfrm>
            <a:off x="365760" y="2926080"/>
            <a:ext cx="457200" cy="868680"/>
          </a:xfrm>
          <a:prstGeom prst="rect">
            <a:avLst/>
          </a:prstGeom>
          <a:solidFill>
            <a:srgbClr val="0EA5E9"/>
          </a:solidFill>
          <a:ln/>
        </p:spPr>
      </p:sp>
      <p:sp>
        <p:nvSpPr>
          <p:cNvPr id="18" name="Text 16"/>
          <p:cNvSpPr/>
          <p:nvPr/>
        </p:nvSpPr>
        <p:spPr>
          <a:xfrm>
            <a:off x="365760" y="2926080"/>
            <a:ext cx="457200" cy="868680"/>
          </a:xfrm>
          <a:prstGeom prst="rect">
            <a:avLst/>
          </a:prstGeom>
          <a:noFill/>
          <a:ln/>
        </p:spPr>
        <p:txBody>
          <a:bodyPr wrap="square" lIns="0" tIns="0" rIns="0" bIns="0" rtlCol="0" anchor="ctr"/>
          <a:lstStyle/>
          <a:p>
            <a:pPr algn="ctr" indent="0" marL="0">
              <a:buNone/>
            </a:pPr>
            <a:r>
              <a:rPr lang="en-US" sz="2000" dirty="0">
                <a:solidFill>
                  <a:srgbClr val="F8FAFC"/>
                </a:solidFill>
                <a:latin typeface="Arial Black" pitchFamily="34" charset="0"/>
                <a:ea typeface="Arial Black" pitchFamily="34" charset="-122"/>
                <a:cs typeface="Arial Black" pitchFamily="34" charset="-120"/>
              </a:rPr>
              <a:t>3</a:t>
            </a:r>
            <a:endParaRPr lang="en-US" sz="2000" dirty="0"/>
          </a:p>
        </p:txBody>
      </p:sp>
      <p:sp>
        <p:nvSpPr>
          <p:cNvPr id="19" name="Text 17"/>
          <p:cNvSpPr/>
          <p:nvPr/>
        </p:nvSpPr>
        <p:spPr>
          <a:xfrm>
            <a:off x="960120" y="2971800"/>
            <a:ext cx="3291840" cy="300000"/>
          </a:xfrm>
          <a:prstGeom prst="rect">
            <a:avLst/>
          </a:prstGeom>
          <a:noFill/>
          <a:ln/>
        </p:spPr>
        <p:txBody>
          <a:bodyPr wrap="square" lIns="0" tIns="0" rIns="0" bIns="0" rtlCol="0" anchor="ctr"/>
          <a:lstStyle/>
          <a:p>
            <a:pPr indent="0" marL="0">
              <a:buNone/>
            </a:pPr>
            <a:r>
              <a:rPr lang="en-US" sz="1300" b="1" dirty="0">
                <a:solidFill>
                  <a:srgbClr val="F1F5F9"/>
                </a:solidFill>
                <a:latin typeface="Calibri" pitchFamily="34" charset="0"/>
                <a:ea typeface="Calibri" pitchFamily="34" charset="-122"/>
                <a:cs typeface="Calibri" pitchFamily="34" charset="-120"/>
              </a:rPr>
              <a:t>Sandbox by Default</a:t>
            </a:r>
            <a:endParaRPr lang="en-US" sz="1300" dirty="0"/>
          </a:p>
        </p:txBody>
      </p:sp>
      <p:sp>
        <p:nvSpPr>
          <p:cNvPr id="20" name="Text 18"/>
          <p:cNvSpPr/>
          <p:nvPr/>
        </p:nvSpPr>
        <p:spPr>
          <a:xfrm>
            <a:off x="960120" y="3303280"/>
            <a:ext cx="3291840" cy="520000"/>
          </a:xfrm>
          <a:prstGeom prst="rect">
            <a:avLst/>
          </a:prstGeom>
          <a:noFill/>
          <a:ln/>
        </p:spPr>
        <p:txBody>
          <a:bodyPr wrap="square" lIns="0" tIns="0" rIns="0" bIns="0" rtlCol="0" anchor="ctr"/>
          <a:lstStyle/>
          <a:p>
            <a:pPr indent="0" marL="0">
              <a:buNone/>
            </a:pPr>
            <a:r>
              <a:rPr sz="1000">
                <a:solidFill>
                  <a:srgbClr val="94A3B8"/>
                </a:solidFill>
                <a:latin typeface="Calibri"/>
              </a:rPr>
              <a:t>Container isolation + gVisor + --network none</a:t>
            </a:r>
            <a:endParaRPr lang="en-US" sz="1100" dirty="0"/>
          </a:p>
          <a:p>
            <a:r>
              <a:rPr sz="800" i="1">
                <a:solidFill>
                  <a:srgbClr val="F5A623"/>
                </a:solidFill>
                <a:latin typeface="Calibri"/>
              </a:rPr>
              <a:t>Prevents: Cursor rm -rf / (no sandbox existed)</a:t>
            </a:r>
          </a:p>
        </p:txBody>
      </p:sp>
      <p:sp>
        <p:nvSpPr>
          <p:cNvPr id="21" name="Shape 19"/>
          <p:cNvSpPr/>
          <p:nvPr/>
        </p:nvSpPr>
        <p:spPr>
          <a:xfrm>
            <a:off x="365760" y="3931920"/>
            <a:ext cx="4114800" cy="868680"/>
          </a:xfrm>
          <a:prstGeom prst="rect">
            <a:avLst/>
          </a:prstGeom>
          <a:solidFill>
            <a:srgbClr val="151E30"/>
          </a:solidFill>
          <a:ln/>
          <a:effectLst>
            <a:outerShdw sx="100000" sy="100000" kx="0" ky="0" algn="bl" rotWithShape="0" blurRad="76200" dist="25400" dir="8100000">
              <a:srgbClr val="000000">
                <a:alpha val="35000"/>
              </a:srgbClr>
            </a:outerShdw>
          </a:effectLst>
        </p:spPr>
      </p:sp>
      <p:sp>
        <p:nvSpPr>
          <p:cNvPr id="22" name="Shape 20"/>
          <p:cNvSpPr/>
          <p:nvPr/>
        </p:nvSpPr>
        <p:spPr>
          <a:xfrm>
            <a:off x="365760" y="3931920"/>
            <a:ext cx="457200" cy="868680"/>
          </a:xfrm>
          <a:prstGeom prst="rect">
            <a:avLst/>
          </a:prstGeom>
          <a:solidFill>
            <a:srgbClr val="0EA5E9"/>
          </a:solidFill>
          <a:ln/>
        </p:spPr>
      </p:sp>
      <p:sp>
        <p:nvSpPr>
          <p:cNvPr id="23" name="Text 21"/>
          <p:cNvSpPr/>
          <p:nvPr/>
        </p:nvSpPr>
        <p:spPr>
          <a:xfrm>
            <a:off x="365760" y="3931920"/>
            <a:ext cx="457200" cy="868680"/>
          </a:xfrm>
          <a:prstGeom prst="rect">
            <a:avLst/>
          </a:prstGeom>
          <a:noFill/>
          <a:ln/>
        </p:spPr>
        <p:txBody>
          <a:bodyPr wrap="square" lIns="0" tIns="0" rIns="0" bIns="0" rtlCol="0" anchor="ctr"/>
          <a:lstStyle/>
          <a:p>
            <a:pPr algn="ctr" indent="0" marL="0">
              <a:buNone/>
            </a:pPr>
            <a:r>
              <a:rPr lang="en-US" sz="2000" dirty="0">
                <a:solidFill>
                  <a:srgbClr val="F8FAFC"/>
                </a:solidFill>
                <a:latin typeface="Arial Black" pitchFamily="34" charset="0"/>
                <a:ea typeface="Arial Black" pitchFamily="34" charset="-122"/>
                <a:cs typeface="Arial Black" pitchFamily="34" charset="-120"/>
              </a:rPr>
              <a:t>4</a:t>
            </a:r>
            <a:endParaRPr lang="en-US" sz="2000" dirty="0"/>
          </a:p>
        </p:txBody>
      </p:sp>
      <p:sp>
        <p:nvSpPr>
          <p:cNvPr id="24" name="Text 22"/>
          <p:cNvSpPr/>
          <p:nvPr/>
        </p:nvSpPr>
        <p:spPr>
          <a:xfrm>
            <a:off x="960120" y="3977640"/>
            <a:ext cx="3291840" cy="300000"/>
          </a:xfrm>
          <a:prstGeom prst="rect">
            <a:avLst/>
          </a:prstGeom>
          <a:noFill/>
          <a:ln/>
        </p:spPr>
        <p:txBody>
          <a:bodyPr wrap="square" lIns="0" tIns="0" rIns="0" bIns="0" rtlCol="0" anchor="ctr"/>
          <a:lstStyle/>
          <a:p>
            <a:pPr indent="0" marL="0">
              <a:buNone/>
            </a:pPr>
            <a:r>
              <a:rPr lang="en-US" sz="1300" b="1" dirty="0">
                <a:solidFill>
                  <a:srgbClr val="F1F5F9"/>
                </a:solidFill>
                <a:latin typeface="Calibri" pitchFamily="34" charset="0"/>
                <a:ea typeface="Calibri" pitchFamily="34" charset="-122"/>
                <a:cs typeface="Calibri" pitchFamily="34" charset="-120"/>
              </a:rPr>
              <a:t>Assume Misunderstanding</a:t>
            </a:r>
            <a:endParaRPr lang="en-US" sz="1300" dirty="0"/>
          </a:p>
        </p:txBody>
      </p:sp>
      <p:sp>
        <p:nvSpPr>
          <p:cNvPr id="25" name="Text 23"/>
          <p:cNvSpPr/>
          <p:nvPr/>
        </p:nvSpPr>
        <p:spPr>
          <a:xfrm>
            <a:off x="960120" y="4309120"/>
            <a:ext cx="3291840" cy="520000"/>
          </a:xfrm>
          <a:prstGeom prst="rect">
            <a:avLst/>
          </a:prstGeom>
          <a:noFill/>
          <a:ln/>
        </p:spPr>
        <p:txBody>
          <a:bodyPr wrap="square" lIns="0" tIns="0" rIns="0" bIns="0" rtlCol="0" anchor="ctr"/>
          <a:lstStyle/>
          <a:p>
            <a:pPr indent="0" marL="0">
              <a:buNone/>
            </a:pPr>
            <a:r>
              <a:rPr sz="1000">
                <a:solidFill>
                  <a:srgbClr val="94A3B8"/>
                </a:solidFill>
                <a:latin typeface="Calibri"/>
              </a:rPr>
              <a:t>Schema validation + TDD + pinned versions + git hooks</a:t>
            </a:r>
            <a:endParaRPr lang="en-US" sz="1100" dirty="0"/>
          </a:p>
          <a:p>
            <a:r>
              <a:rPr sz="800" i="1">
                <a:solidFill>
                  <a:srgbClr val="F5A623"/>
                </a:solidFill>
                <a:latin typeface="Calibri"/>
              </a:rPr>
              <a:t>Prevents: version currency — correct YAML, wrong version</a:t>
            </a:r>
          </a:p>
        </p:txBody>
      </p:sp>
      <p:sp>
        <p:nvSpPr>
          <p:cNvPr id="26" name="Shape 24"/>
          <p:cNvSpPr/>
          <p:nvPr/>
        </p:nvSpPr>
        <p:spPr>
          <a:xfrm>
            <a:off x="4754880" y="914400"/>
            <a:ext cx="4114800" cy="868680"/>
          </a:xfrm>
          <a:prstGeom prst="rect">
            <a:avLst/>
          </a:prstGeom>
          <a:solidFill>
            <a:srgbClr val="151E30"/>
          </a:solidFill>
          <a:ln/>
          <a:effectLst>
            <a:outerShdw sx="100000" sy="100000" kx="0" ky="0" algn="bl" rotWithShape="0" blurRad="76200" dist="25400" dir="8100000">
              <a:srgbClr val="000000">
                <a:alpha val="35000"/>
              </a:srgbClr>
            </a:outerShdw>
          </a:effectLst>
        </p:spPr>
      </p:sp>
      <p:sp>
        <p:nvSpPr>
          <p:cNvPr id="27" name="Shape 25"/>
          <p:cNvSpPr/>
          <p:nvPr/>
        </p:nvSpPr>
        <p:spPr>
          <a:xfrm>
            <a:off x="4754880" y="914400"/>
            <a:ext cx="457200" cy="868680"/>
          </a:xfrm>
          <a:prstGeom prst="rect">
            <a:avLst/>
          </a:prstGeom>
          <a:solidFill>
            <a:srgbClr val="0EA5E9"/>
          </a:solidFill>
          <a:ln/>
        </p:spPr>
      </p:sp>
      <p:sp>
        <p:nvSpPr>
          <p:cNvPr id="28" name="Text 26"/>
          <p:cNvSpPr/>
          <p:nvPr/>
        </p:nvSpPr>
        <p:spPr>
          <a:xfrm>
            <a:off x="4754880" y="914400"/>
            <a:ext cx="457200" cy="868680"/>
          </a:xfrm>
          <a:prstGeom prst="rect">
            <a:avLst/>
          </a:prstGeom>
          <a:noFill/>
          <a:ln/>
        </p:spPr>
        <p:txBody>
          <a:bodyPr wrap="square" lIns="0" tIns="0" rIns="0" bIns="0" rtlCol="0" anchor="ctr"/>
          <a:lstStyle/>
          <a:p>
            <a:pPr algn="ctr" indent="0" marL="0">
              <a:buNone/>
            </a:pPr>
            <a:r>
              <a:rPr lang="en-US" sz="2000" dirty="0">
                <a:solidFill>
                  <a:srgbClr val="F8FAFC"/>
                </a:solidFill>
                <a:latin typeface="Arial Black" pitchFamily="34" charset="0"/>
                <a:ea typeface="Arial Black" pitchFamily="34" charset="-122"/>
                <a:cs typeface="Arial Black" pitchFamily="34" charset="-120"/>
              </a:rPr>
              <a:t>5</a:t>
            </a:r>
            <a:endParaRPr lang="en-US" sz="2000" dirty="0"/>
          </a:p>
        </p:txBody>
      </p:sp>
      <p:sp>
        <p:nvSpPr>
          <p:cNvPr id="29" name="Text 27"/>
          <p:cNvSpPr/>
          <p:nvPr/>
        </p:nvSpPr>
        <p:spPr>
          <a:xfrm>
            <a:off x="5349240" y="960120"/>
            <a:ext cx="3291840" cy="300000"/>
          </a:xfrm>
          <a:prstGeom prst="rect">
            <a:avLst/>
          </a:prstGeom>
          <a:noFill/>
          <a:ln/>
        </p:spPr>
        <p:txBody>
          <a:bodyPr wrap="square" lIns="0" tIns="0" rIns="0" bIns="0" rtlCol="0" anchor="ctr"/>
          <a:lstStyle/>
          <a:p>
            <a:pPr indent="0" marL="0">
              <a:buNone/>
            </a:pPr>
            <a:r>
              <a:rPr lang="en-US" sz="1300" b="1" dirty="0">
                <a:solidFill>
                  <a:srgbClr val="F1F5F9"/>
                </a:solidFill>
                <a:latin typeface="Calibri" pitchFamily="34" charset="0"/>
                <a:ea typeface="Calibri" pitchFamily="34" charset="-122"/>
                <a:cs typeface="Calibri" pitchFamily="34" charset="-120"/>
              </a:rPr>
              <a:t>Stop Hooks &amp; Circuit Breakers</a:t>
            </a:r>
            <a:endParaRPr lang="en-US" sz="1300" dirty="0"/>
          </a:p>
        </p:txBody>
      </p:sp>
      <p:sp>
        <p:nvSpPr>
          <p:cNvPr id="30" name="Text 28"/>
          <p:cNvSpPr/>
          <p:nvPr/>
        </p:nvSpPr>
        <p:spPr>
          <a:xfrm>
            <a:off x="5349240" y="1291600"/>
            <a:ext cx="3291840" cy="520000"/>
          </a:xfrm>
          <a:prstGeom prst="rect">
            <a:avLst/>
          </a:prstGeom>
          <a:noFill/>
          <a:ln/>
        </p:spPr>
        <p:txBody>
          <a:bodyPr wrap="square" lIns="0" tIns="0" rIns="0" bIns="0" rtlCol="0" anchor="ctr"/>
          <a:lstStyle/>
          <a:p>
            <a:pPr indent="0" marL="0">
              <a:buNone/>
            </a:pPr>
            <a:r>
              <a:rPr sz="1000">
                <a:solidFill>
                  <a:srgbClr val="94A3B8"/>
                </a:solidFill>
                <a:latin typeface="Calibri"/>
              </a:rPr>
              <a:t>Kyverno + Falco + Claude Code hooks</a:t>
            </a:r>
            <a:endParaRPr lang="en-US" sz="1100" dirty="0"/>
          </a:p>
          <a:p>
            <a:r>
              <a:rPr sz="800" i="1">
                <a:solidFill>
                  <a:srgbClr val="F5A623"/>
                </a:solidFill>
                <a:latin typeface="Calibri"/>
              </a:rPr>
              <a:t>Prevents: Replit/SaaStr DB deletion during code freeze</a:t>
            </a:r>
          </a:p>
        </p:txBody>
      </p:sp>
      <p:sp>
        <p:nvSpPr>
          <p:cNvPr id="31" name="Shape 29"/>
          <p:cNvSpPr/>
          <p:nvPr/>
        </p:nvSpPr>
        <p:spPr>
          <a:xfrm>
            <a:off x="4754880" y="1920240"/>
            <a:ext cx="4114800" cy="868680"/>
          </a:xfrm>
          <a:prstGeom prst="rect">
            <a:avLst/>
          </a:prstGeom>
          <a:solidFill>
            <a:srgbClr val="151E30"/>
          </a:solidFill>
          <a:ln/>
          <a:effectLst>
            <a:outerShdw sx="100000" sy="100000" kx="0" ky="0" algn="bl" rotWithShape="0" blurRad="76200" dist="25400" dir="8100000">
              <a:srgbClr val="000000">
                <a:alpha val="35000"/>
              </a:srgbClr>
            </a:outerShdw>
          </a:effectLst>
        </p:spPr>
      </p:sp>
      <p:sp>
        <p:nvSpPr>
          <p:cNvPr id="32" name="Shape 30"/>
          <p:cNvSpPr/>
          <p:nvPr/>
        </p:nvSpPr>
        <p:spPr>
          <a:xfrm>
            <a:off x="4754880" y="1920240"/>
            <a:ext cx="457200" cy="868680"/>
          </a:xfrm>
          <a:prstGeom prst="rect">
            <a:avLst/>
          </a:prstGeom>
          <a:solidFill>
            <a:srgbClr val="0EA5E9"/>
          </a:solidFill>
          <a:ln/>
        </p:spPr>
      </p:sp>
      <p:sp>
        <p:nvSpPr>
          <p:cNvPr id="33" name="Text 31"/>
          <p:cNvSpPr/>
          <p:nvPr/>
        </p:nvSpPr>
        <p:spPr>
          <a:xfrm>
            <a:off x="4754880" y="1920240"/>
            <a:ext cx="457200" cy="868680"/>
          </a:xfrm>
          <a:prstGeom prst="rect">
            <a:avLst/>
          </a:prstGeom>
          <a:noFill/>
          <a:ln/>
        </p:spPr>
        <p:txBody>
          <a:bodyPr wrap="square" lIns="0" tIns="0" rIns="0" bIns="0" rtlCol="0" anchor="ctr"/>
          <a:lstStyle/>
          <a:p>
            <a:pPr algn="ctr" indent="0" marL="0">
              <a:buNone/>
            </a:pPr>
            <a:r>
              <a:rPr lang="en-US" sz="2000" dirty="0">
                <a:solidFill>
                  <a:srgbClr val="F8FAFC"/>
                </a:solidFill>
                <a:latin typeface="Arial Black" pitchFamily="34" charset="0"/>
                <a:ea typeface="Arial Black" pitchFamily="34" charset="-122"/>
                <a:cs typeface="Arial Black" pitchFamily="34" charset="-120"/>
              </a:rPr>
              <a:t>6</a:t>
            </a:r>
            <a:endParaRPr lang="en-US" sz="2000" dirty="0"/>
          </a:p>
        </p:txBody>
      </p:sp>
      <p:sp>
        <p:nvSpPr>
          <p:cNvPr id="34" name="Text 32"/>
          <p:cNvSpPr/>
          <p:nvPr/>
        </p:nvSpPr>
        <p:spPr>
          <a:xfrm>
            <a:off x="5349240" y="1965960"/>
            <a:ext cx="3291840" cy="300000"/>
          </a:xfrm>
          <a:prstGeom prst="rect">
            <a:avLst/>
          </a:prstGeom>
          <a:noFill/>
          <a:ln/>
        </p:spPr>
        <p:txBody>
          <a:bodyPr wrap="square" lIns="0" tIns="0" rIns="0" bIns="0" rtlCol="0" anchor="ctr"/>
          <a:lstStyle/>
          <a:p>
            <a:pPr indent="0" marL="0">
              <a:buNone/>
            </a:pPr>
            <a:r>
              <a:rPr lang="en-US" sz="1300" b="1" dirty="0">
                <a:solidFill>
                  <a:srgbClr val="F1F5F9"/>
                </a:solidFill>
                <a:latin typeface="Calibri" pitchFamily="34" charset="0"/>
                <a:ea typeface="Calibri" pitchFamily="34" charset="-122"/>
                <a:cs typeface="Calibri" pitchFamily="34" charset="-120"/>
              </a:rPr>
              <a:t>Immutable Audit Trail</a:t>
            </a:r>
            <a:endParaRPr lang="en-US" sz="1300" dirty="0"/>
          </a:p>
        </p:txBody>
      </p:sp>
      <p:sp>
        <p:nvSpPr>
          <p:cNvPr id="35" name="Text 33"/>
          <p:cNvSpPr/>
          <p:nvPr/>
        </p:nvSpPr>
        <p:spPr>
          <a:xfrm>
            <a:off x="5349240" y="2297440"/>
            <a:ext cx="3291840" cy="520000"/>
          </a:xfrm>
          <a:prstGeom prst="rect">
            <a:avLst/>
          </a:prstGeom>
          <a:noFill/>
          <a:ln/>
        </p:spPr>
        <p:txBody>
          <a:bodyPr wrap="square" lIns="0" tIns="0" rIns="0" bIns="0" rtlCol="0" anchor="ctr"/>
          <a:lstStyle/>
          <a:p>
            <a:pPr indent="0" marL="0">
              <a:buNone/>
            </a:pPr>
            <a:r>
              <a:rPr sz="1000">
                <a:solidFill>
                  <a:srgbClr val="94A3B8"/>
                </a:solidFill>
                <a:latin typeface="Calibri"/>
              </a:rPr>
              <a:t>OTel + K8s audit + git log</a:t>
            </a:r>
            <a:endParaRPr lang="en-US" sz="1100" dirty="0"/>
          </a:p>
          <a:p>
            <a:r>
              <a:rPr sz="800" i="1">
                <a:solidFill>
                  <a:srgbClr val="F5A623"/>
                </a:solidFill>
                <a:latin typeface="Calibri"/>
              </a:rPr>
              <a:t>Prevents: invisible agent reasoning — you need the decision chain</a:t>
            </a:r>
          </a:p>
        </p:txBody>
      </p:sp>
      <p:sp>
        <p:nvSpPr>
          <p:cNvPr id="36" name="Shape 34"/>
          <p:cNvSpPr/>
          <p:nvPr/>
        </p:nvSpPr>
        <p:spPr>
          <a:xfrm>
            <a:off x="4754880" y="2926080"/>
            <a:ext cx="4114800" cy="868680"/>
          </a:xfrm>
          <a:prstGeom prst="rect">
            <a:avLst/>
          </a:prstGeom>
          <a:solidFill>
            <a:srgbClr val="151E30"/>
          </a:solidFill>
          <a:ln/>
          <a:effectLst>
            <a:outerShdw sx="100000" sy="100000" kx="0" ky="0" algn="bl" rotWithShape="0" blurRad="76200" dist="25400" dir="8100000">
              <a:srgbClr val="000000">
                <a:alpha val="35000"/>
              </a:srgbClr>
            </a:outerShdw>
          </a:effectLst>
        </p:spPr>
      </p:sp>
      <p:sp>
        <p:nvSpPr>
          <p:cNvPr id="37" name="Shape 35"/>
          <p:cNvSpPr/>
          <p:nvPr/>
        </p:nvSpPr>
        <p:spPr>
          <a:xfrm>
            <a:off x="4754880" y="2926080"/>
            <a:ext cx="457200" cy="868680"/>
          </a:xfrm>
          <a:prstGeom prst="rect">
            <a:avLst/>
          </a:prstGeom>
          <a:solidFill>
            <a:srgbClr val="0EA5E9"/>
          </a:solidFill>
          <a:ln/>
        </p:spPr>
      </p:sp>
      <p:sp>
        <p:nvSpPr>
          <p:cNvPr id="38" name="Text 36"/>
          <p:cNvSpPr/>
          <p:nvPr/>
        </p:nvSpPr>
        <p:spPr>
          <a:xfrm>
            <a:off x="4754880" y="2926080"/>
            <a:ext cx="457200" cy="868680"/>
          </a:xfrm>
          <a:prstGeom prst="rect">
            <a:avLst/>
          </a:prstGeom>
          <a:noFill/>
          <a:ln/>
        </p:spPr>
        <p:txBody>
          <a:bodyPr wrap="square" lIns="0" tIns="0" rIns="0" bIns="0" rtlCol="0" anchor="ctr"/>
          <a:lstStyle/>
          <a:p>
            <a:pPr algn="ctr" indent="0" marL="0">
              <a:buNone/>
            </a:pPr>
            <a:r>
              <a:rPr lang="en-US" sz="2000" dirty="0">
                <a:solidFill>
                  <a:srgbClr val="F8FAFC"/>
                </a:solidFill>
                <a:latin typeface="Arial Black" pitchFamily="34" charset="0"/>
                <a:ea typeface="Arial Black" pitchFamily="34" charset="-122"/>
                <a:cs typeface="Arial Black" pitchFamily="34" charset="-120"/>
              </a:rPr>
              <a:t>7</a:t>
            </a:r>
            <a:endParaRPr lang="en-US" sz="2000" dirty="0"/>
          </a:p>
        </p:txBody>
      </p:sp>
      <p:sp>
        <p:nvSpPr>
          <p:cNvPr id="39" name="Text 37"/>
          <p:cNvSpPr/>
          <p:nvPr/>
        </p:nvSpPr>
        <p:spPr>
          <a:xfrm>
            <a:off x="5349240" y="2971800"/>
            <a:ext cx="3291840" cy="300000"/>
          </a:xfrm>
          <a:prstGeom prst="rect">
            <a:avLst/>
          </a:prstGeom>
          <a:noFill/>
          <a:ln/>
        </p:spPr>
        <p:txBody>
          <a:bodyPr wrap="square" lIns="0" tIns="0" rIns="0" bIns="0" rtlCol="0" anchor="ctr"/>
          <a:lstStyle/>
          <a:p>
            <a:pPr indent="0" marL="0">
              <a:buNone/>
            </a:pPr>
            <a:r>
              <a:rPr lang="en-US" sz="1300" b="1" dirty="0">
                <a:solidFill>
                  <a:srgbClr val="F1F5F9"/>
                </a:solidFill>
                <a:latin typeface="Calibri" pitchFamily="34" charset="0"/>
                <a:ea typeface="Calibri" pitchFamily="34" charset="-122"/>
                <a:cs typeface="Calibri" pitchFamily="34" charset="-120"/>
              </a:rPr>
              <a:t>Automated Rollback</a:t>
            </a:r>
            <a:endParaRPr lang="en-US" sz="1300" dirty="0"/>
          </a:p>
        </p:txBody>
      </p:sp>
      <p:sp>
        <p:nvSpPr>
          <p:cNvPr id="40" name="Text 38"/>
          <p:cNvSpPr/>
          <p:nvPr/>
        </p:nvSpPr>
        <p:spPr>
          <a:xfrm>
            <a:off x="5349240" y="3303280"/>
            <a:ext cx="3291840" cy="520000"/>
          </a:xfrm>
          <a:prstGeom prst="rect">
            <a:avLst/>
          </a:prstGeom>
          <a:noFill/>
          <a:ln/>
        </p:spPr>
        <p:txBody>
          <a:bodyPr wrap="square" lIns="0" tIns="0" rIns="0" bIns="0" rtlCol="0" anchor="ctr"/>
          <a:lstStyle/>
          <a:p>
            <a:pPr indent="0" marL="0">
              <a:buNone/>
            </a:pPr>
            <a:r>
              <a:rPr sz="1000">
                <a:solidFill>
                  <a:srgbClr val="94A3B8"/>
                </a:solidFill>
                <a:latin typeface="Calibri"/>
              </a:rPr>
              <a:t>ArgoCD self-heal (&lt;30s) + PDBs</a:t>
            </a:r>
            <a:endParaRPr lang="en-US" sz="1100" dirty="0"/>
          </a:p>
          <a:p>
            <a:r>
              <a:rPr sz="800" i="1">
                <a:solidFill>
                  <a:srgbClr val="F5A623"/>
                </a:solidFill>
                <a:latin typeface="Calibri"/>
              </a:rPr>
              <a:t>Prevents: Kiro 13hr recovery — GitOps reverts in seconds</a:t>
            </a:r>
          </a:p>
        </p:txBody>
      </p:sp>
      <p:sp>
        <p:nvSpPr>
          <p:cNvPr id="41" name="Shape 39"/>
          <p:cNvSpPr/>
          <p:nvPr/>
        </p:nvSpPr>
        <p:spPr>
          <a:xfrm>
            <a:off x="4754880" y="3931920"/>
            <a:ext cx="4114800" cy="868680"/>
          </a:xfrm>
          <a:prstGeom prst="rect">
            <a:avLst/>
          </a:prstGeom>
          <a:solidFill>
            <a:srgbClr val="151E30"/>
          </a:solidFill>
          <a:ln/>
          <a:effectLst>
            <a:outerShdw sx="100000" sy="100000" kx="0" ky="0" algn="bl" rotWithShape="0" blurRad="76200" dist="25400" dir="8100000">
              <a:srgbClr val="000000">
                <a:alpha val="35000"/>
              </a:srgbClr>
            </a:outerShdw>
          </a:effectLst>
        </p:spPr>
      </p:sp>
      <p:sp>
        <p:nvSpPr>
          <p:cNvPr id="42" name="Shape 40"/>
          <p:cNvSpPr/>
          <p:nvPr/>
        </p:nvSpPr>
        <p:spPr>
          <a:xfrm>
            <a:off x="4754880" y="3931920"/>
            <a:ext cx="457200" cy="868680"/>
          </a:xfrm>
          <a:prstGeom prst="rect">
            <a:avLst/>
          </a:prstGeom>
          <a:solidFill>
            <a:srgbClr val="0EA5E9"/>
          </a:solidFill>
          <a:ln/>
        </p:spPr>
      </p:sp>
      <p:sp>
        <p:nvSpPr>
          <p:cNvPr id="43" name="Text 41"/>
          <p:cNvSpPr/>
          <p:nvPr/>
        </p:nvSpPr>
        <p:spPr>
          <a:xfrm>
            <a:off x="4754880" y="3931920"/>
            <a:ext cx="457200" cy="868680"/>
          </a:xfrm>
          <a:prstGeom prst="rect">
            <a:avLst/>
          </a:prstGeom>
          <a:noFill/>
          <a:ln/>
        </p:spPr>
        <p:txBody>
          <a:bodyPr wrap="square" lIns="0" tIns="0" rIns="0" bIns="0" rtlCol="0" anchor="ctr"/>
          <a:lstStyle/>
          <a:p>
            <a:pPr algn="ctr" indent="0" marL="0">
              <a:buNone/>
            </a:pPr>
            <a:r>
              <a:rPr lang="en-US" sz="2000" dirty="0">
                <a:solidFill>
                  <a:srgbClr val="F8FAFC"/>
                </a:solidFill>
                <a:latin typeface="Arial Black" pitchFamily="34" charset="0"/>
                <a:ea typeface="Arial Black" pitchFamily="34" charset="-122"/>
                <a:cs typeface="Arial Black" pitchFamily="34" charset="-120"/>
              </a:rPr>
              <a:t>8</a:t>
            </a:r>
            <a:endParaRPr lang="en-US" sz="2000" dirty="0"/>
          </a:p>
        </p:txBody>
      </p:sp>
      <p:sp>
        <p:nvSpPr>
          <p:cNvPr id="44" name="Text 42"/>
          <p:cNvSpPr/>
          <p:nvPr/>
        </p:nvSpPr>
        <p:spPr>
          <a:xfrm>
            <a:off x="5349240" y="3977640"/>
            <a:ext cx="3291840" cy="300000"/>
          </a:xfrm>
          <a:prstGeom prst="rect">
            <a:avLst/>
          </a:prstGeom>
          <a:noFill/>
          <a:ln/>
        </p:spPr>
        <p:txBody>
          <a:bodyPr wrap="square" lIns="0" tIns="0" rIns="0" bIns="0" rtlCol="0" anchor="ctr"/>
          <a:lstStyle/>
          <a:p>
            <a:pPr indent="0" marL="0">
              <a:buNone/>
            </a:pPr>
            <a:r>
              <a:rPr lang="en-US" sz="1300" b="1" dirty="0">
                <a:solidFill>
                  <a:srgbClr val="F1F5F9"/>
                </a:solidFill>
                <a:latin typeface="Calibri" pitchFamily="34" charset="0"/>
                <a:ea typeface="Calibri" pitchFamily="34" charset="-122"/>
                <a:cs typeface="Calibri" pitchFamily="34" charset="-120"/>
              </a:rPr>
              <a:t>Supply Chain &amp; Trust Boundaries</a:t>
            </a:r>
            <a:endParaRPr lang="en-US" sz="1300" dirty="0"/>
          </a:p>
        </p:txBody>
      </p:sp>
      <p:sp>
        <p:nvSpPr>
          <p:cNvPr id="45" name="Text 43"/>
          <p:cNvSpPr/>
          <p:nvPr/>
        </p:nvSpPr>
        <p:spPr>
          <a:xfrm>
            <a:off x="5349240" y="4309120"/>
            <a:ext cx="3291840" cy="520000"/>
          </a:xfrm>
          <a:prstGeom prst="rect">
            <a:avLst/>
          </a:prstGeom>
          <a:noFill/>
          <a:ln/>
        </p:spPr>
        <p:txBody>
          <a:bodyPr wrap="square" lIns="0" tIns="0" rIns="0" bIns="0" rtlCol="0" anchor="ctr"/>
          <a:lstStyle/>
          <a:p>
            <a:pPr indent="0" marL="0">
              <a:buNone/>
            </a:pPr>
            <a:r>
              <a:rPr sz="1000">
                <a:solidFill>
                  <a:srgbClr val="94A3B8"/>
                </a:solidFill>
                <a:latin typeface="Calibri"/>
              </a:rPr>
              <a:t>Kyverno + Sigstore + Trivy + gitleaks + MCP audit</a:t>
            </a:r>
            <a:endParaRPr lang="en-US" sz="1100" dirty="0"/>
          </a:p>
          <a:p>
            <a:r>
              <a:rPr sz="800" i="1">
                <a:solidFill>
                  <a:srgbClr val="F5A623"/>
                </a:solidFill>
                <a:latin typeface="Calibri"/>
              </a:rPr>
              <a:t>Prevents: malicious MCP server (fake Postmark BCC attack)</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EF4444"/>
          </a:solidFill>
          <a:ln/>
        </p:spPr>
      </p:sp>
      <p:sp>
        <p:nvSpPr>
          <p:cNvPr id="3" name="Text 1"/>
          <p:cNvSpPr/>
          <p:nvPr/>
        </p:nvSpPr>
        <p:spPr>
          <a:xfrm>
            <a:off x="365760" y="4773168"/>
            <a:ext cx="4572000" cy="228600"/>
          </a:xfrm>
          <a:prstGeom prst="rect">
            <a:avLst/>
          </a:prstGeom>
          <a:noFill/>
          <a:ln/>
        </p:spPr>
        <p:txBody>
          <a:bodyPr wrap="square" rtlCol="0" anchor="ctr"/>
          <a:lstStyle/>
          <a:p>
            <a:pPr indent="0" marL="0">
              <a:buNone/>
            </a:pPr>
            <a:r>
              <a:rPr lang="en-US" sz="700" dirty="0">
                <a:solidFill>
                  <a:srgbClr val="64748B"/>
                </a:solidFill>
                <a:latin typeface="Calibri" pitchFamily="34" charset="0"/>
                <a:ea typeface="Calibri" pitchFamily="34" charset="-122"/>
                <a:cs typeface="Calibri" pitchFamily="34" charset="-120"/>
              </a:rPr>
              <a:t>KubeAuto AI Day Europe 2026</a:t>
            </a:r>
            <a:endParaRPr lang="en-US" sz="700" dirty="0"/>
          </a:p>
        </p:txBody>
      </p:sp>
      <p:sp>
        <p:nvSpPr>
          <p:cNvPr id="4" name="Text 2"/>
          <p:cNvSpPr/>
          <p:nvPr/>
        </p:nvSpPr>
        <p:spPr>
          <a:xfrm>
            <a:off x="7863840" y="4773168"/>
            <a:ext cx="914400" cy="228600"/>
          </a:xfrm>
          <a:prstGeom prst="rect">
            <a:avLst/>
          </a:prstGeom>
          <a:noFill/>
          <a:ln/>
        </p:spPr>
        <p:txBody>
          <a:bodyPr wrap="square" rtlCol="0" anchor="ctr"/>
          <a:lstStyle/>
          <a:p>
            <a:pPr algn="r" indent="0" marL="0">
              <a:buNone/>
            </a:pPr>
            <a:r>
              <a:rPr lang="en-US" sz="700" dirty="0">
                <a:solidFill>
                  <a:srgbClr val="64748B"/>
                </a:solidFill>
                <a:latin typeface="Calibri" pitchFamily="34" charset="0"/>
                <a:ea typeface="Calibri" pitchFamily="34" charset="-122"/>
                <a:cs typeface="Calibri" pitchFamily="34" charset="-120"/>
              </a:rPr>
              <a:t>18/21</a:t>
            </a:r>
            <a:endParaRPr lang="en-US" sz="700" dirty="0"/>
          </a:p>
        </p:txBody>
      </p:sp>
      <p:sp>
        <p:nvSpPr>
          <p:cNvPr id="5" name="Text 3"/>
          <p:cNvSpPr/>
          <p:nvPr/>
        </p:nvSpPr>
        <p:spPr>
          <a:xfrm>
            <a:off x="457200" y="228600"/>
            <a:ext cx="8229600" cy="548640"/>
          </a:xfrm>
          <a:prstGeom prst="rect">
            <a:avLst/>
          </a:prstGeom>
          <a:noFill/>
          <a:ln/>
        </p:spPr>
        <p:txBody>
          <a:bodyPr wrap="square" lIns="0" tIns="0" rIns="0" bIns="0" rtlCol="0" anchor="ctr"/>
          <a:lstStyle/>
          <a:p>
            <a:pPr indent="0" marL="0">
              <a:buNone/>
            </a:pPr>
            <a:r>
              <a:rPr lang="en-US" sz="2800" dirty="0">
                <a:solidFill>
                  <a:srgbClr val="F8FAFC"/>
                </a:solidFill>
                <a:latin typeface="Arial Black" pitchFamily="34" charset="0"/>
                <a:ea typeface="Arial Black" pitchFamily="34" charset="-122"/>
                <a:cs typeface="Arial Black" pitchFamily="34" charset="-120"/>
              </a:rPr>
              <a:t>Honest Boundaries</a:t>
            </a:r>
            <a:endParaRPr lang="en-US" sz="2800" dirty="0"/>
          </a:p>
        </p:txBody>
      </p:sp>
      <p:sp>
        <p:nvSpPr>
          <p:cNvPr id="6" name="Text 4"/>
          <p:cNvSpPr/>
          <p:nvPr/>
        </p:nvSpPr>
        <p:spPr>
          <a:xfrm>
            <a:off x="457200" y="731520"/>
            <a:ext cx="8229600" cy="365760"/>
          </a:xfrm>
          <a:prstGeom prst="rect">
            <a:avLst/>
          </a:prstGeom>
          <a:noFill/>
          <a:ln/>
        </p:spPr>
        <p:txBody>
          <a:bodyPr wrap="square" lIns="0" tIns="0" rIns="0" bIns="0" rtlCol="0" anchor="ctr"/>
          <a:lstStyle/>
          <a:p>
            <a:pPr indent="0" marL="0">
              <a:buNone/>
            </a:pPr>
            <a:r>
              <a:rPr lang="en-US" sz="1400" i="1" dirty="0">
                <a:solidFill>
                  <a:srgbClr val="94A3B8"/>
                </a:solidFill>
                <a:latin typeface="Calibri" pitchFamily="34" charset="0"/>
                <a:ea typeface="Calibri" pitchFamily="34" charset="-122"/>
                <a:cs typeface="Calibri" pitchFamily="34" charset="-120"/>
              </a:rPr>
              <a:t>This worked because three things were true:</a:t>
            </a:r>
            <a:endParaRPr lang="en-US" sz="1400" dirty="0"/>
          </a:p>
        </p:txBody>
      </p:sp>
      <p:sp>
        <p:nvSpPr>
          <p:cNvPr id="7" name="Shape 5"/>
          <p:cNvSpPr/>
          <p:nvPr/>
        </p:nvSpPr>
        <p:spPr>
          <a:xfrm>
            <a:off x="365760" y="1280160"/>
            <a:ext cx="8412480" cy="960120"/>
          </a:xfrm>
          <a:prstGeom prst="rect">
            <a:avLst/>
          </a:prstGeom>
          <a:solidFill>
            <a:srgbClr val="151E30"/>
          </a:solidFill>
          <a:ln/>
          <a:effectLst>
            <a:outerShdw sx="100000" sy="100000" kx="0" ky="0" algn="bl" rotWithShape="0" blurRad="76200" dist="25400" dir="8100000">
              <a:srgbClr val="000000">
                <a:alpha val="35000"/>
              </a:srgbClr>
            </a:outerShdw>
          </a:effectLst>
        </p:spPr>
      </p:sp>
      <p:pic>
        <p:nvPicPr>
          <p:cNvPr id="8" name="Image 0" descr="preencoded.png">    </p:cNvPr>
          <p:cNvPicPr>
            <a:picLocks noChangeAspect="1"/>
          </p:cNvPicPr>
          <p:nvPr/>
        </p:nvPicPr>
        <p:blipFill>
          <a:blip r:embed="rId1"/>
          <a:stretch>
            <a:fillRect/>
          </a:stretch>
        </p:blipFill>
        <p:spPr>
          <a:xfrm>
            <a:off x="640080" y="1554480"/>
            <a:ext cx="411480" cy="411480"/>
          </a:xfrm>
          <a:prstGeom prst="rect">
            <a:avLst/>
          </a:prstGeom>
        </p:spPr>
      </p:pic>
      <p:sp>
        <p:nvSpPr>
          <p:cNvPr id="9" name="Text 6"/>
          <p:cNvSpPr/>
          <p:nvPr/>
        </p:nvSpPr>
        <p:spPr>
          <a:xfrm>
            <a:off x="1280160" y="1353312"/>
            <a:ext cx="7132320" cy="365760"/>
          </a:xfrm>
          <a:prstGeom prst="rect">
            <a:avLst/>
          </a:prstGeom>
          <a:noFill/>
          <a:ln/>
        </p:spPr>
        <p:txBody>
          <a:bodyPr wrap="square" lIns="0" tIns="0" rIns="0" bIns="0" rtlCol="0" anchor="ctr"/>
          <a:lstStyle/>
          <a:p>
            <a:pPr indent="0" marL="0">
              <a:buNone/>
            </a:pPr>
            <a:r>
              <a:rPr lang="en-US" sz="1600" b="1" dirty="0">
                <a:solidFill>
                  <a:srgbClr val="EF4444"/>
                </a:solidFill>
                <a:latin typeface="Calibri" pitchFamily="34" charset="0"/>
                <a:ea typeface="Calibri" pitchFamily="34" charset="-122"/>
                <a:cs typeface="Calibri" pitchFamily="34" charset="-120"/>
              </a:rPr>
              <a:t>Greenfield</a:t>
            </a:r>
            <a:endParaRPr lang="en-US" sz="1600" dirty="0"/>
          </a:p>
        </p:txBody>
      </p:sp>
      <p:sp>
        <p:nvSpPr>
          <p:cNvPr id="10" name="Text 7"/>
          <p:cNvSpPr/>
          <p:nvPr/>
        </p:nvSpPr>
        <p:spPr>
          <a:xfrm>
            <a:off x="1280160" y="1737360"/>
            <a:ext cx="7132320" cy="411480"/>
          </a:xfrm>
          <a:prstGeom prst="rect">
            <a:avLst/>
          </a:prstGeom>
          <a:noFill/>
          <a:ln/>
        </p:spPr>
        <p:txBody>
          <a:bodyPr wrap="square" lIns="0" tIns="0" rIns="0" bIns="0" rtlCol="0" anchor="ctr"/>
          <a:lstStyle/>
          <a:p>
            <a:pPr indent="0" marL="0">
              <a:buNone/>
            </a:pPr>
            <a:r>
              <a:rPr lang="en-US" sz="1200" dirty="0">
                <a:solidFill>
                  <a:srgbClr val="CBD5E1"/>
                </a:solidFill>
                <a:latin typeface="Calibri" pitchFamily="34" charset="0"/>
                <a:ea typeface="Calibri" pitchFamily="34" charset="-122"/>
                <a:cs typeface="Calibri" pitchFamily="34" charset="-120"/>
              </a:rPr>
              <a:t>No existing tribal knowledge, no org decisions baked in. AI doesn't know your org's history.</a:t>
            </a:r>
            <a:endParaRPr lang="en-US" sz="1200" dirty="0"/>
          </a:p>
        </p:txBody>
      </p:sp>
      <p:sp>
        <p:nvSpPr>
          <p:cNvPr id="11" name="Shape 8"/>
          <p:cNvSpPr/>
          <p:nvPr/>
        </p:nvSpPr>
        <p:spPr>
          <a:xfrm>
            <a:off x="365760" y="2423160"/>
            <a:ext cx="8412480" cy="960120"/>
          </a:xfrm>
          <a:prstGeom prst="rect">
            <a:avLst/>
          </a:prstGeom>
          <a:solidFill>
            <a:srgbClr val="151E30"/>
          </a:solidFill>
          <a:ln/>
          <a:effectLst>
            <a:outerShdw sx="100000" sy="100000" kx="0" ky="0" algn="bl" rotWithShape="0" blurRad="76200" dist="25400" dir="8100000">
              <a:srgbClr val="000000">
                <a:alpha val="35000"/>
              </a:srgbClr>
            </a:outerShdw>
          </a:effectLst>
        </p:spPr>
      </p:sp>
      <p:pic>
        <p:nvPicPr>
          <p:cNvPr id="12" name="Image 1" descr="preencoded.png">    </p:cNvPr>
          <p:cNvPicPr>
            <a:picLocks noChangeAspect="1"/>
          </p:cNvPicPr>
          <p:nvPr/>
        </p:nvPicPr>
        <p:blipFill>
          <a:blip r:embed="rId2"/>
          <a:stretch>
            <a:fillRect/>
          </a:stretch>
        </p:blipFill>
        <p:spPr>
          <a:xfrm>
            <a:off x="640080" y="2697480"/>
            <a:ext cx="411480" cy="411480"/>
          </a:xfrm>
          <a:prstGeom prst="rect">
            <a:avLst/>
          </a:prstGeom>
        </p:spPr>
      </p:pic>
      <p:sp>
        <p:nvSpPr>
          <p:cNvPr id="13" name="Text 9"/>
          <p:cNvSpPr/>
          <p:nvPr/>
        </p:nvSpPr>
        <p:spPr>
          <a:xfrm>
            <a:off x="1280160" y="2496312"/>
            <a:ext cx="7132320" cy="365760"/>
          </a:xfrm>
          <a:prstGeom prst="rect">
            <a:avLst/>
          </a:prstGeom>
          <a:noFill/>
          <a:ln/>
        </p:spPr>
        <p:txBody>
          <a:bodyPr wrap="square" lIns="0" tIns="0" rIns="0" bIns="0" rtlCol="0" anchor="ctr"/>
          <a:lstStyle/>
          <a:p>
            <a:pPr indent="0" marL="0">
              <a:buNone/>
            </a:pPr>
            <a:r>
              <a:rPr lang="en-US" sz="1600" b="1" dirty="0">
                <a:solidFill>
                  <a:srgbClr val="EF4444"/>
                </a:solidFill>
                <a:latin typeface="Calibri" pitchFamily="34" charset="0"/>
                <a:ea typeface="Calibri" pitchFamily="34" charset="-122"/>
                <a:cs typeface="Calibri" pitchFamily="34" charset="-120"/>
              </a:rPr>
              <a:t>I understand every component</a:t>
            </a:r>
            <a:endParaRPr lang="en-US" sz="1600" dirty="0"/>
          </a:p>
        </p:txBody>
      </p:sp>
      <p:sp>
        <p:nvSpPr>
          <p:cNvPr id="14" name="Text 10"/>
          <p:cNvSpPr/>
          <p:nvPr/>
        </p:nvSpPr>
        <p:spPr>
          <a:xfrm>
            <a:off x="1280160" y="2880360"/>
            <a:ext cx="7132320" cy="411480"/>
          </a:xfrm>
          <a:prstGeom prst="rect">
            <a:avLst/>
          </a:prstGeom>
          <a:noFill/>
          <a:ln/>
        </p:spPr>
        <p:txBody>
          <a:bodyPr wrap="square" lIns="0" tIns="0" rIns="0" bIns="0" rtlCol="0" anchor="ctr"/>
          <a:lstStyle/>
          <a:p>
            <a:pPr indent="0" marL="0">
              <a:buNone/>
            </a:pPr>
            <a:r>
              <a:rPr lang="en-US" sz="1200" dirty="0">
                <a:solidFill>
                  <a:srgbClr val="CBD5E1"/>
                </a:solidFill>
                <a:latin typeface="Calibri" pitchFamily="34" charset="0"/>
                <a:ea typeface="Calibri" pitchFamily="34" charset="-122"/>
                <a:cs typeface="Calibri" pitchFamily="34" charset="-120"/>
              </a:rPr>
              <a:t>I could review every line AI generated. If you can't, you're not reducing toil — you're deferring it.</a:t>
            </a:r>
            <a:endParaRPr lang="en-US" sz="1200" dirty="0"/>
          </a:p>
        </p:txBody>
      </p:sp>
      <p:sp>
        <p:nvSpPr>
          <p:cNvPr id="15" name="Shape 11"/>
          <p:cNvSpPr/>
          <p:nvPr/>
        </p:nvSpPr>
        <p:spPr>
          <a:xfrm>
            <a:off x="365760" y="3566160"/>
            <a:ext cx="8412480" cy="960120"/>
          </a:xfrm>
          <a:prstGeom prst="rect">
            <a:avLst/>
          </a:prstGeom>
          <a:solidFill>
            <a:srgbClr val="151E30"/>
          </a:solidFill>
          <a:ln/>
          <a:effectLst>
            <a:outerShdw sx="100000" sy="100000" kx="0" ky="0" algn="bl" rotWithShape="0" blurRad="76200" dist="25400" dir="8100000">
              <a:srgbClr val="000000">
                <a:alpha val="35000"/>
              </a:srgbClr>
            </a:outerShdw>
          </a:effectLst>
        </p:spPr>
      </p:sp>
      <p:pic>
        <p:nvPicPr>
          <p:cNvPr id="16" name="Image 2" descr="preencoded.png">    </p:cNvPr>
          <p:cNvPicPr>
            <a:picLocks noChangeAspect="1"/>
          </p:cNvPicPr>
          <p:nvPr/>
        </p:nvPicPr>
        <p:blipFill>
          <a:blip r:embed="rId3"/>
          <a:stretch>
            <a:fillRect/>
          </a:stretch>
        </p:blipFill>
        <p:spPr>
          <a:xfrm>
            <a:off x="640080" y="3840480"/>
            <a:ext cx="411480" cy="411480"/>
          </a:xfrm>
          <a:prstGeom prst="rect">
            <a:avLst/>
          </a:prstGeom>
        </p:spPr>
      </p:pic>
      <p:sp>
        <p:nvSpPr>
          <p:cNvPr id="17" name="Text 12"/>
          <p:cNvSpPr/>
          <p:nvPr/>
        </p:nvSpPr>
        <p:spPr>
          <a:xfrm>
            <a:off x="1280160" y="3639312"/>
            <a:ext cx="7132320" cy="365760"/>
          </a:xfrm>
          <a:prstGeom prst="rect">
            <a:avLst/>
          </a:prstGeom>
          <a:noFill/>
          <a:ln/>
        </p:spPr>
        <p:txBody>
          <a:bodyPr wrap="square" lIns="0" tIns="0" rIns="0" bIns="0" rtlCol="0" anchor="ctr"/>
          <a:lstStyle/>
          <a:p>
            <a:pPr indent="0" marL="0">
              <a:buNone/>
            </a:pPr>
            <a:r>
              <a:rPr lang="en-US" sz="1600" b="1" dirty="0">
                <a:solidFill>
                  <a:srgbClr val="EF4444"/>
                </a:solidFill>
                <a:latin typeface="Calibri" pitchFamily="34" charset="0"/>
                <a:ea typeface="Calibri" pitchFamily="34" charset="-122"/>
                <a:cs typeface="Calibri" pitchFamily="34" charset="-120"/>
              </a:rPr>
              <a:t>Constrained agent, not autocomplete</a:t>
            </a:r>
            <a:endParaRPr lang="en-US" sz="1600" dirty="0"/>
          </a:p>
        </p:txBody>
      </p:sp>
      <p:sp>
        <p:nvSpPr>
          <p:cNvPr id="18" name="Text 13"/>
          <p:cNvSpPr/>
          <p:nvPr/>
        </p:nvSpPr>
        <p:spPr>
          <a:xfrm>
            <a:off x="1280160" y="4023360"/>
            <a:ext cx="7132320" cy="411480"/>
          </a:xfrm>
          <a:prstGeom prst="rect">
            <a:avLst/>
          </a:prstGeom>
          <a:noFill/>
          <a:ln/>
        </p:spPr>
        <p:txBody>
          <a:bodyPr wrap="square" lIns="0" tIns="0" rIns="0" bIns="0" rtlCol="0" anchor="ctr"/>
          <a:lstStyle/>
          <a:p>
            <a:pPr indent="0" marL="0">
              <a:buNone/>
            </a:pPr>
            <a:r>
              <a:rPr lang="en-US" sz="1200" dirty="0">
                <a:solidFill>
                  <a:srgbClr val="CBD5E1"/>
                </a:solidFill>
                <a:latin typeface="Calibri" pitchFamily="34" charset="0"/>
                <a:ea typeface="Calibri" pitchFamily="34" charset="-122"/>
                <a:cs typeface="Calibri" pitchFamily="34" charset="-120"/>
              </a:rPr>
              <a:t>Skill files, pinned versions, TDD, guardrails. Remove any of these and the 73.8% number collapses.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EA5E9"/>
          </a:solidFill>
          <a:ln/>
        </p:spPr>
      </p:sp>
      <p:sp>
        <p:nvSpPr>
          <p:cNvPr id="3" name="Text 1"/>
          <p:cNvSpPr/>
          <p:nvPr/>
        </p:nvSpPr>
        <p:spPr>
          <a:xfrm>
            <a:off x="365760" y="4773168"/>
            <a:ext cx="4572000" cy="228600"/>
          </a:xfrm>
          <a:prstGeom prst="rect">
            <a:avLst/>
          </a:prstGeom>
          <a:noFill/>
          <a:ln/>
        </p:spPr>
        <p:txBody>
          <a:bodyPr wrap="square" rtlCol="0" anchor="ctr"/>
          <a:lstStyle/>
          <a:p>
            <a:pPr indent="0" marL="0">
              <a:buNone/>
            </a:pPr>
            <a:r>
              <a:rPr lang="en-US" sz="700" dirty="0">
                <a:solidFill>
                  <a:srgbClr val="64748B"/>
                </a:solidFill>
                <a:latin typeface="Calibri" pitchFamily="34" charset="0"/>
                <a:ea typeface="Calibri" pitchFamily="34" charset="-122"/>
                <a:cs typeface="Calibri" pitchFamily="34" charset="-120"/>
              </a:rPr>
              <a:t>KubeAuto AI Day Europe 2026</a:t>
            </a:r>
            <a:endParaRPr lang="en-US" sz="700" dirty="0"/>
          </a:p>
        </p:txBody>
      </p:sp>
      <p:sp>
        <p:nvSpPr>
          <p:cNvPr id="4" name="Text 2"/>
          <p:cNvSpPr/>
          <p:nvPr/>
        </p:nvSpPr>
        <p:spPr>
          <a:xfrm>
            <a:off x="7863840" y="4773168"/>
            <a:ext cx="914400" cy="228600"/>
          </a:xfrm>
          <a:prstGeom prst="rect">
            <a:avLst/>
          </a:prstGeom>
          <a:noFill/>
          <a:ln/>
        </p:spPr>
        <p:txBody>
          <a:bodyPr wrap="square" rtlCol="0" anchor="ctr"/>
          <a:lstStyle/>
          <a:p>
            <a:pPr algn="r" indent="0" marL="0">
              <a:buNone/>
            </a:pPr>
            <a:r>
              <a:rPr lang="en-US" sz="700" dirty="0">
                <a:solidFill>
                  <a:srgbClr val="64748B"/>
                </a:solidFill>
                <a:latin typeface="Calibri" pitchFamily="34" charset="0"/>
                <a:ea typeface="Calibri" pitchFamily="34" charset="-122"/>
                <a:cs typeface="Calibri" pitchFamily="34" charset="-120"/>
              </a:rPr>
              <a:t>19/21</a:t>
            </a:r>
            <a:endParaRPr lang="en-US" sz="700" dirty="0"/>
          </a:p>
        </p:txBody>
      </p:sp>
      <p:sp>
        <p:nvSpPr>
          <p:cNvPr id="5" name="Text 3"/>
          <p:cNvSpPr/>
          <p:nvPr/>
        </p:nvSpPr>
        <p:spPr>
          <a:xfrm>
            <a:off x="731520" y="640080"/>
            <a:ext cx="7680960" cy="640080"/>
          </a:xfrm>
          <a:prstGeom prst="rect">
            <a:avLst/>
          </a:prstGeom>
          <a:noFill/>
          <a:ln/>
        </p:spPr>
        <p:txBody>
          <a:bodyPr wrap="square" lIns="0" tIns="0" rIns="0" bIns="0" rtlCol="0" anchor="ctr"/>
          <a:lstStyle/>
          <a:p>
            <a:pPr indent="0" marL="0">
              <a:buNone/>
            </a:pPr>
            <a:r>
              <a:rPr lang="en-US" sz="2400" dirty="0">
                <a:solidFill>
                  <a:srgbClr val="64748B"/>
                </a:solidFill>
                <a:latin typeface="Arial Black" pitchFamily="34" charset="0"/>
                <a:ea typeface="Arial Black" pitchFamily="34" charset="-122"/>
                <a:cs typeface="Arial Black" pitchFamily="34" charset="-120"/>
              </a:rPr>
              <a:t>The Platform Is a Demo.</a:t>
            </a:r>
            <a:endParaRPr lang="en-US" sz="2400" dirty="0"/>
          </a:p>
        </p:txBody>
      </p:sp>
      <p:sp>
        <p:nvSpPr>
          <p:cNvPr id="6" name="Text 4"/>
          <p:cNvSpPr/>
          <p:nvPr/>
        </p:nvSpPr>
        <p:spPr>
          <a:xfrm>
            <a:off x="731520" y="1280160"/>
            <a:ext cx="7680960" cy="640080"/>
          </a:xfrm>
          <a:prstGeom prst="rect">
            <a:avLst/>
          </a:prstGeom>
          <a:noFill/>
          <a:ln/>
        </p:spPr>
        <p:txBody>
          <a:bodyPr wrap="square" lIns="0" tIns="0" rIns="0" bIns="0" rtlCol="0" anchor="ctr"/>
          <a:lstStyle/>
          <a:p>
            <a:pPr indent="0" marL="0">
              <a:buNone/>
            </a:pPr>
            <a:r>
              <a:rPr lang="en-US" sz="2800" dirty="0">
                <a:solidFill>
                  <a:srgbClr val="0EA5E9"/>
                </a:solidFill>
                <a:latin typeface="Arial Black" pitchFamily="34" charset="0"/>
                <a:ea typeface="Arial Black" pitchFamily="34" charset="-122"/>
                <a:cs typeface="Arial Black" pitchFamily="34" charset="-120"/>
              </a:rPr>
              <a:t>The Scorecard Is the Evidence.</a:t>
            </a:r>
            <a:endParaRPr lang="en-US" sz="2800" dirty="0"/>
          </a:p>
        </p:txBody>
      </p:sp>
      <p:sp>
        <p:nvSpPr>
          <p:cNvPr id="7" name="Shape 5"/>
          <p:cNvSpPr/>
          <p:nvPr/>
        </p:nvSpPr>
        <p:spPr>
          <a:xfrm>
            <a:off x="731520" y="2103120"/>
            <a:ext cx="2743200" cy="36576"/>
          </a:xfrm>
          <a:prstGeom prst="rect">
            <a:avLst/>
          </a:prstGeom>
          <a:solidFill>
            <a:srgbClr val="0EA5E9"/>
          </a:solidFill>
          <a:ln/>
        </p:spPr>
      </p:sp>
      <p:sp>
        <p:nvSpPr>
          <p:cNvPr id="8" name="Text 6"/>
          <p:cNvSpPr/>
          <p:nvPr/>
        </p:nvSpPr>
        <p:spPr>
          <a:xfrm>
            <a:off x="731520" y="2377440"/>
            <a:ext cx="7680960" cy="2286000"/>
          </a:xfrm>
          <a:prstGeom prst="rect">
            <a:avLst/>
          </a:prstGeom>
          <a:noFill/>
          <a:ln/>
        </p:spPr>
        <p:txBody>
          <a:bodyPr wrap="square" lIns="0" tIns="0" rIns="0" bIns="0" rtlCol="0" anchor="ctr"/>
          <a:lstStyle/>
          <a:p>
            <a:pPr indent="0" marL="0">
              <a:buNone/>
            </a:pPr>
            <a:r>
              <a:rPr lang="en-US" sz="1600" dirty="0">
                <a:solidFill>
                  <a:srgbClr val="F1F5F9"/>
                </a:solidFill>
                <a:latin typeface="Calibri" pitchFamily="34" charset="0"/>
                <a:ea typeface="Calibri" pitchFamily="34" charset="-122"/>
                <a:cs typeface="Calibri" pitchFamily="34" charset="-120"/>
              </a:rPr>
              <a:t>The industry has a measurement problem.
</a:t>
            </a:r>
            <a:pPr indent="0" marL="0">
              <a:buNone/>
            </a:pPr>
            <a:r>
              <a:rPr lang="en-US" sz="1400" dirty="0">
                <a:solidFill>
                  <a:srgbClr val="94A3B8"/>
                </a:solidFill>
                <a:latin typeface="Calibri" pitchFamily="34" charset="0"/>
                <a:ea typeface="Calibri" pitchFamily="34" charset="-122"/>
                <a:cs typeface="Calibri" pitchFamily="34" charset="-120"/>
              </a:rPr>
              <a:t>We have vendor surveys that say +55%.
</a:t>
            </a:r>
            <a:pPr indent="0" marL="0">
              <a:buNone/>
            </a:pPr>
            <a:r>
              <a:rPr lang="en-US" sz="1400" dirty="0">
                <a:solidFill>
                  <a:srgbClr val="94A3B8"/>
                </a:solidFill>
                <a:latin typeface="Calibri" pitchFamily="34" charset="0"/>
                <a:ea typeface="Calibri" pitchFamily="34" charset="-122"/>
                <a:cs typeface="Calibri" pitchFamily="34" charset="-120"/>
              </a:rPr>
              <a:t>We have METR saying −19%.
</a:t>
            </a:r>
            <a:pPr indent="0" marL="0">
              <a:buNone/>
            </a:pPr>
            <a:r>
              <a:rPr lang="en-US" sz="1400" dirty="0">
                <a:solidFill>
                  <a:srgbClr val="94A3B8"/>
                </a:solidFill>
                <a:latin typeface="Calibri" pitchFamily="34" charset="0"/>
                <a:ea typeface="Calibri" pitchFamily="34" charset="-122"/>
                <a:cs typeface="Calibri" pitchFamily="34" charset="-120"/>
              </a:rPr>
              <a:t>We have developers who believe +20% while being −19%.
</a:t>
            </a:r>
            <a:pPr indent="0" marL="0">
              <a:buNone/>
            </a:pPr>
            <a:r>
              <a:rPr lang="en-US" sz="1600" b="1" dirty="0">
                <a:solidFill>
                  <a:srgbClr val="0EA5E9"/>
                </a:solidFill>
                <a:latin typeface="Calibri" pitchFamily="34" charset="0"/>
                <a:ea typeface="Calibri" pitchFamily="34" charset="-122"/>
                <a:cs typeface="Calibri" pitchFamily="34" charset="-120"/>
              </a:rPr>
              <a:t>We need more data points. Not more demos.</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22C55E"/>
          </a:solidFill>
          <a:ln/>
        </p:spPr>
      </p:sp>
      <p:sp>
        <p:nvSpPr>
          <p:cNvPr id="3" name="Text 1"/>
          <p:cNvSpPr/>
          <p:nvPr/>
        </p:nvSpPr>
        <p:spPr>
          <a:xfrm>
            <a:off x="365760" y="4773168"/>
            <a:ext cx="4572000" cy="228600"/>
          </a:xfrm>
          <a:prstGeom prst="rect">
            <a:avLst/>
          </a:prstGeom>
          <a:noFill/>
          <a:ln/>
        </p:spPr>
        <p:txBody>
          <a:bodyPr wrap="square" rtlCol="0" anchor="ctr"/>
          <a:lstStyle/>
          <a:p>
            <a:pPr indent="0" marL="0">
              <a:buNone/>
            </a:pPr>
            <a:r>
              <a:rPr lang="en-US" sz="700" dirty="0">
                <a:solidFill>
                  <a:srgbClr val="64748B"/>
                </a:solidFill>
                <a:latin typeface="Calibri" pitchFamily="34" charset="0"/>
                <a:ea typeface="Calibri" pitchFamily="34" charset="-122"/>
                <a:cs typeface="Calibri" pitchFamily="34" charset="-120"/>
              </a:rPr>
              <a:t>KubeAuto AI Day Europe 2026</a:t>
            </a:r>
            <a:endParaRPr lang="en-US" sz="700" dirty="0"/>
          </a:p>
        </p:txBody>
      </p:sp>
      <p:sp>
        <p:nvSpPr>
          <p:cNvPr id="4" name="Text 2"/>
          <p:cNvSpPr/>
          <p:nvPr/>
        </p:nvSpPr>
        <p:spPr>
          <a:xfrm>
            <a:off x="7863840" y="4773168"/>
            <a:ext cx="914400" cy="228600"/>
          </a:xfrm>
          <a:prstGeom prst="rect">
            <a:avLst/>
          </a:prstGeom>
          <a:noFill/>
          <a:ln/>
        </p:spPr>
        <p:txBody>
          <a:bodyPr wrap="square" rtlCol="0" anchor="ctr"/>
          <a:lstStyle/>
          <a:p>
            <a:pPr algn="r" indent="0" marL="0">
              <a:buNone/>
            </a:pPr>
            <a:r>
              <a:rPr lang="en-US" sz="700" dirty="0">
                <a:solidFill>
                  <a:srgbClr val="64748B"/>
                </a:solidFill>
                <a:latin typeface="Calibri" pitchFamily="34" charset="0"/>
                <a:ea typeface="Calibri" pitchFamily="34" charset="-122"/>
                <a:cs typeface="Calibri" pitchFamily="34" charset="-120"/>
              </a:rPr>
              <a:t>20/21</a:t>
            </a:r>
            <a:endParaRPr lang="en-US" sz="700" dirty="0"/>
          </a:p>
        </p:txBody>
      </p:sp>
      <p:sp>
        <p:nvSpPr>
          <p:cNvPr id="5" name="Text 3"/>
          <p:cNvSpPr/>
          <p:nvPr/>
        </p:nvSpPr>
        <p:spPr>
          <a:xfrm>
            <a:off x="457200" y="228600"/>
            <a:ext cx="8229600" cy="640080"/>
          </a:xfrm>
          <a:prstGeom prst="rect">
            <a:avLst/>
          </a:prstGeom>
          <a:noFill/>
          <a:ln/>
        </p:spPr>
        <p:txBody>
          <a:bodyPr wrap="square" lIns="0" tIns="0" rIns="0" bIns="0" rtlCol="0" anchor="ctr"/>
          <a:lstStyle/>
          <a:p>
            <a:pPr indent="0" marL="0">
              <a:buNone/>
            </a:pPr>
            <a:r>
              <a:rPr lang="en-US" sz="3200" dirty="0">
                <a:solidFill>
                  <a:srgbClr val="F8FAFC"/>
                </a:solidFill>
                <a:latin typeface="Arial Black" pitchFamily="34" charset="0"/>
                <a:ea typeface="Arial Black" pitchFamily="34" charset="-122"/>
                <a:cs typeface="Arial Black" pitchFamily="34" charset="-120"/>
              </a:rPr>
              <a:t>Your Turn.</a:t>
            </a:r>
            <a:endParaRPr lang="en-US" sz="3200" dirty="0"/>
          </a:p>
        </p:txBody>
      </p:sp>
      <p:sp>
        <p:nvSpPr>
          <p:cNvPr id="6" name="Shape 4"/>
          <p:cNvSpPr/>
          <p:nvPr/>
        </p:nvSpPr>
        <p:spPr>
          <a:xfrm>
            <a:off x="365760" y="960120"/>
            <a:ext cx="6217920" cy="1371600"/>
          </a:xfrm>
          <a:prstGeom prst="rect">
            <a:avLst/>
          </a:prstGeom>
          <a:solidFill>
            <a:srgbClr val="151E30"/>
          </a:solidFill>
          <a:ln/>
          <a:effectLst>
            <a:outerShdw sx="100000" sy="100000" kx="0" ky="0" algn="bl" rotWithShape="0" blurRad="76200" dist="25400" dir="8100000">
              <a:srgbClr val="000000">
                <a:alpha val="35000"/>
              </a:srgbClr>
            </a:outerShdw>
          </a:effectLst>
        </p:spPr>
      </p:sp>
      <p:pic>
        <p:nvPicPr>
          <p:cNvPr id="7" name="Image 0" descr="preencoded.png">    </p:cNvPr>
          <p:cNvPicPr>
            <a:picLocks noChangeAspect="1"/>
          </p:cNvPicPr>
          <p:nvPr/>
        </p:nvPicPr>
        <p:blipFill>
          <a:blip r:embed="rId1"/>
          <a:stretch>
            <a:fillRect/>
          </a:stretch>
        </p:blipFill>
        <p:spPr>
          <a:xfrm>
            <a:off x="594360" y="1188720"/>
            <a:ext cx="548640" cy="548640"/>
          </a:xfrm>
          <a:prstGeom prst="rect">
            <a:avLst/>
          </a:prstGeom>
        </p:spPr>
      </p:pic>
      <p:sp>
        <p:nvSpPr>
          <p:cNvPr id="8" name="Text 5"/>
          <p:cNvSpPr/>
          <p:nvPr/>
        </p:nvSpPr>
        <p:spPr>
          <a:xfrm>
            <a:off x="1325880" y="1051560"/>
            <a:ext cx="5029200" cy="411480"/>
          </a:xfrm>
          <a:prstGeom prst="rect">
            <a:avLst/>
          </a:prstGeom>
          <a:noFill/>
          <a:ln/>
        </p:spPr>
        <p:txBody>
          <a:bodyPr wrap="square" lIns="0" tIns="0" rIns="0" bIns="0" rtlCol="0" anchor="ctr"/>
          <a:lstStyle/>
          <a:p>
            <a:pPr indent="0" marL="0">
              <a:buNone/>
            </a:pPr>
            <a:r>
              <a:rPr lang="en-US" sz="1600" dirty="0">
                <a:solidFill>
                  <a:srgbClr val="0EA5E9"/>
                </a:solidFill>
                <a:latin typeface="Consolas" pitchFamily="34" charset="0"/>
                <a:ea typeface="Consolas" pitchFamily="34" charset="-122"/>
                <a:cs typeface="Consolas" pitchFamily="34" charset="-120"/>
              </a:rPr>
              <a:t>github.com/peopleforrester/kubeauto-ai-day</a:t>
            </a:r>
            <a:endParaRPr lang="en-US" sz="1600" dirty="0"/>
          </a:p>
        </p:txBody>
      </p:sp>
      <p:sp>
        <p:nvSpPr>
          <p:cNvPr id="9" name="Text 6"/>
          <p:cNvSpPr/>
          <p:nvPr/>
        </p:nvSpPr>
        <p:spPr>
          <a:xfrm>
            <a:off x="1325880" y="1554480"/>
            <a:ext cx="5029200" cy="54864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Full platform code · 59 tests · 27 scored components</a:t>
            </a:r>
            <a:endParaRPr lang="en-US" sz="1100" dirty="0"/>
          </a:p>
          <a:p>
            <a:pPr indent="0" marL="0">
              <a:buNone/>
            </a:pPr>
            <a:r>
              <a:rPr lang="en-US" sz="1100" dirty="0">
                <a:solidFill>
                  <a:srgbClr val="22C55E"/>
                </a:solidFill>
                <a:latin typeface="Calibri" pitchFamily="34" charset="0"/>
                <a:ea typeface="Calibri" pitchFamily="34" charset="-122"/>
                <a:cs typeface="Calibri" pitchFamily="34" charset="-120"/>
              </a:rPr>
              <a:t>Scorecard template · Methodology docs · Apache 2.0</a:t>
            </a:r>
            <a:endParaRPr lang="en-US" sz="1100" dirty="0"/>
          </a:p>
        </p:txBody>
      </p:sp>
      <p:sp>
        <p:nvSpPr>
          <p:cNvPr id="10" name="Text 7"/>
          <p:cNvSpPr/>
          <p:nvPr/>
        </p:nvSpPr>
        <p:spPr>
          <a:xfrm>
            <a:off x="6858000" y="960120"/>
            <a:ext cx="1920240" cy="1371600"/>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[QR CODE]</a:t>
            </a:r>
            <a:endParaRPr lang="en-US" sz="1000" dirty="0"/>
          </a:p>
        </p:txBody>
      </p:sp>
      <p:sp>
        <p:nvSpPr>
          <p:cNvPr id="11" name="Shape 8"/>
          <p:cNvSpPr/>
          <p:nvPr/>
        </p:nvSpPr>
        <p:spPr>
          <a:xfrm>
            <a:off x="365760" y="2606040"/>
            <a:ext cx="457200" cy="548640"/>
          </a:xfrm>
          <a:prstGeom prst="rect">
            <a:avLst/>
          </a:prstGeom>
          <a:solidFill>
            <a:srgbClr val="0EA5E9"/>
          </a:solidFill>
          <a:ln/>
        </p:spPr>
      </p:sp>
      <p:sp>
        <p:nvSpPr>
          <p:cNvPr id="12" name="Text 9"/>
          <p:cNvSpPr/>
          <p:nvPr/>
        </p:nvSpPr>
        <p:spPr>
          <a:xfrm>
            <a:off x="365760" y="2606040"/>
            <a:ext cx="457200" cy="548640"/>
          </a:xfrm>
          <a:prstGeom prst="rect">
            <a:avLst/>
          </a:prstGeom>
          <a:noFill/>
          <a:ln/>
        </p:spPr>
        <p:txBody>
          <a:bodyPr wrap="square" lIns="0" tIns="0" rIns="0" bIns="0" rtlCol="0" anchor="ctr"/>
          <a:lstStyle/>
          <a:p>
            <a:pPr algn="ctr" indent="0" marL="0">
              <a:buNone/>
            </a:pPr>
            <a:r>
              <a:rPr lang="en-US" sz="2000" dirty="0">
                <a:solidFill>
                  <a:srgbClr val="F8FAFC"/>
                </a:solidFill>
                <a:latin typeface="Arial Black" pitchFamily="34" charset="0"/>
                <a:ea typeface="Arial Black" pitchFamily="34" charset="-122"/>
                <a:cs typeface="Arial Black" pitchFamily="34" charset="-120"/>
              </a:rPr>
              <a:t>1</a:t>
            </a:r>
            <a:endParaRPr lang="en-US" sz="2000" dirty="0"/>
          </a:p>
        </p:txBody>
      </p:sp>
      <p:sp>
        <p:nvSpPr>
          <p:cNvPr id="13" name="Text 10"/>
          <p:cNvSpPr/>
          <p:nvPr/>
        </p:nvSpPr>
        <p:spPr>
          <a:xfrm>
            <a:off x="1005840" y="2624328"/>
            <a:ext cx="4572000" cy="27432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Copy the scorecard template</a:t>
            </a:r>
            <a:endParaRPr lang="en-US" sz="1400" dirty="0"/>
          </a:p>
        </p:txBody>
      </p:sp>
      <p:sp>
        <p:nvSpPr>
          <p:cNvPr id="14" name="Text 11"/>
          <p:cNvSpPr/>
          <p:nvPr/>
        </p:nvSpPr>
        <p:spPr>
          <a:xfrm>
            <a:off x="1005840" y="2898648"/>
            <a:ext cx="7315200" cy="228600"/>
          </a:xfrm>
          <a:prstGeom prst="rect">
            <a:avLst/>
          </a:prstGeom>
          <a:noFill/>
          <a:ln/>
        </p:spPr>
        <p:txBody>
          <a:bodyPr wrap="square" lIns="0" tIns="0" rIns="0" bIns="0" rtlCol="0" anchor="ctr"/>
          <a:lstStyle/>
          <a:p>
            <a:pPr indent="0" marL="0">
              <a:buNone/>
            </a:pPr>
            <a:r>
              <a:rPr lang="en-US" sz="1100" dirty="0">
                <a:solidFill>
                  <a:srgbClr val="94A3B8"/>
                </a:solidFill>
                <a:latin typeface="Consolas" pitchFamily="34" charset="0"/>
                <a:ea typeface="Consolas" pitchFamily="34" charset="-122"/>
                <a:cs typeface="Consolas" pitchFamily="34" charset="-120"/>
              </a:rPr>
              <a:t>scorecard/SCORECARD-TEMPLATE.md</a:t>
            </a:r>
            <a:endParaRPr lang="en-US" sz="1100" dirty="0"/>
          </a:p>
        </p:txBody>
      </p:sp>
      <p:sp>
        <p:nvSpPr>
          <p:cNvPr id="15" name="Shape 12"/>
          <p:cNvSpPr/>
          <p:nvPr/>
        </p:nvSpPr>
        <p:spPr>
          <a:xfrm>
            <a:off x="365760" y="3291840"/>
            <a:ext cx="457200" cy="548640"/>
          </a:xfrm>
          <a:prstGeom prst="rect">
            <a:avLst/>
          </a:prstGeom>
          <a:solidFill>
            <a:srgbClr val="0EA5E9"/>
          </a:solidFill>
          <a:ln/>
        </p:spPr>
      </p:sp>
      <p:sp>
        <p:nvSpPr>
          <p:cNvPr id="16" name="Text 13"/>
          <p:cNvSpPr/>
          <p:nvPr/>
        </p:nvSpPr>
        <p:spPr>
          <a:xfrm>
            <a:off x="365760" y="3291840"/>
            <a:ext cx="457200" cy="548640"/>
          </a:xfrm>
          <a:prstGeom prst="rect">
            <a:avLst/>
          </a:prstGeom>
          <a:noFill/>
          <a:ln/>
        </p:spPr>
        <p:txBody>
          <a:bodyPr wrap="square" lIns="0" tIns="0" rIns="0" bIns="0" rtlCol="0" anchor="ctr"/>
          <a:lstStyle/>
          <a:p>
            <a:pPr algn="ctr" indent="0" marL="0">
              <a:buNone/>
            </a:pPr>
            <a:r>
              <a:rPr lang="en-US" sz="2000" dirty="0">
                <a:solidFill>
                  <a:srgbClr val="F8FAFC"/>
                </a:solidFill>
                <a:latin typeface="Arial Black" pitchFamily="34" charset="0"/>
                <a:ea typeface="Arial Black" pitchFamily="34" charset="-122"/>
                <a:cs typeface="Arial Black" pitchFamily="34" charset="-120"/>
              </a:rPr>
              <a:t>2</a:t>
            </a:r>
            <a:endParaRPr lang="en-US" sz="2000" dirty="0"/>
          </a:p>
        </p:txBody>
      </p:sp>
      <p:sp>
        <p:nvSpPr>
          <p:cNvPr id="17" name="Text 14"/>
          <p:cNvSpPr/>
          <p:nvPr/>
        </p:nvSpPr>
        <p:spPr>
          <a:xfrm>
            <a:off x="1005840" y="3310128"/>
            <a:ext cx="4572000" cy="27432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Read the methodology</a:t>
            </a:r>
            <a:endParaRPr lang="en-US" sz="1400" dirty="0"/>
          </a:p>
        </p:txBody>
      </p:sp>
      <p:sp>
        <p:nvSpPr>
          <p:cNvPr id="18" name="Text 15"/>
          <p:cNvSpPr/>
          <p:nvPr/>
        </p:nvSpPr>
        <p:spPr>
          <a:xfrm>
            <a:off x="1005840" y="3584448"/>
            <a:ext cx="7315200" cy="228600"/>
          </a:xfrm>
          <a:prstGeom prst="rect">
            <a:avLst/>
          </a:prstGeom>
          <a:noFill/>
          <a:ln/>
        </p:spPr>
        <p:txBody>
          <a:bodyPr wrap="square" lIns="0" tIns="0" rIns="0" bIns="0" rtlCol="0" anchor="ctr"/>
          <a:lstStyle/>
          <a:p>
            <a:pPr indent="0" marL="0">
              <a:buNone/>
            </a:pPr>
            <a:r>
              <a:rPr lang="en-US" sz="1100" dirty="0">
                <a:solidFill>
                  <a:srgbClr val="94A3B8"/>
                </a:solidFill>
                <a:latin typeface="Consolas" pitchFamily="34" charset="0"/>
                <a:ea typeface="Consolas" pitchFamily="34" charset="-122"/>
                <a:cs typeface="Consolas" pitchFamily="34" charset="-120"/>
              </a:rPr>
              <a:t>scorecard/methodology.md</a:t>
            </a:r>
            <a:endParaRPr lang="en-US" sz="1100" dirty="0"/>
          </a:p>
        </p:txBody>
      </p:sp>
      <p:sp>
        <p:nvSpPr>
          <p:cNvPr id="19" name="Shape 16"/>
          <p:cNvSpPr/>
          <p:nvPr/>
        </p:nvSpPr>
        <p:spPr>
          <a:xfrm>
            <a:off x="365760" y="3977640"/>
            <a:ext cx="457200" cy="548640"/>
          </a:xfrm>
          <a:prstGeom prst="rect">
            <a:avLst/>
          </a:prstGeom>
          <a:solidFill>
            <a:srgbClr val="0EA5E9"/>
          </a:solidFill>
          <a:ln/>
        </p:spPr>
      </p:sp>
      <p:sp>
        <p:nvSpPr>
          <p:cNvPr id="20" name="Text 17"/>
          <p:cNvSpPr/>
          <p:nvPr/>
        </p:nvSpPr>
        <p:spPr>
          <a:xfrm>
            <a:off x="365760" y="3977640"/>
            <a:ext cx="457200" cy="548640"/>
          </a:xfrm>
          <a:prstGeom prst="rect">
            <a:avLst/>
          </a:prstGeom>
          <a:noFill/>
          <a:ln/>
        </p:spPr>
        <p:txBody>
          <a:bodyPr wrap="square" lIns="0" tIns="0" rIns="0" bIns="0" rtlCol="0" anchor="ctr"/>
          <a:lstStyle/>
          <a:p>
            <a:pPr algn="ctr" indent="0" marL="0">
              <a:buNone/>
            </a:pPr>
            <a:r>
              <a:rPr lang="en-US" sz="2000" dirty="0">
                <a:solidFill>
                  <a:srgbClr val="F8FAFC"/>
                </a:solidFill>
                <a:latin typeface="Arial Black" pitchFamily="34" charset="0"/>
                <a:ea typeface="Arial Black" pitchFamily="34" charset="-122"/>
                <a:cs typeface="Arial Black" pitchFamily="34" charset="-120"/>
              </a:rPr>
              <a:t>3</a:t>
            </a:r>
            <a:endParaRPr lang="en-US" sz="2000" dirty="0"/>
          </a:p>
        </p:txBody>
      </p:sp>
      <p:sp>
        <p:nvSpPr>
          <p:cNvPr id="21" name="Text 18"/>
          <p:cNvSpPr/>
          <p:nvPr/>
        </p:nvSpPr>
        <p:spPr>
          <a:xfrm>
            <a:off x="1005840" y="3995928"/>
            <a:ext cx="4572000" cy="27432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Build your own. Score it. Share the results.</a:t>
            </a:r>
            <a:endParaRPr lang="en-US" sz="1400" dirty="0"/>
          </a:p>
        </p:txBody>
      </p:sp>
      <p:sp>
        <p:nvSpPr>
          <p:cNvPr id="22" name="Text 19"/>
          <p:cNvSpPr/>
          <p:nvPr/>
        </p:nvSpPr>
        <p:spPr>
          <a:xfrm>
            <a:off x="1005840" y="4270248"/>
            <a:ext cx="7315200" cy="228600"/>
          </a:xfrm>
          <a:prstGeom prst="rect">
            <a:avLst/>
          </a:prstGeom>
          <a:noFill/>
          <a:ln/>
        </p:spPr>
        <p:txBody>
          <a:bodyPr wrap="square" lIns="0" tIns="0" rIns="0" bIns="0" rtlCol="0" anchor="ctr"/>
          <a:lstStyle/>
          <a:p>
            <a:pPr indent="0" marL="0">
              <a:buNone/>
            </a:pPr>
            <a:r>
              <a:rPr lang="en-US" sz="1100" dirty="0">
                <a:solidFill>
                  <a:srgbClr val="94A3B8"/>
                </a:solidFill>
                <a:latin typeface="Consolas" pitchFamily="34" charset="0"/>
                <a:ea typeface="Consolas" pitchFamily="34" charset="-122"/>
                <a:cs typeface="Consolas" pitchFamily="34" charset="-120"/>
              </a:rPr>
              <a:t>Replace the 43-point perception gap with data</a:t>
            </a:r>
            <a:endParaRPr lang="en-US" sz="1100" dirty="0"/>
          </a:p>
        </p:txBody>
      </p:sp>
      <p:sp>
        <p:nvSpPr>
          <p:cNvPr id="23" name="Shape 20"/>
          <p:cNvSpPr/>
          <p:nvPr/>
        </p:nvSpPr>
        <p:spPr>
          <a:xfrm>
            <a:off x="365760" y="4434840"/>
            <a:ext cx="8412480" cy="411480"/>
          </a:xfrm>
          <a:prstGeom prst="rect">
            <a:avLst/>
          </a:prstGeom>
          <a:solidFill>
            <a:srgbClr val="0C2D1A"/>
          </a:solidFill>
          <a:ln/>
        </p:spPr>
      </p:sp>
      <p:sp>
        <p:nvSpPr>
          <p:cNvPr id="24" name="Text 21"/>
          <p:cNvSpPr/>
          <p:nvPr/>
        </p:nvSpPr>
        <p:spPr>
          <a:xfrm>
            <a:off x="365760" y="4434840"/>
            <a:ext cx="8412480" cy="411480"/>
          </a:xfrm>
          <a:prstGeom prst="rect">
            <a:avLst/>
          </a:prstGeom>
          <a:noFill/>
          <a:ln/>
        </p:spPr>
        <p:txBody>
          <a:bodyPr wrap="square" lIns="0" tIns="0" rIns="0" bIns="0" rtlCol="0" anchor="ctr"/>
          <a:lstStyle/>
          <a:p>
            <a:pPr algn="ctr" indent="0" marL="0">
              <a:buNone/>
            </a:pPr>
            <a:r>
              <a:rPr lang="en-US" sz="1300" b="1" dirty="0">
                <a:solidFill>
                  <a:srgbClr val="22C55E"/>
                </a:solidFill>
                <a:latin typeface="Calibri" pitchFamily="34" charset="0"/>
                <a:ea typeface="Calibri" pitchFamily="34" charset="-122"/>
                <a:cs typeface="Calibri" pitchFamily="34" charset="-120"/>
              </a:rPr>
              <a:t>Cluster is live until tomorrow. Go break things.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0EA5E9"/>
          </a:solidFill>
          <a:ln/>
        </p:spPr>
      </p:sp>
      <p:sp>
        <p:nvSpPr>
          <p:cNvPr id="3" name="Shape 1"/>
          <p:cNvSpPr/>
          <p:nvPr/>
        </p:nvSpPr>
        <p:spPr>
          <a:xfrm>
            <a:off x="0" y="5106924"/>
            <a:ext cx="9144000" cy="36576"/>
          </a:xfrm>
          <a:prstGeom prst="rect">
            <a:avLst/>
          </a:prstGeom>
          <a:solidFill>
            <a:srgbClr val="0EA5E9"/>
          </a:solidFill>
          <a:ln/>
        </p:spPr>
      </p:sp>
      <p:sp>
        <p:nvSpPr>
          <p:cNvPr id="4" name="Text 2"/>
          <p:cNvSpPr/>
          <p:nvPr/>
        </p:nvSpPr>
        <p:spPr>
          <a:xfrm>
            <a:off x="457200" y="731520"/>
            <a:ext cx="8229600" cy="640080"/>
          </a:xfrm>
          <a:prstGeom prst="rect">
            <a:avLst/>
          </a:prstGeom>
          <a:noFill/>
          <a:ln/>
        </p:spPr>
        <p:txBody>
          <a:bodyPr wrap="square" lIns="0" tIns="0" rIns="0" bIns="0" rtlCol="0" anchor="ctr"/>
          <a:lstStyle/>
          <a:p>
            <a:pPr algn="ctr" indent="0" marL="0">
              <a:buNone/>
            </a:pPr>
            <a:r>
              <a:rPr lang="en-US" sz="3200" dirty="0">
                <a:solidFill>
                  <a:srgbClr val="F8FAFC"/>
                </a:solidFill>
                <a:latin typeface="Arial Black" pitchFamily="34" charset="0"/>
                <a:ea typeface="Arial Black" pitchFamily="34" charset="-122"/>
                <a:cs typeface="Arial Black" pitchFamily="34" charset="-120"/>
              </a:rPr>
              <a:t>Michael Forrester</a:t>
            </a:r>
            <a:endParaRPr lang="en-US" sz="3200" dirty="0"/>
          </a:p>
        </p:txBody>
      </p:sp>
      <p:sp>
        <p:nvSpPr>
          <p:cNvPr id="5" name="Text 3"/>
          <p:cNvSpPr/>
          <p:nvPr/>
        </p:nvSpPr>
        <p:spPr>
          <a:xfrm>
            <a:off x="457200" y="1371600"/>
            <a:ext cx="8229600" cy="365760"/>
          </a:xfrm>
          <a:prstGeom prst="rect">
            <a:avLst/>
          </a:prstGeom>
          <a:noFill/>
          <a:ln/>
        </p:spPr>
        <p:txBody>
          <a:bodyPr wrap="square" lIns="0" tIns="0" rIns="0" bIns="0" rtlCol="0" anchor="ctr"/>
          <a:lstStyle/>
          <a:p>
            <a:pPr algn="ctr" indent="0" marL="0">
              <a:buNone/>
            </a:pPr>
            <a:r>
              <a:rPr lang="en-US" sz="1600" dirty="0">
                <a:solidFill>
                  <a:srgbClr val="94A3B8"/>
                </a:solidFill>
                <a:latin typeface="Calibri" pitchFamily="34" charset="0"/>
                <a:ea typeface="Calibri" pitchFamily="34" charset="-122"/>
                <a:cs typeface="Calibri" pitchFamily="34" charset="-120"/>
              </a:rPr>
              <a:t>Principal Training Architect — KodeKloud</a:t>
            </a:r>
            <a:endParaRPr lang="en-US" sz="1600" dirty="0"/>
          </a:p>
        </p:txBody>
      </p:sp>
      <p:sp>
        <p:nvSpPr>
          <p:cNvPr id="6" name="Text 4"/>
          <p:cNvSpPr/>
          <p:nvPr/>
        </p:nvSpPr>
        <p:spPr>
          <a:xfrm>
            <a:off x="457200" y="1783080"/>
            <a:ext cx="8229600" cy="365760"/>
          </a:xfrm>
          <a:prstGeom prst="rect">
            <a:avLst/>
          </a:prstGeom>
          <a:noFill/>
          <a:ln/>
        </p:spPr>
        <p:txBody>
          <a:bodyPr wrap="square" lIns="0" tIns="0" rIns="0" bIns="0" rtlCol="0" anchor="ctr"/>
          <a:lstStyle/>
          <a:p>
            <a:pPr algn="ctr" indent="0" marL="0">
              <a:buNone/>
            </a:pPr>
            <a:r>
              <a:rPr lang="en-US" sz="1400" i="1" dirty="0">
                <a:solidFill>
                  <a:srgbClr val="64748B"/>
                </a:solidFill>
                <a:latin typeface="Calibri" pitchFamily="34" charset="0"/>
                <a:ea typeface="Calibri" pitchFamily="34" charset="-122"/>
                <a:cs typeface="Calibri" pitchFamily="34" charset="-120"/>
              </a:rPr>
              <a:t>Teaching 100,000+ engineers how to build this stuff.</a:t>
            </a:r>
            <a:endParaRPr lang="en-US" sz="1400" dirty="0"/>
          </a:p>
        </p:txBody>
      </p:sp>
      <p:sp>
        <p:nvSpPr>
          <p:cNvPr id="7" name="Shape 5"/>
          <p:cNvSpPr/>
          <p:nvPr/>
        </p:nvSpPr>
        <p:spPr>
          <a:xfrm>
            <a:off x="3200400" y="2377440"/>
            <a:ext cx="2743200" cy="36576"/>
          </a:xfrm>
          <a:prstGeom prst="rect">
            <a:avLst/>
          </a:prstGeom>
          <a:solidFill>
            <a:srgbClr val="0EA5E9"/>
          </a:solidFill>
          <a:ln/>
        </p:spPr>
      </p:sp>
      <p:sp>
        <p:nvSpPr>
          <p:cNvPr id="8" name="Text 6"/>
          <p:cNvSpPr/>
          <p:nvPr/>
        </p:nvSpPr>
        <p:spPr>
          <a:xfrm>
            <a:off x="914400" y="2651760"/>
            <a:ext cx="7315200" cy="1097280"/>
          </a:xfrm>
          <a:prstGeom prst="rect">
            <a:avLst/>
          </a:prstGeom>
          <a:noFill/>
          <a:ln/>
        </p:spPr>
        <p:txBody>
          <a:bodyPr wrap="square" lIns="0" tIns="0" rIns="0" bIns="0" rtlCol="0" anchor="ctr"/>
          <a:lstStyle/>
          <a:p>
            <a:pPr algn="ctr" indent="0" marL="0">
              <a:buNone/>
            </a:pPr>
            <a:r>
              <a:rPr lang="en-US" sz="1500" dirty="0">
                <a:solidFill>
                  <a:srgbClr val="0EA5E9"/>
                </a:solidFill>
                <a:latin typeface="Consolas" pitchFamily="34" charset="0"/>
                <a:ea typeface="Consolas" pitchFamily="34" charset="-122"/>
                <a:cs typeface="Consolas" pitchFamily="34" charset="-120"/>
              </a:rPr>
              <a:t>github.com/peopleforrester/kubeauto-ai-day</a:t>
            </a:r>
            <a:endParaRPr lang="en-US" sz="1500" dirty="0"/>
          </a:p>
          <a:p>
            <a:pPr algn="ctr" indent="0" marL="0">
              <a:buNone/>
            </a:pPr>
            <a:r>
              <a:rPr lang="en-US" sz="1200" dirty="0">
                <a:solidFill>
                  <a:srgbClr val="94A3B8"/>
                </a:solidFill>
                <a:latin typeface="Consolas" pitchFamily="34" charset="0"/>
                <a:ea typeface="Consolas" pitchFamily="34" charset="-122"/>
                <a:cs typeface="Consolas" pitchFamily="34" charset="-120"/>
              </a:rPr>
              <a:t>github.com/peopleforester</a:t>
            </a:r>
            <a:endParaRPr lang="en-US" sz="1500" dirty="0"/>
          </a:p>
          <a:p>
            <a:pPr algn="ctr" indent="0" marL="0">
              <a:buNone/>
            </a:pPr>
            <a:r>
              <a:rPr lang="en-US" sz="1200" dirty="0">
                <a:solidFill>
                  <a:srgbClr val="94A3B8"/>
                </a:solidFill>
                <a:latin typeface="Consolas" pitchFamily="34" charset="0"/>
                <a:ea typeface="Consolas" pitchFamily="34" charset="-122"/>
                <a:cs typeface="Consolas" pitchFamily="34" charset="-120"/>
              </a:rPr>
              <a:t>youtube.com/@KodeKloud24</a:t>
            </a:r>
            <a:endParaRPr lang="en-US" sz="1500" dirty="0"/>
          </a:p>
        </p:txBody>
      </p:sp>
      <p:sp>
        <p:nvSpPr>
          <p:cNvPr id="9" name="Text 7"/>
          <p:cNvSpPr/>
          <p:nvPr/>
        </p:nvSpPr>
        <p:spPr>
          <a:xfrm>
            <a:off x="457200" y="4023360"/>
            <a:ext cx="8229600" cy="457200"/>
          </a:xfrm>
          <a:prstGeom prst="rect">
            <a:avLst/>
          </a:prstGeom>
          <a:noFill/>
          <a:ln/>
        </p:spPr>
        <p:txBody>
          <a:bodyPr wrap="square" lIns="0" tIns="0" rIns="0" bIns="0" rtlCol="0" anchor="ctr"/>
          <a:lstStyle/>
          <a:p>
            <a:pPr algn="ctr" indent="0" marL="0">
              <a:buNone/>
            </a:pPr>
            <a:r>
              <a:rPr lang="en-US" sz="2000" i="1" dirty="0">
                <a:solidFill>
                  <a:srgbClr val="64748B"/>
                </a:solidFill>
                <a:latin typeface="Calibri" pitchFamily="34" charset="0"/>
                <a:ea typeface="Calibri" pitchFamily="34" charset="-122"/>
                <a:cs typeface="Calibri" pitchFamily="34" charset="-120"/>
              </a:rPr>
              <a:t>Questions?</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0EA5E9"/>
          </a:solidFill>
          <a:ln/>
        </p:spPr>
      </p:sp>
      <p:sp>
        <p:nvSpPr>
          <p:cNvPr id="3" name="Text 1"/>
          <p:cNvSpPr/>
          <p:nvPr/>
        </p:nvSpPr>
        <p:spPr>
          <a:xfrm>
            <a:off x="457200" y="137160"/>
            <a:ext cx="8229600" cy="411480"/>
          </a:xfrm>
          <a:prstGeom prst="rect">
            <a:avLst/>
          </a:prstGeom>
          <a:noFill/>
          <a:ln/>
        </p:spPr>
        <p:txBody>
          <a:bodyPr wrap="square" lIns="0" tIns="0" rIns="0" bIns="0" rtlCol="0" anchor="ctr"/>
          <a:lstStyle/>
          <a:p>
            <a:pPr indent="0" marL="0">
              <a:buNone/>
            </a:pPr>
            <a:r>
              <a:rPr lang="en-US" sz="2200" dirty="0">
                <a:solidFill>
                  <a:srgbClr val="F8FAFC"/>
                </a:solidFill>
                <a:latin typeface="Arial Black" pitchFamily="34" charset="0"/>
                <a:ea typeface="Arial Black" pitchFamily="34" charset="-122"/>
                <a:cs typeface="Arial Black" pitchFamily="34" charset="-120"/>
              </a:rPr>
              <a:t>References &amp; Citations (1/3)</a:t>
            </a:r>
            <a:endParaRPr lang="en-US" sz="2200" dirty="0"/>
          </a:p>
        </p:txBody>
      </p:sp>
      <p:sp>
        <p:nvSpPr>
          <p:cNvPr id="4" name="Text 2"/>
          <p:cNvSpPr/>
          <p:nvPr/>
        </p:nvSpPr>
        <p:spPr>
          <a:xfrm>
            <a:off x="274320" y="4846320"/>
            <a:ext cx="2743200" cy="274320"/>
          </a:xfrm>
          <a:prstGeom prst="rect">
            <a:avLst/>
          </a:prstGeom>
          <a:noFill/>
          <a:ln/>
        </p:spPr>
        <p:txBody>
          <a:bodyPr wrap="square" rtlCol="0" anchor="ctr"/>
          <a:lstStyle/>
          <a:p>
            <a:pPr indent="0" marL="0">
              <a:buNone/>
            </a:pPr>
            <a:r>
              <a:rPr lang="en-US" sz="800" dirty="0">
                <a:solidFill>
                  <a:srgbClr val="64748B"/>
                </a:solidFill>
                <a:latin typeface="Calibri" pitchFamily="34" charset="0"/>
                <a:ea typeface="Calibri" pitchFamily="34" charset="-122"/>
                <a:cs typeface="Calibri" pitchFamily="34" charset="-120"/>
              </a:rPr>
              <a:t>APPENDIX 1/3</a:t>
            </a:r>
            <a:endParaRPr lang="en-US" sz="800" dirty="0"/>
          </a:p>
        </p:txBody>
      </p:sp>
      <p:sp>
        <p:nvSpPr>
          <p:cNvPr id="5" name="Shape 3"/>
          <p:cNvSpPr/>
          <p:nvPr/>
        </p:nvSpPr>
        <p:spPr>
          <a:xfrm>
            <a:off x="274320" y="594360"/>
            <a:ext cx="8595360" cy="2148840"/>
          </a:xfrm>
          <a:prstGeom prst="rect">
            <a:avLst/>
          </a:prstGeom>
          <a:solidFill>
            <a:srgbClr val="151E30"/>
          </a:solidFill>
          <a:ln/>
        </p:spPr>
      </p:sp>
      <p:sp>
        <p:nvSpPr>
          <p:cNvPr id="6" name="Shape 4"/>
          <p:cNvSpPr/>
          <p:nvPr/>
        </p:nvSpPr>
        <p:spPr>
          <a:xfrm>
            <a:off x="274320" y="594360"/>
            <a:ext cx="45720" cy="2148840"/>
          </a:xfrm>
          <a:prstGeom prst="rect">
            <a:avLst/>
          </a:prstGeom>
          <a:solidFill>
            <a:srgbClr val="0EA5E9"/>
          </a:solidFill>
          <a:ln/>
        </p:spPr>
      </p:sp>
      <p:sp>
        <p:nvSpPr>
          <p:cNvPr id="7" name="Text 5"/>
          <p:cNvSpPr/>
          <p:nvPr/>
        </p:nvSpPr>
        <p:spPr>
          <a:xfrm>
            <a:off x="502920" y="630936"/>
            <a:ext cx="8229600" cy="182880"/>
          </a:xfrm>
          <a:prstGeom prst="rect">
            <a:avLst/>
          </a:prstGeom>
          <a:noFill/>
          <a:ln/>
        </p:spPr>
        <p:txBody>
          <a:bodyPr wrap="square" lIns="0" tIns="0" rIns="0" bIns="0" rtlCol="0" anchor="ctr"/>
          <a:lstStyle/>
          <a:p>
            <a:pPr indent="0" marL="0">
              <a:buNone/>
            </a:pPr>
            <a:r>
              <a:rPr lang="en-US" sz="1100" b="1" dirty="0">
                <a:solidFill>
                  <a:srgbClr val="0EA5E9"/>
                </a:solidFill>
                <a:latin typeface="Calibri" pitchFamily="34" charset="0"/>
                <a:ea typeface="Calibri" pitchFamily="34" charset="-122"/>
                <a:cs typeface="Calibri" pitchFamily="34" charset="-120"/>
              </a:rPr>
              <a:t>[1] METR Study — Slides 2, 11, 19</a:t>
            </a:r>
            <a:endParaRPr lang="en-US" sz="1100" dirty="0"/>
          </a:p>
        </p:txBody>
      </p:sp>
      <p:sp>
        <p:nvSpPr>
          <p:cNvPr id="8" name="Text 6"/>
          <p:cNvSpPr/>
          <p:nvPr/>
        </p:nvSpPr>
        <p:spPr>
          <a:xfrm>
            <a:off x="502920" y="795528"/>
            <a:ext cx="8229600" cy="182880"/>
          </a:xfrm>
          <a:prstGeom prst="rect">
            <a:avLst/>
          </a:prstGeom>
          <a:noFill/>
          <a:ln/>
        </p:spPr>
        <p:txBody>
          <a:bodyPr wrap="square" lIns="0" tIns="0" rIns="0" bIns="0" rtlCol="0" anchor="ctr"/>
          <a:lstStyle/>
          <a:p>
            <a:pPr indent="0" marL="0">
              <a:buNone/>
            </a:pPr>
            <a:r>
              <a:rPr lang="en-US" sz="950" i="1" dirty="0">
                <a:solidFill>
                  <a:srgbClr val="F1F5F9"/>
                </a:solidFill>
                <a:latin typeface="Calibri" pitchFamily="34" charset="0"/>
                <a:ea typeface="Calibri" pitchFamily="34" charset="-122"/>
                <a:cs typeface="Calibri" pitchFamily="34" charset="-120"/>
              </a:rPr>
              <a:t>"Measuring the Impact of Early-2025 AI on Experienced Open-Source Developer Productivity"</a:t>
            </a:r>
            <a:endParaRPr lang="en-US" sz="950" dirty="0"/>
          </a:p>
        </p:txBody>
      </p:sp>
      <p:sp>
        <p:nvSpPr>
          <p:cNvPr id="9" name="Text 7"/>
          <p:cNvSpPr/>
          <p:nvPr/>
        </p:nvSpPr>
        <p:spPr>
          <a:xfrm>
            <a:off x="502920" y="960120"/>
            <a:ext cx="8229600" cy="146304"/>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Joel Becker, Nate Rush, Elizabeth Barnes, David Rein — METR  |  July 10, 2025  |  arXiv: 2507.09089v2</a:t>
            </a:r>
            <a:endParaRPr lang="en-US" sz="850" dirty="0"/>
          </a:p>
        </p:txBody>
      </p:sp>
      <p:sp>
        <p:nvSpPr>
          <p:cNvPr id="10" name="Text 8"/>
          <p:cNvSpPr/>
          <p:nvPr/>
        </p:nvSpPr>
        <p:spPr>
          <a:xfrm>
            <a:off x="502920" y="1106424"/>
            <a:ext cx="8229600" cy="146304"/>
          </a:xfrm>
          <a:prstGeom prst="rect">
            <a:avLst/>
          </a:prstGeom>
          <a:noFill/>
          <a:ln/>
        </p:spPr>
        <p:txBody>
          <a:bodyPr wrap="square" lIns="0" tIns="0" rIns="0" bIns="0" rtlCol="0" anchor="ctr"/>
          <a:lstStyle/>
          <a:p>
            <a:pPr indent="0" marL="0">
              <a:buNone/>
            </a:pPr>
            <a:r>
              <a:rPr lang="en-US" sz="850" dirty="0">
                <a:solidFill>
                  <a:srgbClr val="22C55E"/>
                </a:solidFill>
                <a:latin typeface="Consolas" pitchFamily="34" charset="0"/>
                <a:ea typeface="Consolas" pitchFamily="34" charset="-122"/>
                <a:cs typeface="Consolas" pitchFamily="34" charset="-120"/>
              </a:rPr>
              <a:t>metr.org/blog/2025-07-10-early-2025-ai-experienced-os-dev-study/</a:t>
            </a:r>
            <a:endParaRPr lang="en-US" sz="850" dirty="0"/>
          </a:p>
        </p:txBody>
      </p:sp>
      <p:sp>
        <p:nvSpPr>
          <p:cNvPr id="11" name="Text 9"/>
          <p:cNvSpPr/>
          <p:nvPr/>
        </p:nvSpPr>
        <p:spPr>
          <a:xfrm>
            <a:off x="502920" y="1289304"/>
            <a:ext cx="8229600" cy="146304"/>
          </a:xfrm>
          <a:prstGeom prst="rect">
            <a:avLst/>
          </a:prstGeom>
          <a:noFill/>
          <a:ln/>
        </p:spPr>
        <p:txBody>
          <a:bodyPr wrap="square" lIns="0" tIns="0" rIns="0" bIns="0" rtlCol="0" anchor="ctr"/>
          <a:lstStyle/>
          <a:p>
            <a:pPr indent="0" marL="0">
              <a:buNone/>
            </a:pPr>
            <a:r>
              <a:rPr lang="en-US" sz="850" b="1" dirty="0">
                <a:solidFill>
                  <a:srgbClr val="F59E0B"/>
                </a:solidFill>
                <a:latin typeface="Calibri" pitchFamily="34" charset="0"/>
                <a:ea typeface="Calibri" pitchFamily="34" charset="-122"/>
                <a:cs typeface="Calibri" pitchFamily="34" charset="-120"/>
              </a:rPr>
              <a:t>Claims used:</a:t>
            </a:r>
            <a:endParaRPr lang="en-US" sz="850" dirty="0"/>
          </a:p>
        </p:txBody>
      </p:sp>
      <p:sp>
        <p:nvSpPr>
          <p:cNvPr id="12" name="Text 10"/>
          <p:cNvSpPr/>
          <p:nvPr/>
        </p:nvSpPr>
        <p:spPr>
          <a:xfrm>
            <a:off x="502920" y="1417320"/>
            <a:ext cx="8229600" cy="347472"/>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Developers predicted +24% speedup (pre-study forecast), believed +20% (post-study self-report), actual measured result: -19% slower. 43-point gap = 24 - (-19). 16 devs, 246 tasks, Cursor Pro + Claude 3.5/3.7 Sonnet. Paper unretracted as of March 2026.</a:t>
            </a:r>
            <a:endParaRPr lang="en-US" sz="800" dirty="0"/>
          </a:p>
        </p:txBody>
      </p:sp>
      <p:sp>
        <p:nvSpPr>
          <p:cNvPr id="13" name="Text 11"/>
          <p:cNvSpPr/>
          <p:nvPr/>
        </p:nvSpPr>
        <p:spPr>
          <a:xfrm>
            <a:off x="502920" y="1764792"/>
            <a:ext cx="8229600" cy="146304"/>
          </a:xfrm>
          <a:prstGeom prst="rect">
            <a:avLst/>
          </a:prstGeom>
          <a:noFill/>
          <a:ln/>
        </p:spPr>
        <p:txBody>
          <a:bodyPr wrap="square" lIns="0" tIns="0" rIns="0" bIns="0" rtlCol="0" anchor="ctr"/>
          <a:lstStyle/>
          <a:p>
            <a:pPr indent="0" marL="0">
              <a:buNone/>
            </a:pPr>
            <a:r>
              <a:rPr lang="en-US" sz="850" b="1" dirty="0">
                <a:solidFill>
                  <a:srgbClr val="F59E0B"/>
                </a:solidFill>
                <a:latin typeface="Calibri" pitchFamily="34" charset="0"/>
                <a:ea typeface="Calibri" pitchFamily="34" charset="-122"/>
                <a:cs typeface="Calibri" pitchFamily="34" charset="-120"/>
              </a:rPr>
              <a:t>Source context:</a:t>
            </a:r>
            <a:endParaRPr lang="en-US" sz="850" dirty="0"/>
          </a:p>
        </p:txBody>
      </p:sp>
      <p:sp>
        <p:nvSpPr>
          <p:cNvPr id="14" name="Text 12"/>
          <p:cNvSpPr/>
          <p:nvPr/>
        </p:nvSpPr>
        <p:spPr>
          <a:xfrm>
            <a:off x="502920" y="1892808"/>
            <a:ext cx="8229600" cy="804672"/>
          </a:xfrm>
          <a:prstGeom prst="rect">
            <a:avLst/>
          </a:prstGeom>
          <a:noFill/>
          <a:ln/>
        </p:spPr>
        <p:txBody>
          <a:bodyPr wrap="square" lIns="0" tIns="0" rIns="0" bIns="0" rtlCol="0" anchor="ctr"/>
          <a:lstStyle/>
          <a:p>
            <a:pPr indent="0" marL="0">
              <a:lnSpc>
                <a:spcPct val="115000"/>
              </a:lnSpc>
              <a:buNone/>
            </a:pPr>
            <a:r>
              <a:rPr lang="en-US" sz="750" dirty="0">
                <a:solidFill>
                  <a:srgbClr val="94A3B8"/>
                </a:solidFill>
                <a:latin typeface="Calibri" pitchFamily="34" charset="0"/>
                <a:ea typeface="Calibri" pitchFamily="34" charset="-122"/>
                <a:cs typeface="Calibri" pitchFamily="34" charset="-120"/>
              </a:rPr>
              <a:t>From the Core Result section: "When developers are allowed to use AI tools, they take 19% longer to complete issues — a significant slowdown that goes against developer beliefs and expert forecasts." Methodology: 16 devs, 246 tasks, RCT, Cursor Pro + Claude 3.5/3.7 Sonnet. Avg task ~2 hours, screen-recorded, $150/hr. UPDATE: On Feb 24, 2026, METR published a follow-up (57 devs, 800+ tasks) showing the slowdown narrowing. However, METR flagged severe selection effects (30-50% of devs skipped tasks they didn't want to do without AI) and called their evidence 'very weak.' They are redesigning their methodology. The original study is not retracted or corrected.</a:t>
            </a:r>
            <a:endParaRPr lang="en-US" sz="750" dirty="0"/>
          </a:p>
        </p:txBody>
      </p:sp>
      <p:sp>
        <p:nvSpPr>
          <p:cNvPr id="15" name="Shape 13"/>
          <p:cNvSpPr/>
          <p:nvPr/>
        </p:nvSpPr>
        <p:spPr>
          <a:xfrm>
            <a:off x="274320" y="2816352"/>
            <a:ext cx="8595360" cy="2148840"/>
          </a:xfrm>
          <a:prstGeom prst="rect">
            <a:avLst/>
          </a:prstGeom>
          <a:solidFill>
            <a:srgbClr val="151E30"/>
          </a:solidFill>
          <a:ln/>
        </p:spPr>
      </p:sp>
      <p:sp>
        <p:nvSpPr>
          <p:cNvPr id="16" name="Shape 14"/>
          <p:cNvSpPr/>
          <p:nvPr/>
        </p:nvSpPr>
        <p:spPr>
          <a:xfrm>
            <a:off x="274320" y="2816352"/>
            <a:ext cx="45720" cy="2148840"/>
          </a:xfrm>
          <a:prstGeom prst="rect">
            <a:avLst/>
          </a:prstGeom>
          <a:solidFill>
            <a:srgbClr val="0EA5E9"/>
          </a:solidFill>
          <a:ln/>
        </p:spPr>
      </p:sp>
      <p:sp>
        <p:nvSpPr>
          <p:cNvPr id="17" name="Text 15"/>
          <p:cNvSpPr/>
          <p:nvPr/>
        </p:nvSpPr>
        <p:spPr>
          <a:xfrm>
            <a:off x="502920" y="2852928"/>
            <a:ext cx="8229600" cy="182880"/>
          </a:xfrm>
          <a:prstGeom prst="rect">
            <a:avLst/>
          </a:prstGeom>
          <a:noFill/>
          <a:ln/>
        </p:spPr>
        <p:txBody>
          <a:bodyPr wrap="square" lIns="0" tIns="0" rIns="0" bIns="0" rtlCol="0" anchor="ctr"/>
          <a:lstStyle/>
          <a:p>
            <a:pPr indent="0" marL="0">
              <a:buNone/>
            </a:pPr>
            <a:r>
              <a:rPr lang="en-US" sz="1100" b="1" dirty="0">
                <a:solidFill>
                  <a:srgbClr val="0EA5E9"/>
                </a:solidFill>
                <a:latin typeface="Calibri" pitchFamily="34" charset="0"/>
                <a:ea typeface="Calibri" pitchFamily="34" charset="-122"/>
                <a:cs typeface="Calibri" pitchFamily="34" charset="-120"/>
              </a:rPr>
              <a:t>[2] DORA 2024 Report — Slide 3</a:t>
            </a:r>
            <a:endParaRPr lang="en-US" sz="1100" dirty="0"/>
          </a:p>
        </p:txBody>
      </p:sp>
      <p:sp>
        <p:nvSpPr>
          <p:cNvPr id="18" name="Text 16"/>
          <p:cNvSpPr/>
          <p:nvPr/>
        </p:nvSpPr>
        <p:spPr>
          <a:xfrm>
            <a:off x="502920" y="3017520"/>
            <a:ext cx="8229600" cy="182880"/>
          </a:xfrm>
          <a:prstGeom prst="rect">
            <a:avLst/>
          </a:prstGeom>
          <a:noFill/>
          <a:ln/>
        </p:spPr>
        <p:txBody>
          <a:bodyPr wrap="square" lIns="0" tIns="0" rIns="0" bIns="0" rtlCol="0" anchor="ctr"/>
          <a:lstStyle/>
          <a:p>
            <a:pPr indent="0" marL="0">
              <a:buNone/>
            </a:pPr>
            <a:r>
              <a:rPr lang="en-US" sz="950" i="1" dirty="0">
                <a:solidFill>
                  <a:srgbClr val="F1F5F9"/>
                </a:solidFill>
                <a:latin typeface="Calibri" pitchFamily="34" charset="0"/>
                <a:ea typeface="Calibri" pitchFamily="34" charset="-122"/>
                <a:cs typeface="Calibri" pitchFamily="34" charset="-120"/>
              </a:rPr>
              <a:t>"2024 Accelerate State of DevOps Report" (10th Edition)</a:t>
            </a:r>
            <a:endParaRPr lang="en-US" sz="950" dirty="0"/>
          </a:p>
        </p:txBody>
      </p:sp>
      <p:sp>
        <p:nvSpPr>
          <p:cNvPr id="19" name="Text 17"/>
          <p:cNvSpPr/>
          <p:nvPr/>
        </p:nvSpPr>
        <p:spPr>
          <a:xfrm>
            <a:off x="502920" y="3182112"/>
            <a:ext cx="8229600" cy="146304"/>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DORA Team, Google Cloud — ~3,000 respondents across industries  |  October 22, 2024  |  Note: this is the 2024 report, not the 2025 report</a:t>
            </a:r>
            <a:endParaRPr lang="en-US" sz="850" dirty="0"/>
          </a:p>
        </p:txBody>
      </p:sp>
      <p:sp>
        <p:nvSpPr>
          <p:cNvPr id="20" name="Text 18"/>
          <p:cNvSpPr/>
          <p:nvPr/>
        </p:nvSpPr>
        <p:spPr>
          <a:xfrm>
            <a:off x="502920" y="3328416"/>
            <a:ext cx="8229600" cy="146304"/>
          </a:xfrm>
          <a:prstGeom prst="rect">
            <a:avLst/>
          </a:prstGeom>
          <a:noFill/>
          <a:ln/>
        </p:spPr>
        <p:txBody>
          <a:bodyPr wrap="square" lIns="0" tIns="0" rIns="0" bIns="0" rtlCol="0" anchor="ctr"/>
          <a:lstStyle/>
          <a:p>
            <a:pPr indent="0" marL="0">
              <a:buNone/>
            </a:pPr>
            <a:r>
              <a:rPr lang="en-US" sz="850" dirty="0">
                <a:solidFill>
                  <a:srgbClr val="22C55E"/>
                </a:solidFill>
                <a:latin typeface="Consolas" pitchFamily="34" charset="0"/>
                <a:ea typeface="Consolas" pitchFamily="34" charset="-122"/>
                <a:cs typeface="Consolas" pitchFamily="34" charset="-120"/>
              </a:rPr>
              <a:t>cloud.google.com/blog/products/devops-sre/announcing-the-2024-dora-report</a:t>
            </a:r>
            <a:endParaRPr lang="en-US" sz="850" dirty="0"/>
          </a:p>
        </p:txBody>
      </p:sp>
      <p:sp>
        <p:nvSpPr>
          <p:cNvPr id="21" name="Text 19"/>
          <p:cNvSpPr/>
          <p:nvPr/>
        </p:nvSpPr>
        <p:spPr>
          <a:xfrm>
            <a:off x="502920" y="3511296"/>
            <a:ext cx="8229600" cy="146304"/>
          </a:xfrm>
          <a:prstGeom prst="rect">
            <a:avLst/>
          </a:prstGeom>
          <a:noFill/>
          <a:ln/>
        </p:spPr>
        <p:txBody>
          <a:bodyPr wrap="square" lIns="0" tIns="0" rIns="0" bIns="0" rtlCol="0" anchor="ctr"/>
          <a:lstStyle/>
          <a:p>
            <a:pPr indent="0" marL="0">
              <a:buNone/>
            </a:pPr>
            <a:r>
              <a:rPr lang="en-US" sz="850" b="1" dirty="0">
                <a:solidFill>
                  <a:srgbClr val="F59E0B"/>
                </a:solidFill>
                <a:latin typeface="Calibri" pitchFamily="34" charset="0"/>
                <a:ea typeface="Calibri" pitchFamily="34" charset="-122"/>
                <a:cs typeface="Calibri" pitchFamily="34" charset="-120"/>
              </a:rPr>
              <a:t>Claims used:</a:t>
            </a:r>
            <a:endParaRPr lang="en-US" sz="850" dirty="0"/>
          </a:p>
        </p:txBody>
      </p:sp>
      <p:sp>
        <p:nvSpPr>
          <p:cNvPr id="22" name="Text 20"/>
          <p:cNvSpPr/>
          <p:nvPr/>
        </p:nvSpPr>
        <p:spPr>
          <a:xfrm>
            <a:off x="502920" y="3639312"/>
            <a:ext cx="8229600" cy="347472"/>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Per 25% increase in AI adoption: -1.5% delivery throughput and -7.2% delivery stability (regression coefficients, not absolute declines). Also: 39% reported low/no trust in AI-generated code.</a:t>
            </a:r>
            <a:endParaRPr lang="en-US" sz="800" dirty="0"/>
          </a:p>
        </p:txBody>
      </p:sp>
      <p:sp>
        <p:nvSpPr>
          <p:cNvPr id="23" name="Text 21"/>
          <p:cNvSpPr/>
          <p:nvPr/>
        </p:nvSpPr>
        <p:spPr>
          <a:xfrm>
            <a:off x="502920" y="3986784"/>
            <a:ext cx="8229600" cy="146304"/>
          </a:xfrm>
          <a:prstGeom prst="rect">
            <a:avLst/>
          </a:prstGeom>
          <a:noFill/>
          <a:ln/>
        </p:spPr>
        <p:txBody>
          <a:bodyPr wrap="square" lIns="0" tIns="0" rIns="0" bIns="0" rtlCol="0" anchor="ctr"/>
          <a:lstStyle/>
          <a:p>
            <a:pPr indent="0" marL="0">
              <a:buNone/>
            </a:pPr>
            <a:r>
              <a:rPr lang="en-US" sz="850" b="1" dirty="0">
                <a:solidFill>
                  <a:srgbClr val="F59E0B"/>
                </a:solidFill>
                <a:latin typeface="Calibri" pitchFamily="34" charset="0"/>
                <a:ea typeface="Calibri" pitchFamily="34" charset="-122"/>
                <a:cs typeface="Calibri" pitchFamily="34" charset="-120"/>
              </a:rPr>
              <a:t>Source context:</a:t>
            </a:r>
            <a:endParaRPr lang="en-US" sz="850" dirty="0"/>
          </a:p>
        </p:txBody>
      </p:sp>
      <p:sp>
        <p:nvSpPr>
          <p:cNvPr id="24" name="Text 22"/>
          <p:cNvSpPr/>
          <p:nvPr/>
        </p:nvSpPr>
        <p:spPr>
          <a:xfrm>
            <a:off x="502920" y="4114800"/>
            <a:ext cx="8229600" cy="804672"/>
          </a:xfrm>
          <a:prstGeom prst="rect">
            <a:avLst/>
          </a:prstGeom>
          <a:noFill/>
          <a:ln/>
        </p:spPr>
        <p:txBody>
          <a:bodyPr wrap="square" lIns="0" tIns="0" rIns="0" bIns="0" rtlCol="0" anchor="ctr"/>
          <a:lstStyle/>
          <a:p>
            <a:pPr indent="0" marL="0">
              <a:lnSpc>
                <a:spcPct val="115000"/>
              </a:lnSpc>
              <a:buNone/>
            </a:pPr>
            <a:r>
              <a:rPr lang="en-US" sz="750" dirty="0">
                <a:solidFill>
                  <a:srgbClr val="94A3B8"/>
                </a:solidFill>
                <a:latin typeface="Calibri" pitchFamily="34" charset="0"/>
                <a:ea typeface="Calibri" pitchFamily="34" charset="-122"/>
                <a:cs typeface="Calibri" pitchFamily="34" charset="-120"/>
              </a:rPr>
              <a:t>From the Google Cloud blog: "As AI adoption increased, it was accompanied by an estimated decrease in delivery throughput by 1.5%, and an estimated reduction in delivery stability by 7.2%." IMPORTANT QUALIFIER: These are regression coefficients per 25% increase in AI adoption, not absolute industry-wide declines. RedMonk's analysis makes this explicit. CRITICAL UPDATE: The 2025 DORA report (published Sept 2025, renamed 'State of AI-assisted Software Development', ~5,000 respondents) REVERSED the throughput finding — AI adoption now correlates with improved throughput. However, the negative AI-stability relationship PERSISTS. The 2025 report's thesis: 'AI is an amplifier' — it magnifies organizational strengths and dysfunctions alike. Our slide correctly attributes to 2024.</a:t>
            </a:r>
            <a:endParaRPr lang="en-US" sz="7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0EA5E9"/>
          </a:solidFill>
          <a:ln/>
        </p:spPr>
      </p:sp>
      <p:sp>
        <p:nvSpPr>
          <p:cNvPr id="3" name="Text 1"/>
          <p:cNvSpPr/>
          <p:nvPr/>
        </p:nvSpPr>
        <p:spPr>
          <a:xfrm>
            <a:off x="457200" y="137160"/>
            <a:ext cx="8229600" cy="411480"/>
          </a:xfrm>
          <a:prstGeom prst="rect">
            <a:avLst/>
          </a:prstGeom>
          <a:noFill/>
          <a:ln/>
        </p:spPr>
        <p:txBody>
          <a:bodyPr wrap="square" lIns="0" tIns="0" rIns="0" bIns="0" rtlCol="0" anchor="ctr"/>
          <a:lstStyle/>
          <a:p>
            <a:pPr indent="0" marL="0">
              <a:buNone/>
            </a:pPr>
            <a:r>
              <a:rPr lang="en-US" sz="2200" dirty="0">
                <a:solidFill>
                  <a:srgbClr val="F8FAFC"/>
                </a:solidFill>
                <a:latin typeface="Arial Black" pitchFamily="34" charset="0"/>
                <a:ea typeface="Arial Black" pitchFamily="34" charset="-122"/>
                <a:cs typeface="Arial Black" pitchFamily="34" charset="-120"/>
              </a:rPr>
              <a:t>References &amp; Citations (2/3)</a:t>
            </a:r>
            <a:endParaRPr lang="en-US" sz="2200" dirty="0"/>
          </a:p>
        </p:txBody>
      </p:sp>
      <p:sp>
        <p:nvSpPr>
          <p:cNvPr id="4" name="Text 2"/>
          <p:cNvSpPr/>
          <p:nvPr/>
        </p:nvSpPr>
        <p:spPr>
          <a:xfrm>
            <a:off x="274320" y="4846320"/>
            <a:ext cx="2743200" cy="274320"/>
          </a:xfrm>
          <a:prstGeom prst="rect">
            <a:avLst/>
          </a:prstGeom>
          <a:noFill/>
          <a:ln/>
        </p:spPr>
        <p:txBody>
          <a:bodyPr wrap="square" rtlCol="0" anchor="ctr"/>
          <a:lstStyle/>
          <a:p>
            <a:pPr indent="0" marL="0">
              <a:buNone/>
            </a:pPr>
            <a:r>
              <a:rPr lang="en-US" sz="800" dirty="0">
                <a:solidFill>
                  <a:srgbClr val="64748B"/>
                </a:solidFill>
                <a:latin typeface="Calibri" pitchFamily="34" charset="0"/>
                <a:ea typeface="Calibri" pitchFamily="34" charset="-122"/>
                <a:cs typeface="Calibri" pitchFamily="34" charset="-120"/>
              </a:rPr>
              <a:t>APPENDIX 2/3</a:t>
            </a:r>
            <a:endParaRPr lang="en-US" sz="800" dirty="0"/>
          </a:p>
        </p:txBody>
      </p:sp>
      <p:sp>
        <p:nvSpPr>
          <p:cNvPr id="5" name="Shape 3"/>
          <p:cNvSpPr/>
          <p:nvPr/>
        </p:nvSpPr>
        <p:spPr>
          <a:xfrm>
            <a:off x="274320" y="594360"/>
            <a:ext cx="8595360" cy="2148840"/>
          </a:xfrm>
          <a:prstGeom prst="rect">
            <a:avLst/>
          </a:prstGeom>
          <a:solidFill>
            <a:srgbClr val="151E30"/>
          </a:solidFill>
          <a:ln/>
        </p:spPr>
      </p:sp>
      <p:sp>
        <p:nvSpPr>
          <p:cNvPr id="6" name="Shape 4"/>
          <p:cNvSpPr/>
          <p:nvPr/>
        </p:nvSpPr>
        <p:spPr>
          <a:xfrm>
            <a:off x="274320" y="594360"/>
            <a:ext cx="45720" cy="2148840"/>
          </a:xfrm>
          <a:prstGeom prst="rect">
            <a:avLst/>
          </a:prstGeom>
          <a:solidFill>
            <a:srgbClr val="0EA5E9"/>
          </a:solidFill>
          <a:ln/>
        </p:spPr>
      </p:sp>
      <p:sp>
        <p:nvSpPr>
          <p:cNvPr id="7" name="Text 5"/>
          <p:cNvSpPr/>
          <p:nvPr/>
        </p:nvSpPr>
        <p:spPr>
          <a:xfrm>
            <a:off x="502920" y="630936"/>
            <a:ext cx="8229600" cy="182880"/>
          </a:xfrm>
          <a:prstGeom prst="rect">
            <a:avLst/>
          </a:prstGeom>
          <a:noFill/>
          <a:ln/>
        </p:spPr>
        <p:txBody>
          <a:bodyPr wrap="square" lIns="0" tIns="0" rIns="0" bIns="0" rtlCol="0" anchor="ctr"/>
          <a:lstStyle/>
          <a:p>
            <a:pPr indent="0" marL="0">
              <a:buNone/>
            </a:pPr>
            <a:r>
              <a:rPr lang="en-US" sz="1100" b="1" dirty="0">
                <a:solidFill>
                  <a:srgbClr val="0EA5E9"/>
                </a:solidFill>
                <a:latin typeface="Calibri" pitchFamily="34" charset="0"/>
                <a:ea typeface="Calibri" pitchFamily="34" charset="-122"/>
                <a:cs typeface="Calibri" pitchFamily="34" charset="-120"/>
              </a:rPr>
              <a:t>[3] McKinsey Superagency Report — Slide 3</a:t>
            </a:r>
            <a:endParaRPr lang="en-US" sz="1100" dirty="0"/>
          </a:p>
        </p:txBody>
      </p:sp>
      <p:sp>
        <p:nvSpPr>
          <p:cNvPr id="8" name="Text 6"/>
          <p:cNvSpPr/>
          <p:nvPr/>
        </p:nvSpPr>
        <p:spPr>
          <a:xfrm>
            <a:off x="502920" y="795528"/>
            <a:ext cx="8229600" cy="182880"/>
          </a:xfrm>
          <a:prstGeom prst="rect">
            <a:avLst/>
          </a:prstGeom>
          <a:noFill/>
          <a:ln/>
        </p:spPr>
        <p:txBody>
          <a:bodyPr wrap="square" lIns="0" tIns="0" rIns="0" bIns="0" rtlCol="0" anchor="ctr"/>
          <a:lstStyle/>
          <a:p>
            <a:pPr indent="0" marL="0">
              <a:buNone/>
            </a:pPr>
            <a:r>
              <a:rPr lang="en-US" sz="950" i="1" dirty="0">
                <a:solidFill>
                  <a:srgbClr val="F1F5F9"/>
                </a:solidFill>
                <a:latin typeface="Calibri" pitchFamily="34" charset="0"/>
                <a:ea typeface="Calibri" pitchFamily="34" charset="-122"/>
                <a:cs typeface="Calibri" pitchFamily="34" charset="-120"/>
              </a:rPr>
              <a:t>"Superagency in the workplace: Empowering people to unlock AI's full potential at work"</a:t>
            </a:r>
            <a:endParaRPr lang="en-US" sz="950" dirty="0"/>
          </a:p>
        </p:txBody>
      </p:sp>
      <p:sp>
        <p:nvSpPr>
          <p:cNvPr id="9" name="Text 7"/>
          <p:cNvSpPr/>
          <p:nvPr/>
        </p:nvSpPr>
        <p:spPr>
          <a:xfrm>
            <a:off x="502920" y="960120"/>
            <a:ext cx="8229600" cy="146304"/>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Hannah Mayer, Lareina Yee, Michael Chui, Roger Roberts — McKinsey &amp; Company  |  January 28, 2025</a:t>
            </a:r>
            <a:endParaRPr lang="en-US" sz="850" dirty="0"/>
          </a:p>
        </p:txBody>
      </p:sp>
      <p:sp>
        <p:nvSpPr>
          <p:cNvPr id="10" name="Text 8"/>
          <p:cNvSpPr/>
          <p:nvPr/>
        </p:nvSpPr>
        <p:spPr>
          <a:xfrm>
            <a:off x="502920" y="1106424"/>
            <a:ext cx="8229600" cy="146304"/>
          </a:xfrm>
          <a:prstGeom prst="rect">
            <a:avLst/>
          </a:prstGeom>
          <a:noFill/>
          <a:ln/>
        </p:spPr>
        <p:txBody>
          <a:bodyPr wrap="square" lIns="0" tIns="0" rIns="0" bIns="0" rtlCol="0" anchor="ctr"/>
          <a:lstStyle/>
          <a:p>
            <a:pPr indent="0" marL="0">
              <a:buNone/>
            </a:pPr>
            <a:r>
              <a:rPr lang="en-US" sz="850" dirty="0">
                <a:solidFill>
                  <a:srgbClr val="22C55E"/>
                </a:solidFill>
                <a:latin typeface="Consolas" pitchFamily="34" charset="0"/>
                <a:ea typeface="Consolas" pitchFamily="34" charset="-122"/>
                <a:cs typeface="Consolas" pitchFamily="34" charset="-120"/>
              </a:rPr>
              <a:t>mckinsey.com/capabilities/tech-and-ai/our-insights/superagency-in-the-workplace</a:t>
            </a:r>
            <a:endParaRPr lang="en-US" sz="850" dirty="0"/>
          </a:p>
        </p:txBody>
      </p:sp>
      <p:sp>
        <p:nvSpPr>
          <p:cNvPr id="11" name="Text 9"/>
          <p:cNvSpPr/>
          <p:nvPr/>
        </p:nvSpPr>
        <p:spPr>
          <a:xfrm>
            <a:off x="502920" y="1289304"/>
            <a:ext cx="8229600" cy="146304"/>
          </a:xfrm>
          <a:prstGeom prst="rect">
            <a:avLst/>
          </a:prstGeom>
          <a:noFill/>
          <a:ln/>
        </p:spPr>
        <p:txBody>
          <a:bodyPr wrap="square" lIns="0" tIns="0" rIns="0" bIns="0" rtlCol="0" anchor="ctr"/>
          <a:lstStyle/>
          <a:p>
            <a:pPr indent="0" marL="0">
              <a:buNone/>
            </a:pPr>
            <a:r>
              <a:rPr lang="en-US" sz="850" b="1" dirty="0">
                <a:solidFill>
                  <a:srgbClr val="F59E0B"/>
                </a:solidFill>
                <a:latin typeface="Calibri" pitchFamily="34" charset="0"/>
                <a:ea typeface="Calibri" pitchFamily="34" charset="-122"/>
                <a:cs typeface="Calibri" pitchFamily="34" charset="-120"/>
              </a:rPr>
              <a:t>Claims used:</a:t>
            </a:r>
            <a:endParaRPr lang="en-US" sz="850" dirty="0"/>
          </a:p>
        </p:txBody>
      </p:sp>
      <p:sp>
        <p:nvSpPr>
          <p:cNvPr id="12" name="Text 10"/>
          <p:cNvSpPr/>
          <p:nvPr/>
        </p:nvSpPr>
        <p:spPr>
          <a:xfrm>
            <a:off x="502920" y="1417320"/>
            <a:ext cx="8229600" cy="347472"/>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Only 1% of C-suite describe AI rollouts as 'mature'. 92% of companies plan to increase AI investments. We do NOT cite '8% of revenue' — that stat is from a different Deloitte report about total tech budgets, not AI spend specifically.</a:t>
            </a:r>
            <a:endParaRPr lang="en-US" sz="800" dirty="0"/>
          </a:p>
        </p:txBody>
      </p:sp>
      <p:sp>
        <p:nvSpPr>
          <p:cNvPr id="13" name="Text 11"/>
          <p:cNvSpPr/>
          <p:nvPr/>
        </p:nvSpPr>
        <p:spPr>
          <a:xfrm>
            <a:off x="502920" y="1764792"/>
            <a:ext cx="8229600" cy="146304"/>
          </a:xfrm>
          <a:prstGeom prst="rect">
            <a:avLst/>
          </a:prstGeom>
          <a:noFill/>
          <a:ln/>
        </p:spPr>
        <p:txBody>
          <a:bodyPr wrap="square" lIns="0" tIns="0" rIns="0" bIns="0" rtlCol="0" anchor="ctr"/>
          <a:lstStyle/>
          <a:p>
            <a:pPr indent="0" marL="0">
              <a:buNone/>
            </a:pPr>
            <a:r>
              <a:rPr lang="en-US" sz="850" b="1" dirty="0">
                <a:solidFill>
                  <a:srgbClr val="F59E0B"/>
                </a:solidFill>
                <a:latin typeface="Calibri" pitchFamily="34" charset="0"/>
                <a:ea typeface="Calibri" pitchFamily="34" charset="-122"/>
                <a:cs typeface="Calibri" pitchFamily="34" charset="-120"/>
              </a:rPr>
              <a:t>Source context:</a:t>
            </a:r>
            <a:endParaRPr lang="en-US" sz="850" dirty="0"/>
          </a:p>
        </p:txBody>
      </p:sp>
      <p:sp>
        <p:nvSpPr>
          <p:cNvPr id="14" name="Text 12"/>
          <p:cNvSpPr/>
          <p:nvPr/>
        </p:nvSpPr>
        <p:spPr>
          <a:xfrm>
            <a:off x="502920" y="1892808"/>
            <a:ext cx="8229600" cy="804672"/>
          </a:xfrm>
          <a:prstGeom prst="rect">
            <a:avLst/>
          </a:prstGeom>
          <a:noFill/>
          <a:ln/>
        </p:spPr>
        <p:txBody>
          <a:bodyPr wrap="square" lIns="0" tIns="0" rIns="0" bIns="0" rtlCol="0" anchor="ctr"/>
          <a:lstStyle/>
          <a:p>
            <a:pPr indent="0" marL="0">
              <a:lnSpc>
                <a:spcPct val="115000"/>
              </a:lnSpc>
              <a:buNone/>
            </a:pPr>
            <a:r>
              <a:rPr lang="en-US" sz="750" dirty="0">
                <a:solidFill>
                  <a:srgbClr val="94A3B8"/>
                </a:solidFill>
                <a:latin typeface="Calibri" pitchFamily="34" charset="0"/>
                <a:ea typeface="Calibri" pitchFamily="34" charset="-122"/>
                <a:cs typeface="Calibri" pitchFamily="34" charset="-120"/>
              </a:rPr>
              <a:t>From the report's key findings: "Over the next three years, 92 percent of companies plan to increase their AI investments. But while nearly all companies are investing in AI, only 1 percent of leaders call their companies 'mature' on the deployment spectrum, meaning that AI is fully integrated into workflows and drives substantial business outcomes." The maturity breakdown: 8% nascent, 39% emerging, 31% developing, 22% expanding, 1% mature. Research prompted by Reid Hoffman's Superagency book. Note: the November 2025 McKinsey 'State of AI' survey updates this to 6% 'high performers' reporting &gt;5% EBIT from AI, but we cite the January 2025 report's 1% 'mature' figure.</a:t>
            </a:r>
            <a:endParaRPr lang="en-US" sz="750" dirty="0"/>
          </a:p>
        </p:txBody>
      </p:sp>
      <p:sp>
        <p:nvSpPr>
          <p:cNvPr id="15" name="Shape 13"/>
          <p:cNvSpPr/>
          <p:nvPr/>
        </p:nvSpPr>
        <p:spPr>
          <a:xfrm>
            <a:off x="274320" y="2816352"/>
            <a:ext cx="8595360" cy="2148840"/>
          </a:xfrm>
          <a:prstGeom prst="rect">
            <a:avLst/>
          </a:prstGeom>
          <a:solidFill>
            <a:srgbClr val="151E30"/>
          </a:solidFill>
          <a:ln/>
        </p:spPr>
      </p:sp>
      <p:sp>
        <p:nvSpPr>
          <p:cNvPr id="16" name="Shape 14"/>
          <p:cNvSpPr/>
          <p:nvPr/>
        </p:nvSpPr>
        <p:spPr>
          <a:xfrm>
            <a:off x="274320" y="2816352"/>
            <a:ext cx="45720" cy="2148840"/>
          </a:xfrm>
          <a:prstGeom prst="rect">
            <a:avLst/>
          </a:prstGeom>
          <a:solidFill>
            <a:srgbClr val="0EA5E9"/>
          </a:solidFill>
          <a:ln/>
        </p:spPr>
      </p:sp>
      <p:sp>
        <p:nvSpPr>
          <p:cNvPr id="17" name="Text 15"/>
          <p:cNvSpPr/>
          <p:nvPr/>
        </p:nvSpPr>
        <p:spPr>
          <a:xfrm>
            <a:off x="502920" y="2852928"/>
            <a:ext cx="8229600" cy="182880"/>
          </a:xfrm>
          <a:prstGeom prst="rect">
            <a:avLst/>
          </a:prstGeom>
          <a:noFill/>
          <a:ln/>
        </p:spPr>
        <p:txBody>
          <a:bodyPr wrap="square" lIns="0" tIns="0" rIns="0" bIns="0" rtlCol="0" anchor="ctr"/>
          <a:lstStyle/>
          <a:p>
            <a:pPr indent="0" marL="0">
              <a:buNone/>
            </a:pPr>
            <a:r>
              <a:rPr lang="en-US" sz="1100" b="1" dirty="0">
                <a:solidFill>
                  <a:srgbClr val="0EA5E9"/>
                </a:solidFill>
                <a:latin typeface="Calibri" pitchFamily="34" charset="0"/>
                <a:ea typeface="Calibri" pitchFamily="34" charset="-122"/>
                <a:cs typeface="Calibri" pitchFamily="34" charset="-120"/>
              </a:rPr>
              <a:t>[4] Stack Overflow 2025 Developer Survey — Slide 3</a:t>
            </a:r>
            <a:endParaRPr lang="en-US" sz="1100" dirty="0"/>
          </a:p>
        </p:txBody>
      </p:sp>
      <p:sp>
        <p:nvSpPr>
          <p:cNvPr id="18" name="Text 16"/>
          <p:cNvSpPr/>
          <p:nvPr/>
        </p:nvSpPr>
        <p:spPr>
          <a:xfrm>
            <a:off x="502920" y="3017520"/>
            <a:ext cx="8229600" cy="182880"/>
          </a:xfrm>
          <a:prstGeom prst="rect">
            <a:avLst/>
          </a:prstGeom>
          <a:noFill/>
          <a:ln/>
        </p:spPr>
        <p:txBody>
          <a:bodyPr wrap="square" lIns="0" tIns="0" rIns="0" bIns="0" rtlCol="0" anchor="ctr"/>
          <a:lstStyle/>
          <a:p>
            <a:pPr indent="0" marL="0">
              <a:buNone/>
            </a:pPr>
            <a:r>
              <a:rPr lang="en-US" sz="950" i="1" dirty="0">
                <a:solidFill>
                  <a:srgbClr val="F1F5F9"/>
                </a:solidFill>
                <a:latin typeface="Calibri" pitchFamily="34" charset="0"/>
                <a:ea typeface="Calibri" pitchFamily="34" charset="-122"/>
                <a:cs typeface="Calibri" pitchFamily="34" charset="-120"/>
              </a:rPr>
              <a:t>"2025 Stack Overflow Developer Survey" (15th Annual)</a:t>
            </a:r>
            <a:endParaRPr lang="en-US" sz="950" dirty="0"/>
          </a:p>
        </p:txBody>
      </p:sp>
      <p:sp>
        <p:nvSpPr>
          <p:cNvPr id="19" name="Text 17"/>
          <p:cNvSpPr/>
          <p:nvPr/>
        </p:nvSpPr>
        <p:spPr>
          <a:xfrm>
            <a:off x="502920" y="3182112"/>
            <a:ext cx="8229600" cy="146304"/>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Stack Overflow — 49,000+ respondents, 177 countries, 62 questions, 314 technologies  |  July 29, 2025  |  Survey fielded: May 29 – June 23, 2025</a:t>
            </a:r>
            <a:endParaRPr lang="en-US" sz="850" dirty="0"/>
          </a:p>
        </p:txBody>
      </p:sp>
      <p:sp>
        <p:nvSpPr>
          <p:cNvPr id="20" name="Text 18"/>
          <p:cNvSpPr/>
          <p:nvPr/>
        </p:nvSpPr>
        <p:spPr>
          <a:xfrm>
            <a:off x="502920" y="3328416"/>
            <a:ext cx="8229600" cy="146304"/>
          </a:xfrm>
          <a:prstGeom prst="rect">
            <a:avLst/>
          </a:prstGeom>
          <a:noFill/>
          <a:ln/>
        </p:spPr>
        <p:txBody>
          <a:bodyPr wrap="square" lIns="0" tIns="0" rIns="0" bIns="0" rtlCol="0" anchor="ctr"/>
          <a:lstStyle/>
          <a:p>
            <a:pPr indent="0" marL="0">
              <a:buNone/>
            </a:pPr>
            <a:r>
              <a:rPr lang="en-US" sz="850" dirty="0">
                <a:solidFill>
                  <a:srgbClr val="22C55E"/>
                </a:solidFill>
                <a:latin typeface="Consolas" pitchFamily="34" charset="0"/>
                <a:ea typeface="Consolas" pitchFamily="34" charset="-122"/>
                <a:cs typeface="Consolas" pitchFamily="34" charset="-120"/>
              </a:rPr>
              <a:t>survey.stackoverflow.co/2025/  |  Press release: stackoverflow.co/company/press/archive/stack-overflow-2025-developer-survey/</a:t>
            </a:r>
            <a:endParaRPr lang="en-US" sz="850" dirty="0"/>
          </a:p>
        </p:txBody>
      </p:sp>
      <p:sp>
        <p:nvSpPr>
          <p:cNvPr id="21" name="Text 19"/>
          <p:cNvSpPr/>
          <p:nvPr/>
        </p:nvSpPr>
        <p:spPr>
          <a:xfrm>
            <a:off x="502920" y="3511296"/>
            <a:ext cx="8229600" cy="146304"/>
          </a:xfrm>
          <a:prstGeom prst="rect">
            <a:avLst/>
          </a:prstGeom>
          <a:noFill/>
          <a:ln/>
        </p:spPr>
        <p:txBody>
          <a:bodyPr wrap="square" lIns="0" tIns="0" rIns="0" bIns="0" rtlCol="0" anchor="ctr"/>
          <a:lstStyle/>
          <a:p>
            <a:pPr indent="0" marL="0">
              <a:buNone/>
            </a:pPr>
            <a:r>
              <a:rPr lang="en-US" sz="850" b="1" dirty="0">
                <a:solidFill>
                  <a:srgbClr val="F59E0B"/>
                </a:solidFill>
                <a:latin typeface="Calibri" pitchFamily="34" charset="0"/>
                <a:ea typeface="Calibri" pitchFamily="34" charset="-122"/>
                <a:cs typeface="Calibri" pitchFamily="34" charset="-120"/>
              </a:rPr>
              <a:t>Claims used:</a:t>
            </a:r>
            <a:endParaRPr lang="en-US" sz="850" dirty="0"/>
          </a:p>
        </p:txBody>
      </p:sp>
      <p:sp>
        <p:nvSpPr>
          <p:cNvPr id="22" name="Text 20"/>
          <p:cNvSpPr/>
          <p:nvPr/>
        </p:nvSpPr>
        <p:spPr>
          <a:xfrm>
            <a:off x="502920" y="3639312"/>
            <a:ext cx="8229600" cy="347472"/>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46% of developers don't trust AI output accuracy (up from 31% in 2024). 84% use or plan to use AI tools (up from 76%). Positive AI favorability dropped from 72% to 60%.</a:t>
            </a:r>
            <a:endParaRPr lang="en-US" sz="800" dirty="0"/>
          </a:p>
        </p:txBody>
      </p:sp>
      <p:sp>
        <p:nvSpPr>
          <p:cNvPr id="23" name="Text 21"/>
          <p:cNvSpPr/>
          <p:nvPr/>
        </p:nvSpPr>
        <p:spPr>
          <a:xfrm>
            <a:off x="502920" y="3986784"/>
            <a:ext cx="8229600" cy="146304"/>
          </a:xfrm>
          <a:prstGeom prst="rect">
            <a:avLst/>
          </a:prstGeom>
          <a:noFill/>
          <a:ln/>
        </p:spPr>
        <p:txBody>
          <a:bodyPr wrap="square" lIns="0" tIns="0" rIns="0" bIns="0" rtlCol="0" anchor="ctr"/>
          <a:lstStyle/>
          <a:p>
            <a:pPr indent="0" marL="0">
              <a:buNone/>
            </a:pPr>
            <a:r>
              <a:rPr lang="en-US" sz="850" b="1" dirty="0">
                <a:solidFill>
                  <a:srgbClr val="F59E0B"/>
                </a:solidFill>
                <a:latin typeface="Calibri" pitchFamily="34" charset="0"/>
                <a:ea typeface="Calibri" pitchFamily="34" charset="-122"/>
                <a:cs typeface="Calibri" pitchFamily="34" charset="-120"/>
              </a:rPr>
              <a:t>Source context:</a:t>
            </a:r>
            <a:endParaRPr lang="en-US" sz="850" dirty="0"/>
          </a:p>
        </p:txBody>
      </p:sp>
      <p:sp>
        <p:nvSpPr>
          <p:cNvPr id="24" name="Text 22"/>
          <p:cNvSpPr/>
          <p:nvPr/>
        </p:nvSpPr>
        <p:spPr>
          <a:xfrm>
            <a:off x="502920" y="4114800"/>
            <a:ext cx="8229600" cy="804672"/>
          </a:xfrm>
          <a:prstGeom prst="rect">
            <a:avLst/>
          </a:prstGeom>
          <a:noFill/>
          <a:ln/>
        </p:spPr>
        <p:txBody>
          <a:bodyPr wrap="square" lIns="0" tIns="0" rIns="0" bIns="0" rtlCol="0" anchor="ctr"/>
          <a:lstStyle/>
          <a:p>
            <a:pPr indent="0" marL="0">
              <a:lnSpc>
                <a:spcPct val="115000"/>
              </a:lnSpc>
              <a:buNone/>
            </a:pPr>
            <a:r>
              <a:rPr lang="en-US" sz="750" dirty="0">
                <a:solidFill>
                  <a:srgbClr val="94A3B8"/>
                </a:solidFill>
                <a:latin typeface="Calibri" pitchFamily="34" charset="0"/>
                <a:ea typeface="Calibri" pitchFamily="34" charset="-122"/>
                <a:cs typeface="Calibri" pitchFamily="34" charset="-120"/>
              </a:rPr>
              <a:t>From the official Stack Overflow press release (July 29, 2025): "For the third year in a row, our survey demonstrated an increase in the number of developers using AI tools year over year, with 84% saying they use or plan to use AI tools in their development process, up from 76% in 2024. However, 46% of developers said they don't trust the accuracy of the output from AI tools, a significant increase from 31% last year." The survey's AI section further clarifies: "More developers actively distrust the accuracy of AI tools (46%) than trust it (33%), and only a fraction (3%) report 'highly trusting' the output." CEO Prashanth Chandrasekar: "The growing lack of trust in AI tools stood out to us as the key data point in this year's survey."</a:t>
            </a:r>
            <a:endParaRPr lang="en-US" sz="7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0EA5E9"/>
          </a:solidFill>
          <a:ln/>
        </p:spPr>
      </p:sp>
      <p:sp>
        <p:nvSpPr>
          <p:cNvPr id="3" name="Text 1"/>
          <p:cNvSpPr/>
          <p:nvPr/>
        </p:nvSpPr>
        <p:spPr>
          <a:xfrm>
            <a:off x="457200" y="137160"/>
            <a:ext cx="8229600" cy="411480"/>
          </a:xfrm>
          <a:prstGeom prst="rect">
            <a:avLst/>
          </a:prstGeom>
          <a:noFill/>
          <a:ln/>
        </p:spPr>
        <p:txBody>
          <a:bodyPr wrap="square" lIns="0" tIns="0" rIns="0" bIns="0" rtlCol="0" anchor="ctr"/>
          <a:lstStyle/>
          <a:p>
            <a:pPr indent="0" marL="0">
              <a:buNone/>
            </a:pPr>
            <a:r>
              <a:rPr lang="en-US" sz="2200" dirty="0">
                <a:solidFill>
                  <a:srgbClr val="F8FAFC"/>
                </a:solidFill>
                <a:latin typeface="Arial Black" pitchFamily="34" charset="0"/>
                <a:ea typeface="Arial Black" pitchFamily="34" charset="-122"/>
                <a:cs typeface="Arial Black" pitchFamily="34" charset="-120"/>
              </a:rPr>
              <a:t>References &amp; Citations (3/3)</a:t>
            </a:r>
            <a:endParaRPr lang="en-US" sz="2200" dirty="0"/>
          </a:p>
        </p:txBody>
      </p:sp>
      <p:sp>
        <p:nvSpPr>
          <p:cNvPr id="4" name="Text 2"/>
          <p:cNvSpPr/>
          <p:nvPr/>
        </p:nvSpPr>
        <p:spPr>
          <a:xfrm>
            <a:off x="274320" y="4846320"/>
            <a:ext cx="2743200" cy="274320"/>
          </a:xfrm>
          <a:prstGeom prst="rect">
            <a:avLst/>
          </a:prstGeom>
          <a:noFill/>
          <a:ln/>
        </p:spPr>
        <p:txBody>
          <a:bodyPr wrap="square" rtlCol="0" anchor="ctr"/>
          <a:lstStyle/>
          <a:p>
            <a:pPr indent="0" marL="0">
              <a:buNone/>
            </a:pPr>
            <a:r>
              <a:rPr lang="en-US" sz="800" dirty="0">
                <a:solidFill>
                  <a:srgbClr val="64748B"/>
                </a:solidFill>
                <a:latin typeface="Calibri" pitchFamily="34" charset="0"/>
                <a:ea typeface="Calibri" pitchFamily="34" charset="-122"/>
                <a:cs typeface="Calibri" pitchFamily="34" charset="-120"/>
              </a:rPr>
              <a:t>APPENDIX 3/3</a:t>
            </a:r>
            <a:endParaRPr lang="en-US" sz="800" dirty="0"/>
          </a:p>
        </p:txBody>
      </p:sp>
      <p:sp>
        <p:nvSpPr>
          <p:cNvPr id="5" name="Shape 3"/>
          <p:cNvSpPr/>
          <p:nvPr/>
        </p:nvSpPr>
        <p:spPr>
          <a:xfrm>
            <a:off x="274320" y="594360"/>
            <a:ext cx="8595360" cy="2148840"/>
          </a:xfrm>
          <a:prstGeom prst="rect">
            <a:avLst/>
          </a:prstGeom>
          <a:solidFill>
            <a:srgbClr val="151E30"/>
          </a:solidFill>
          <a:ln/>
        </p:spPr>
      </p:sp>
      <p:sp>
        <p:nvSpPr>
          <p:cNvPr id="6" name="Shape 4"/>
          <p:cNvSpPr/>
          <p:nvPr/>
        </p:nvSpPr>
        <p:spPr>
          <a:xfrm>
            <a:off x="274320" y="594360"/>
            <a:ext cx="45720" cy="2148840"/>
          </a:xfrm>
          <a:prstGeom prst="rect">
            <a:avLst/>
          </a:prstGeom>
          <a:solidFill>
            <a:srgbClr val="0EA5E9"/>
          </a:solidFill>
          <a:ln/>
        </p:spPr>
      </p:sp>
      <p:sp>
        <p:nvSpPr>
          <p:cNvPr id="7" name="Text 5"/>
          <p:cNvSpPr/>
          <p:nvPr/>
        </p:nvSpPr>
        <p:spPr>
          <a:xfrm>
            <a:off x="502920" y="630936"/>
            <a:ext cx="8229600" cy="182880"/>
          </a:xfrm>
          <a:prstGeom prst="rect">
            <a:avLst/>
          </a:prstGeom>
          <a:noFill/>
          <a:ln/>
        </p:spPr>
        <p:txBody>
          <a:bodyPr wrap="square" lIns="0" tIns="0" rIns="0" bIns="0" rtlCol="0" anchor="ctr"/>
          <a:lstStyle/>
          <a:p>
            <a:pPr indent="0" marL="0">
              <a:buNone/>
            </a:pPr>
            <a:r>
              <a:rPr lang="en-US" sz="1100" b="1" dirty="0">
                <a:solidFill>
                  <a:srgbClr val="0EA5E9"/>
                </a:solidFill>
                <a:latin typeface="Calibri" pitchFamily="34" charset="0"/>
                <a:ea typeface="Calibri" pitchFamily="34" charset="-122"/>
                <a:cs typeface="Calibri" pitchFamily="34" charset="-120"/>
              </a:rPr>
              <a:t>[5] State of Platform Engineering Vol. 4 — Slide 3</a:t>
            </a:r>
            <a:endParaRPr lang="en-US" sz="1100" dirty="0"/>
          </a:p>
        </p:txBody>
      </p:sp>
      <p:sp>
        <p:nvSpPr>
          <p:cNvPr id="8" name="Text 6"/>
          <p:cNvSpPr/>
          <p:nvPr/>
        </p:nvSpPr>
        <p:spPr>
          <a:xfrm>
            <a:off x="502920" y="795528"/>
            <a:ext cx="8229600" cy="182880"/>
          </a:xfrm>
          <a:prstGeom prst="rect">
            <a:avLst/>
          </a:prstGeom>
          <a:noFill/>
          <a:ln/>
        </p:spPr>
        <p:txBody>
          <a:bodyPr wrap="square" lIns="0" tIns="0" rIns="0" bIns="0" rtlCol="0" anchor="ctr"/>
          <a:lstStyle/>
          <a:p>
            <a:pPr indent="0" marL="0">
              <a:buNone/>
            </a:pPr>
            <a:r>
              <a:rPr lang="en-US" sz="950" i="1" dirty="0">
                <a:solidFill>
                  <a:srgbClr val="F1F5F9"/>
                </a:solidFill>
                <a:latin typeface="Calibri" pitchFamily="34" charset="0"/>
                <a:ea typeface="Calibri" pitchFamily="34" charset="-122"/>
                <a:cs typeface="Calibri" pitchFamily="34" charset="-120"/>
              </a:rPr>
              <a:t>"State of Platform Engineering Report Volume 4" (2025)</a:t>
            </a:r>
            <a:endParaRPr lang="en-US" sz="950" dirty="0"/>
          </a:p>
        </p:txBody>
      </p:sp>
      <p:sp>
        <p:nvSpPr>
          <p:cNvPr id="9" name="Text 7"/>
          <p:cNvSpPr/>
          <p:nvPr/>
        </p:nvSpPr>
        <p:spPr>
          <a:xfrm>
            <a:off x="502920" y="960120"/>
            <a:ext cx="8229600" cy="146304"/>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platformengineering.org — 518 platform engineers surveyed (exclusive sponsor: Broadcom)  |  2025</a:t>
            </a:r>
            <a:endParaRPr lang="en-US" sz="850" dirty="0"/>
          </a:p>
        </p:txBody>
      </p:sp>
      <p:sp>
        <p:nvSpPr>
          <p:cNvPr id="10" name="Text 8"/>
          <p:cNvSpPr/>
          <p:nvPr/>
        </p:nvSpPr>
        <p:spPr>
          <a:xfrm>
            <a:off x="502920" y="1106424"/>
            <a:ext cx="8229600" cy="146304"/>
          </a:xfrm>
          <a:prstGeom prst="rect">
            <a:avLst/>
          </a:prstGeom>
          <a:noFill/>
          <a:ln/>
        </p:spPr>
        <p:txBody>
          <a:bodyPr wrap="square" lIns="0" tIns="0" rIns="0" bIns="0" rtlCol="0" anchor="ctr"/>
          <a:lstStyle/>
          <a:p>
            <a:pPr indent="0" marL="0">
              <a:buNone/>
            </a:pPr>
            <a:r>
              <a:rPr lang="en-US" sz="850" dirty="0">
                <a:solidFill>
                  <a:srgbClr val="22C55E"/>
                </a:solidFill>
                <a:latin typeface="Consolas" pitchFamily="34" charset="0"/>
                <a:ea typeface="Consolas" pitchFamily="34" charset="-122"/>
                <a:cs typeface="Consolas" pitchFamily="34" charset="-120"/>
              </a:rPr>
              <a:t>platformengineering.org/blog/five-key-recommendations-for-platform-teams-in-2026</a:t>
            </a:r>
            <a:endParaRPr lang="en-US" sz="850" dirty="0"/>
          </a:p>
        </p:txBody>
      </p:sp>
      <p:sp>
        <p:nvSpPr>
          <p:cNvPr id="11" name="Text 9"/>
          <p:cNvSpPr/>
          <p:nvPr/>
        </p:nvSpPr>
        <p:spPr>
          <a:xfrm>
            <a:off x="502920" y="1289304"/>
            <a:ext cx="8229600" cy="146304"/>
          </a:xfrm>
          <a:prstGeom prst="rect">
            <a:avLst/>
          </a:prstGeom>
          <a:noFill/>
          <a:ln/>
        </p:spPr>
        <p:txBody>
          <a:bodyPr wrap="square" lIns="0" tIns="0" rIns="0" bIns="0" rtlCol="0" anchor="ctr"/>
          <a:lstStyle/>
          <a:p>
            <a:pPr indent="0" marL="0">
              <a:buNone/>
            </a:pPr>
            <a:r>
              <a:rPr lang="en-US" sz="850" b="1" dirty="0">
                <a:solidFill>
                  <a:srgbClr val="F59E0B"/>
                </a:solidFill>
                <a:latin typeface="Calibri" pitchFamily="34" charset="0"/>
                <a:ea typeface="Calibri" pitchFamily="34" charset="-122"/>
                <a:cs typeface="Calibri" pitchFamily="34" charset="-120"/>
              </a:rPr>
              <a:t>Claims used:</a:t>
            </a:r>
            <a:endParaRPr lang="en-US" sz="850" dirty="0"/>
          </a:p>
        </p:txBody>
      </p:sp>
      <p:sp>
        <p:nvSpPr>
          <p:cNvPr id="12" name="Text 10"/>
          <p:cNvSpPr/>
          <p:nvPr/>
        </p:nvSpPr>
        <p:spPr>
          <a:xfrm>
            <a:off x="502920" y="1417320"/>
            <a:ext cx="8229600" cy="347472"/>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29.6% of platform teams don't measure success at all (we round to '30%' on the slide). Improved from 45% in 2024. Additionally: 24.2% can't tell if metrics improved, 40.9% can't demonstrate measurable value in first year.</a:t>
            </a:r>
            <a:endParaRPr lang="en-US" sz="800" dirty="0"/>
          </a:p>
        </p:txBody>
      </p:sp>
      <p:sp>
        <p:nvSpPr>
          <p:cNvPr id="13" name="Text 11"/>
          <p:cNvSpPr/>
          <p:nvPr/>
        </p:nvSpPr>
        <p:spPr>
          <a:xfrm>
            <a:off x="502920" y="1764792"/>
            <a:ext cx="8229600" cy="146304"/>
          </a:xfrm>
          <a:prstGeom prst="rect">
            <a:avLst/>
          </a:prstGeom>
          <a:noFill/>
          <a:ln/>
        </p:spPr>
        <p:txBody>
          <a:bodyPr wrap="square" lIns="0" tIns="0" rIns="0" bIns="0" rtlCol="0" anchor="ctr"/>
          <a:lstStyle/>
          <a:p>
            <a:pPr indent="0" marL="0">
              <a:buNone/>
            </a:pPr>
            <a:r>
              <a:rPr lang="en-US" sz="850" b="1" dirty="0">
                <a:solidFill>
                  <a:srgbClr val="F59E0B"/>
                </a:solidFill>
                <a:latin typeface="Calibri" pitchFamily="34" charset="0"/>
                <a:ea typeface="Calibri" pitchFamily="34" charset="-122"/>
                <a:cs typeface="Calibri" pitchFamily="34" charset="-120"/>
              </a:rPr>
              <a:t>Source context:</a:t>
            </a:r>
            <a:endParaRPr lang="en-US" sz="850" dirty="0"/>
          </a:p>
        </p:txBody>
      </p:sp>
      <p:sp>
        <p:nvSpPr>
          <p:cNvPr id="14" name="Text 12"/>
          <p:cNvSpPr/>
          <p:nvPr/>
        </p:nvSpPr>
        <p:spPr>
          <a:xfrm>
            <a:off x="502920" y="1892808"/>
            <a:ext cx="8229600" cy="804672"/>
          </a:xfrm>
          <a:prstGeom prst="rect">
            <a:avLst/>
          </a:prstGeom>
          <a:noFill/>
          <a:ln/>
        </p:spPr>
        <p:txBody>
          <a:bodyPr wrap="square" lIns="0" tIns="0" rIns="0" bIns="0" rtlCol="0" anchor="ctr"/>
          <a:lstStyle/>
          <a:p>
            <a:pPr indent="0" marL="0">
              <a:lnSpc>
                <a:spcPct val="115000"/>
              </a:lnSpc>
              <a:buNone/>
            </a:pPr>
            <a:r>
              <a:rPr lang="en-US" sz="750" dirty="0">
                <a:solidFill>
                  <a:srgbClr val="94A3B8"/>
                </a:solidFill>
                <a:latin typeface="Calibri" pitchFamily="34" charset="0"/>
                <a:ea typeface="Calibri" pitchFamily="34" charset="-122"/>
                <a:cs typeface="Calibri" pitchFamily="34" charset="-120"/>
              </a:rPr>
              <a:t>From The Register's analysis of the report (Feb 11, 2026): "Nearly 30 percent of platform teams don't measure success at all. This represents a significant improvement from 2024, when 45 percent of respondents did not measure success." From platformengineering.org's own analysis: "The State of Platform Engineering Report Volume 4 reveals a stark reality: 29.6% don't measure success at all, and another 24.2% can't tell if their metrics have improved. This creates an accountability gap that threatens platform funding." The report is exclusively sponsored by Broadcom — worth disclosing if challenged, though the methodology is community-sourced through platformengineering.org.</a:t>
            </a:r>
            <a:endParaRPr lang="en-US" sz="750" dirty="0"/>
          </a:p>
        </p:txBody>
      </p:sp>
      <p:sp>
        <p:nvSpPr>
          <p:cNvPr id="15" name="Shape 13"/>
          <p:cNvSpPr/>
          <p:nvPr/>
        </p:nvSpPr>
        <p:spPr>
          <a:xfrm>
            <a:off x="274320" y="2816352"/>
            <a:ext cx="8595360" cy="2148840"/>
          </a:xfrm>
          <a:prstGeom prst="rect">
            <a:avLst/>
          </a:prstGeom>
          <a:solidFill>
            <a:srgbClr val="151E30"/>
          </a:solidFill>
          <a:ln/>
        </p:spPr>
      </p:sp>
      <p:sp>
        <p:nvSpPr>
          <p:cNvPr id="16" name="Shape 14"/>
          <p:cNvSpPr/>
          <p:nvPr/>
        </p:nvSpPr>
        <p:spPr>
          <a:xfrm>
            <a:off x="274320" y="2816352"/>
            <a:ext cx="45720" cy="2148840"/>
          </a:xfrm>
          <a:prstGeom prst="rect">
            <a:avLst/>
          </a:prstGeom>
          <a:solidFill>
            <a:srgbClr val="0EA5E9"/>
          </a:solidFill>
          <a:ln/>
        </p:spPr>
      </p:sp>
      <p:sp>
        <p:nvSpPr>
          <p:cNvPr id="17" name="Text 15"/>
          <p:cNvSpPr/>
          <p:nvPr/>
        </p:nvSpPr>
        <p:spPr>
          <a:xfrm>
            <a:off x="502920" y="2852928"/>
            <a:ext cx="8229600" cy="182880"/>
          </a:xfrm>
          <a:prstGeom prst="rect">
            <a:avLst/>
          </a:prstGeom>
          <a:noFill/>
          <a:ln/>
        </p:spPr>
        <p:txBody>
          <a:bodyPr wrap="square" lIns="0" tIns="0" rIns="0" bIns="0" rtlCol="0" anchor="ctr"/>
          <a:lstStyle/>
          <a:p>
            <a:pPr indent="0" marL="0">
              <a:buNone/>
            </a:pPr>
            <a:r>
              <a:rPr lang="en-US" sz="1100" b="1" dirty="0">
                <a:solidFill>
                  <a:srgbClr val="0EA5E9"/>
                </a:solidFill>
                <a:latin typeface="Calibri" pitchFamily="34" charset="0"/>
                <a:ea typeface="Calibri" pitchFamily="34" charset="-122"/>
                <a:cs typeface="Calibri" pitchFamily="34" charset="-120"/>
              </a:rPr>
              <a:t>[6] GitHub Copilot Productivity Study — Slide 19</a:t>
            </a:r>
            <a:endParaRPr lang="en-US" sz="1100" dirty="0"/>
          </a:p>
        </p:txBody>
      </p:sp>
      <p:sp>
        <p:nvSpPr>
          <p:cNvPr id="18" name="Text 16"/>
          <p:cNvSpPr/>
          <p:nvPr/>
        </p:nvSpPr>
        <p:spPr>
          <a:xfrm>
            <a:off x="502920" y="3017520"/>
            <a:ext cx="8229600" cy="182880"/>
          </a:xfrm>
          <a:prstGeom prst="rect">
            <a:avLst/>
          </a:prstGeom>
          <a:noFill/>
          <a:ln/>
        </p:spPr>
        <p:txBody>
          <a:bodyPr wrap="square" lIns="0" tIns="0" rIns="0" bIns="0" rtlCol="0" anchor="ctr"/>
          <a:lstStyle/>
          <a:p>
            <a:pPr indent="0" marL="0">
              <a:buNone/>
            </a:pPr>
            <a:r>
              <a:rPr lang="en-US" sz="950" i="1" dirty="0">
                <a:solidFill>
                  <a:srgbClr val="F1F5F9"/>
                </a:solidFill>
                <a:latin typeface="Calibri" pitchFamily="34" charset="0"/>
                <a:ea typeface="Calibri" pitchFamily="34" charset="-122"/>
                <a:cs typeface="Calibri" pitchFamily="34" charset="-120"/>
              </a:rPr>
              <a:t>"Research: quantifying GitHub Copilot's impact on developer productivity and happiness"</a:t>
            </a:r>
            <a:endParaRPr lang="en-US" sz="950" dirty="0"/>
          </a:p>
        </p:txBody>
      </p:sp>
      <p:sp>
        <p:nvSpPr>
          <p:cNvPr id="19" name="Text 17"/>
          <p:cNvSpPr/>
          <p:nvPr/>
        </p:nvSpPr>
        <p:spPr>
          <a:xfrm>
            <a:off x="502920" y="3182112"/>
            <a:ext cx="8229600" cy="146304"/>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GitHub (Microsoft) — controlled experiment with professional developers  |  September 7, 2022 (original)  |  Accenture enterprise study: May 13, 2024</a:t>
            </a:r>
            <a:endParaRPr lang="en-US" sz="850" dirty="0"/>
          </a:p>
        </p:txBody>
      </p:sp>
      <p:sp>
        <p:nvSpPr>
          <p:cNvPr id="20" name="Text 18"/>
          <p:cNvSpPr/>
          <p:nvPr/>
        </p:nvSpPr>
        <p:spPr>
          <a:xfrm>
            <a:off x="502920" y="3328416"/>
            <a:ext cx="8229600" cy="146304"/>
          </a:xfrm>
          <a:prstGeom prst="rect">
            <a:avLst/>
          </a:prstGeom>
          <a:noFill/>
          <a:ln/>
        </p:spPr>
        <p:txBody>
          <a:bodyPr wrap="square" lIns="0" tIns="0" rIns="0" bIns="0" rtlCol="0" anchor="ctr"/>
          <a:lstStyle/>
          <a:p>
            <a:pPr indent="0" marL="0">
              <a:buNone/>
            </a:pPr>
            <a:r>
              <a:rPr lang="en-US" sz="850" dirty="0">
                <a:solidFill>
                  <a:srgbClr val="22C55E"/>
                </a:solidFill>
                <a:latin typeface="Consolas" pitchFamily="34" charset="0"/>
                <a:ea typeface="Consolas" pitchFamily="34" charset="-122"/>
                <a:cs typeface="Consolas" pitchFamily="34" charset="-120"/>
              </a:rPr>
              <a:t>github.blog/news-insights/research/research-quantifying-github-copilots-impact-on-developer-productivity-and-happiness/</a:t>
            </a:r>
            <a:endParaRPr lang="en-US" sz="850" dirty="0"/>
          </a:p>
        </p:txBody>
      </p:sp>
      <p:sp>
        <p:nvSpPr>
          <p:cNvPr id="21" name="Text 19"/>
          <p:cNvSpPr/>
          <p:nvPr/>
        </p:nvSpPr>
        <p:spPr>
          <a:xfrm>
            <a:off x="502920" y="3511296"/>
            <a:ext cx="8229600" cy="146304"/>
          </a:xfrm>
          <a:prstGeom prst="rect">
            <a:avLst/>
          </a:prstGeom>
          <a:noFill/>
          <a:ln/>
        </p:spPr>
        <p:txBody>
          <a:bodyPr wrap="square" lIns="0" tIns="0" rIns="0" bIns="0" rtlCol="0" anchor="ctr"/>
          <a:lstStyle/>
          <a:p>
            <a:pPr indent="0" marL="0">
              <a:buNone/>
            </a:pPr>
            <a:r>
              <a:rPr lang="en-US" sz="850" b="1" dirty="0">
                <a:solidFill>
                  <a:srgbClr val="F59E0B"/>
                </a:solidFill>
                <a:latin typeface="Calibri" pitchFamily="34" charset="0"/>
                <a:ea typeface="Calibri" pitchFamily="34" charset="-122"/>
                <a:cs typeface="Calibri" pitchFamily="34" charset="-120"/>
              </a:rPr>
              <a:t>Claims used:</a:t>
            </a:r>
            <a:endParaRPr lang="en-US" sz="850" dirty="0"/>
          </a:p>
        </p:txBody>
      </p:sp>
      <p:sp>
        <p:nvSpPr>
          <p:cNvPr id="22" name="Text 20"/>
          <p:cNvSpPr/>
          <p:nvPr/>
        </p:nvSpPr>
        <p:spPr>
          <a:xfrm>
            <a:off x="502920" y="3639312"/>
            <a:ext cx="8229600" cy="347472"/>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Vendor-commissioned study: 55% faster task completion. Avg 1hr 11min with Copilot vs 2hr 41min without. P=0.0017, 95% CI [21%, 89%]. We cite this as a vendor claim to contrast against METR's independent -19%.</a:t>
            </a:r>
            <a:endParaRPr lang="en-US" sz="800" dirty="0"/>
          </a:p>
        </p:txBody>
      </p:sp>
      <p:sp>
        <p:nvSpPr>
          <p:cNvPr id="23" name="Text 21"/>
          <p:cNvSpPr/>
          <p:nvPr/>
        </p:nvSpPr>
        <p:spPr>
          <a:xfrm>
            <a:off x="502920" y="3986784"/>
            <a:ext cx="8229600" cy="146304"/>
          </a:xfrm>
          <a:prstGeom prst="rect">
            <a:avLst/>
          </a:prstGeom>
          <a:noFill/>
          <a:ln/>
        </p:spPr>
        <p:txBody>
          <a:bodyPr wrap="square" lIns="0" tIns="0" rIns="0" bIns="0" rtlCol="0" anchor="ctr"/>
          <a:lstStyle/>
          <a:p>
            <a:pPr indent="0" marL="0">
              <a:buNone/>
            </a:pPr>
            <a:r>
              <a:rPr lang="en-US" sz="850" b="1" dirty="0">
                <a:solidFill>
                  <a:srgbClr val="F59E0B"/>
                </a:solidFill>
                <a:latin typeface="Calibri" pitchFamily="34" charset="0"/>
                <a:ea typeface="Calibri" pitchFamily="34" charset="-122"/>
                <a:cs typeface="Calibri" pitchFamily="34" charset="-120"/>
              </a:rPr>
              <a:t>Source context:</a:t>
            </a:r>
            <a:endParaRPr lang="en-US" sz="850" dirty="0"/>
          </a:p>
        </p:txBody>
      </p:sp>
      <p:sp>
        <p:nvSpPr>
          <p:cNvPr id="24" name="Text 22"/>
          <p:cNvSpPr/>
          <p:nvPr/>
        </p:nvSpPr>
        <p:spPr>
          <a:xfrm>
            <a:off x="502920" y="4114800"/>
            <a:ext cx="8229600" cy="804672"/>
          </a:xfrm>
          <a:prstGeom prst="rect">
            <a:avLst/>
          </a:prstGeom>
          <a:noFill/>
          <a:ln/>
        </p:spPr>
        <p:txBody>
          <a:bodyPr wrap="square" lIns="0" tIns="0" rIns="0" bIns="0" rtlCol="0" anchor="ctr"/>
          <a:lstStyle/>
          <a:p>
            <a:pPr indent="0" marL="0">
              <a:lnSpc>
                <a:spcPct val="115000"/>
              </a:lnSpc>
              <a:buNone/>
            </a:pPr>
            <a:r>
              <a:rPr lang="en-US" sz="750" dirty="0">
                <a:solidFill>
                  <a:srgbClr val="94A3B8"/>
                </a:solidFill>
                <a:latin typeface="Calibri" pitchFamily="34" charset="0"/>
                <a:ea typeface="Calibri" pitchFamily="34" charset="-122"/>
                <a:cs typeface="Calibri" pitchFamily="34" charset="-120"/>
              </a:rPr>
              <a:t>From the GitHub Blog: developers with Copilot completed tasks 55% faster (1hr 11min vs 2hr 41min, P=.0017, 95% CI [21%, 89%]). CRITICAL CONTEXT: Vendor-commissioned study. No independent replication of the 55% figure exists. DX Research (Feb 2026, 121,000 devs) found a ~10% productivity plateau. Bain &amp; Company (Sept 2025) called real-world savings 'unremarkable at 10-15%'. NAV IT longitudinal study (26,317 commits) found no statistically significant change. We cite this on slide 19 as 'vendor surveys that say +55%' to contrast with independent measurements.</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10-Hour IDP: Can Claude Code Actually Reduce Platform Engineering Toil?</dc:title>
  <dc:subject>PptxGenJS Presentation</dc:subject>
  <dc:creator>Michael Forrester</dc:creator>
  <cp:lastModifiedBy>Michael Forrester</cp:lastModifiedBy>
  <cp:revision>1</cp:revision>
  <dcterms:created xsi:type="dcterms:W3CDTF">2026-03-07T14:01:55Z</dcterms:created>
  <dcterms:modified xsi:type="dcterms:W3CDTF">2026-03-07T14:01:55Z</dcterms:modified>
</cp:coreProperties>
</file>